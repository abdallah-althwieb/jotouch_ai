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Oval 1"/>
          <p:cNvSpPr/>
          <p:nvPr/>
        </p:nvSpPr>
        <p:spPr>
          <a:xfrm>
            <a:off x="502920" y="402336"/>
            <a:ext cx="274320" cy="274320"/>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0584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250" b="1">
                <a:solidFill>
                  <a:srgbClr val="2E6BE6"/>
                </a:solidFill>
                <a:latin typeface="Segoe UI Semibold"/>
              </a:rPr>
              <a:t>01 · WHERE WE READ THE SIGNAL</a:t>
            </a:r>
          </a:p>
        </p:txBody>
      </p:sp>
      <p:sp>
        <p:nvSpPr>
          <p:cNvPr id="4" name="TextBox 3"/>
          <p:cNvSpPr txBox="1"/>
          <p:nvPr/>
        </p:nvSpPr>
        <p:spPr>
          <a:xfrm>
            <a:off x="502920" y="713232"/>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2700" b="1">
                <a:solidFill>
                  <a:srgbClr val="1A2433"/>
                </a:solidFill>
                <a:latin typeface="Segoe UI Semibold"/>
              </a:rPr>
              <a:t>8 sensors over the forearm muscles</a:t>
            </a:r>
          </a:p>
        </p:txBody>
      </p:sp>
      <p:sp>
        <p:nvSpPr>
          <p:cNvPr id="5" name="Rounded Rectangle 4"/>
          <p:cNvSpPr/>
          <p:nvPr/>
        </p:nvSpPr>
        <p:spPr>
          <a:xfrm>
            <a:off x="9784080" y="438912"/>
            <a:ext cx="1920240" cy="274320"/>
          </a:xfrm>
          <a:prstGeom prst="roundRect">
            <a:avLst>
              <a:gd name="adj" fmla="val 50000"/>
            </a:avLst>
          </a:prstGeom>
          <a:noFill/>
          <a:ln w="15240">
            <a:solidFill>
              <a:srgbClr val="7C89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93807" y="534924"/>
            <a:ext cx="91440" cy="91440"/>
          </a:xfrm>
          <a:prstGeom prst="ellipse">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438912"/>
            <a:ext cx="1600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1">
                <a:solidFill>
                  <a:srgbClr val="7C8997"/>
                </a:solidFill>
                <a:latin typeface="Segoe UI Semibold"/>
              </a:rPr>
              <a:t>PLANNED</a:t>
            </a:r>
          </a:p>
        </p:txBody>
      </p:sp>
      <p:sp>
        <p:nvSpPr>
          <p:cNvPr id="8" name="Rounded Rectangle 7"/>
          <p:cNvSpPr/>
          <p:nvPr/>
        </p:nvSpPr>
        <p:spPr>
          <a:xfrm>
            <a:off x="502920" y="1298448"/>
            <a:ext cx="3794760" cy="3154680"/>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98448" y="1645920"/>
            <a:ext cx="2194560" cy="2194560"/>
          </a:xfrm>
          <a:prstGeom prst="ellipse">
            <a:avLst/>
          </a:prstGeom>
          <a:solidFill>
            <a:srgbClr val="E9EFF5"/>
          </a:solidFill>
          <a:ln w="16510">
            <a:solidFill>
              <a:srgbClr val="C4D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20240" y="2267712"/>
            <a:ext cx="950976" cy="950976"/>
          </a:xfrm>
          <a:prstGeom prst="ellipse">
            <a:avLst/>
          </a:prstGeom>
          <a:solidFill>
            <a:srgbClr val="D7E2EC"/>
          </a:solidFill>
          <a:ln w="12700">
            <a:solidFill>
              <a:srgbClr val="C4D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0" y="2267712"/>
            <a:ext cx="950976" cy="950976"/>
          </a:xfrm>
          <a:prstGeom prst="rect">
            <a:avLst/>
          </a:prstGeom>
          <a:noFill/>
        </p:spPr>
        <p:txBody>
          <a:bodyPr wrap="square" anchor="ctr" lIns="0" rIns="0" tIns="0" bIns="0">
            <a:spAutoFit/>
          </a:bodyPr>
          <a:lstStyle/>
          <a:p>
            <a:pPr algn="ctr">
              <a:lnSpc>
                <a:spcPct val="100000"/>
              </a:lnSpc>
              <a:spcBef>
                <a:spcPts val="0"/>
              </a:spcBef>
              <a:spcAft>
                <a:spcPts val="400"/>
              </a:spcAft>
            </a:pPr>
            <a:r>
              <a:rPr sz="850" b="0">
                <a:solidFill>
                  <a:srgbClr val="5C6B7A"/>
                </a:solidFill>
                <a:latin typeface="Segoe UI"/>
              </a:rPr>
              <a:t>forearm</a:t>
            </a:r>
          </a:p>
          <a:p>
            <a:pPr algn="ctr">
              <a:lnSpc>
                <a:spcPct val="100000"/>
              </a:lnSpc>
              <a:spcBef>
                <a:spcPts val="0"/>
              </a:spcBef>
              <a:spcAft>
                <a:spcPts val="400"/>
              </a:spcAft>
            </a:pPr>
            <a:r>
              <a:rPr sz="750" b="0">
                <a:solidFill>
                  <a:srgbClr val="5C6B7A"/>
                </a:solidFill>
                <a:latin typeface="Segoe UI"/>
              </a:rPr>
              <a:t>cross-section</a:t>
            </a:r>
          </a:p>
        </p:txBody>
      </p:sp>
      <p:sp>
        <p:nvSpPr>
          <p:cNvPr id="12" name="Oval 11"/>
          <p:cNvSpPr/>
          <p:nvPr/>
        </p:nvSpPr>
        <p:spPr>
          <a:xfrm>
            <a:off x="2231136" y="1481328"/>
            <a:ext cx="329184" cy="329184"/>
          </a:xfrm>
          <a:prstGeom prst="ellipse">
            <a:avLst/>
          </a:prstGeom>
          <a:solidFill>
            <a:srgbClr val="0B8A80"/>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31136" y="1481328"/>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S1</a:t>
            </a:r>
          </a:p>
        </p:txBody>
      </p:sp>
      <p:sp>
        <p:nvSpPr>
          <p:cNvPr id="14" name="Oval 13"/>
          <p:cNvSpPr/>
          <p:nvPr/>
        </p:nvSpPr>
        <p:spPr>
          <a:xfrm>
            <a:off x="3007030" y="1802713"/>
            <a:ext cx="329184" cy="329184"/>
          </a:xfrm>
          <a:prstGeom prst="ellipse">
            <a:avLst/>
          </a:prstGeom>
          <a:solidFill>
            <a:srgbClr val="2E6BE6"/>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7030" y="1802713"/>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S2</a:t>
            </a:r>
          </a:p>
        </p:txBody>
      </p:sp>
      <p:sp>
        <p:nvSpPr>
          <p:cNvPr id="16" name="Oval 15"/>
          <p:cNvSpPr/>
          <p:nvPr/>
        </p:nvSpPr>
        <p:spPr>
          <a:xfrm>
            <a:off x="3328416" y="2578608"/>
            <a:ext cx="329184" cy="329184"/>
          </a:xfrm>
          <a:prstGeom prst="ellipse">
            <a:avLst/>
          </a:prstGeom>
          <a:solidFill>
            <a:srgbClr val="2E6BE6"/>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8416" y="2578608"/>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S3</a:t>
            </a:r>
          </a:p>
        </p:txBody>
      </p:sp>
      <p:sp>
        <p:nvSpPr>
          <p:cNvPr id="18" name="Oval 17"/>
          <p:cNvSpPr/>
          <p:nvPr/>
        </p:nvSpPr>
        <p:spPr>
          <a:xfrm>
            <a:off x="3007030" y="3354502"/>
            <a:ext cx="329184" cy="329184"/>
          </a:xfrm>
          <a:prstGeom prst="ellipse">
            <a:avLst/>
          </a:prstGeom>
          <a:solidFill>
            <a:srgbClr val="2E6BE6"/>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07030" y="3354502"/>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S4</a:t>
            </a:r>
          </a:p>
        </p:txBody>
      </p:sp>
      <p:sp>
        <p:nvSpPr>
          <p:cNvPr id="20" name="Oval 19"/>
          <p:cNvSpPr/>
          <p:nvPr/>
        </p:nvSpPr>
        <p:spPr>
          <a:xfrm>
            <a:off x="2231136" y="3675888"/>
            <a:ext cx="329184" cy="329184"/>
          </a:xfrm>
          <a:prstGeom prst="ellipse">
            <a:avLst/>
          </a:prstGeom>
          <a:solidFill>
            <a:srgbClr val="0B8A80"/>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1136" y="3675888"/>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S5</a:t>
            </a:r>
          </a:p>
        </p:txBody>
      </p:sp>
      <p:sp>
        <p:nvSpPr>
          <p:cNvPr id="22" name="Oval 21"/>
          <p:cNvSpPr/>
          <p:nvPr/>
        </p:nvSpPr>
        <p:spPr>
          <a:xfrm>
            <a:off x="1455241" y="3354502"/>
            <a:ext cx="329184" cy="329184"/>
          </a:xfrm>
          <a:prstGeom prst="ellipse">
            <a:avLst/>
          </a:prstGeom>
          <a:solidFill>
            <a:srgbClr val="0B8A80"/>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55241" y="3354502"/>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S6</a:t>
            </a:r>
          </a:p>
        </p:txBody>
      </p:sp>
      <p:sp>
        <p:nvSpPr>
          <p:cNvPr id="24" name="Oval 23"/>
          <p:cNvSpPr/>
          <p:nvPr/>
        </p:nvSpPr>
        <p:spPr>
          <a:xfrm>
            <a:off x="1133856" y="2578608"/>
            <a:ext cx="329184" cy="329184"/>
          </a:xfrm>
          <a:prstGeom prst="ellipse">
            <a:avLst/>
          </a:prstGeom>
          <a:solidFill>
            <a:srgbClr val="0B8A80"/>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33856" y="2578608"/>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S7</a:t>
            </a:r>
          </a:p>
        </p:txBody>
      </p:sp>
      <p:sp>
        <p:nvSpPr>
          <p:cNvPr id="26" name="Oval 25"/>
          <p:cNvSpPr/>
          <p:nvPr/>
        </p:nvSpPr>
        <p:spPr>
          <a:xfrm>
            <a:off x="1455241" y="1802713"/>
            <a:ext cx="329184" cy="329184"/>
          </a:xfrm>
          <a:prstGeom prst="ellipse">
            <a:avLst/>
          </a:prstGeom>
          <a:solidFill>
            <a:srgbClr val="0B8A80"/>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5241" y="1802713"/>
            <a:ext cx="329184" cy="329184"/>
          </a:xfrm>
          <a:prstGeom prst="rect">
            <a:avLst/>
          </a:prstGeom>
          <a:noFill/>
        </p:spPr>
        <p:txBody>
          <a:bodyPr wrap="square" anchor="ctr" lIns="0" rIns="0" tIns="0" bIns="0">
            <a:spAutoFit/>
          </a:bodyPr>
          <a:lstStyle/>
          <a:p>
            <a:pPr algn="ctr">
              <a:lnSpc>
                <a:spcPct val="100000"/>
              </a:lnSpc>
              <a:spcBef>
                <a:spcPts val="0"/>
              </a:spcBef>
              <a:spcAft>
                <a:spcPts val="400"/>
              </a:spcAft>
            </a:pPr>
            <a:r>
              <a:rPr sz="900" b="1">
                <a:solidFill>
                  <a:srgbClr val="FFFFFF"/>
                </a:solidFill>
                <a:latin typeface="Segoe UI Semibold"/>
              </a:rPr>
              <a:t>S8</a:t>
            </a:r>
          </a:p>
        </p:txBody>
      </p:sp>
      <p:sp>
        <p:nvSpPr>
          <p:cNvPr id="28" name="Oval 27"/>
          <p:cNvSpPr/>
          <p:nvPr/>
        </p:nvSpPr>
        <p:spPr>
          <a:xfrm>
            <a:off x="777240" y="3931920"/>
            <a:ext cx="146304" cy="146304"/>
          </a:xfrm>
          <a:prstGeom prst="ellipse">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3858768"/>
            <a:ext cx="18288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30" b="0">
                <a:solidFill>
                  <a:srgbClr val="1A2433"/>
                </a:solidFill>
                <a:latin typeface="Segoe UI"/>
              </a:rPr>
              <a:t>Flexors — close</a:t>
            </a:r>
          </a:p>
        </p:txBody>
      </p:sp>
      <p:sp>
        <p:nvSpPr>
          <p:cNvPr id="30" name="Oval 29"/>
          <p:cNvSpPr/>
          <p:nvPr/>
        </p:nvSpPr>
        <p:spPr>
          <a:xfrm>
            <a:off x="2331720" y="3931920"/>
            <a:ext cx="146304" cy="146304"/>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23744" y="3858768"/>
            <a:ext cx="18288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30" b="0">
                <a:solidFill>
                  <a:srgbClr val="1A2433"/>
                </a:solidFill>
                <a:latin typeface="Segoe UI"/>
              </a:rPr>
              <a:t>Extensors — open</a:t>
            </a:r>
          </a:p>
        </p:txBody>
      </p:sp>
      <p:sp>
        <p:nvSpPr>
          <p:cNvPr id="32" name="TextBox 31"/>
          <p:cNvSpPr txBox="1"/>
          <p:nvPr/>
        </p:nvSpPr>
        <p:spPr>
          <a:xfrm>
            <a:off x="640080" y="4160520"/>
            <a:ext cx="3566160" cy="274320"/>
          </a:xfrm>
          <a:prstGeom prst="rect">
            <a:avLst/>
          </a:prstGeom>
          <a:noFill/>
        </p:spPr>
        <p:txBody>
          <a:bodyPr wrap="square" anchor="t" lIns="0" rIns="0" tIns="0" bIns="0">
            <a:spAutoFit/>
          </a:bodyPr>
          <a:lstStyle/>
          <a:p>
            <a:pPr algn="ctr">
              <a:lnSpc>
                <a:spcPct val="100000"/>
              </a:lnSpc>
              <a:spcBef>
                <a:spcPts val="0"/>
              </a:spcBef>
              <a:spcAft>
                <a:spcPts val="400"/>
              </a:spcAft>
            </a:pPr>
            <a:r>
              <a:rPr sz="900" b="0" i="1">
                <a:solidFill>
                  <a:srgbClr val="5C6B7A"/>
                </a:solidFill>
                <a:latin typeface="Segoe UI"/>
              </a:rPr>
              <a:t>8-sensor ring · proximal forearm</a:t>
            </a:r>
          </a:p>
        </p:txBody>
      </p:sp>
      <p:sp>
        <p:nvSpPr>
          <p:cNvPr id="33" name="Rounded Rectangle 32"/>
          <p:cNvSpPr/>
          <p:nvPr/>
        </p:nvSpPr>
        <p:spPr>
          <a:xfrm>
            <a:off x="4434840" y="1298448"/>
            <a:ext cx="7269480" cy="3154680"/>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0" y="1408176"/>
            <a:ext cx="6858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a:solidFill>
                  <a:srgbClr val="1A2433"/>
                </a:solidFill>
                <a:latin typeface="Segoe UI Semibold"/>
              </a:rPr>
              <a:t>Sensor → muscle → what it controls</a:t>
            </a:r>
          </a:p>
        </p:txBody>
      </p:sp>
      <p:sp>
        <p:nvSpPr>
          <p:cNvPr id="35" name="Rounded Rectangle 34"/>
          <p:cNvSpPr/>
          <p:nvPr/>
        </p:nvSpPr>
        <p:spPr>
          <a:xfrm>
            <a:off x="4663440" y="1865376"/>
            <a:ext cx="310896" cy="274320"/>
          </a:xfrm>
          <a:prstGeom prst="round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1865376"/>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S1</a:t>
            </a:r>
          </a:p>
        </p:txBody>
      </p:sp>
      <p:sp>
        <p:nvSpPr>
          <p:cNvPr id="37" name="TextBox 36"/>
          <p:cNvSpPr txBox="1"/>
          <p:nvPr/>
        </p:nvSpPr>
        <p:spPr>
          <a:xfrm>
            <a:off x="5120640" y="1828800"/>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Brachioradialis (BR)  </a:t>
            </a:r>
            <a:r>
              <a:rPr sz="980" b="0">
                <a:solidFill>
                  <a:srgbClr val="5C6B7A"/>
                </a:solidFill>
                <a:latin typeface="Segoe UI"/>
              </a:rPr>
              <a:t>— wrist side movement + partial flexion</a:t>
            </a:r>
          </a:p>
        </p:txBody>
      </p:sp>
      <p:sp>
        <p:nvSpPr>
          <p:cNvPr id="38" name="Rounded Rectangle 37"/>
          <p:cNvSpPr/>
          <p:nvPr/>
        </p:nvSpPr>
        <p:spPr>
          <a:xfrm>
            <a:off x="4663440" y="2189988"/>
            <a:ext cx="310896" cy="274320"/>
          </a:xfrm>
          <a:prstGeom prst="round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2189988"/>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S2</a:t>
            </a:r>
          </a:p>
        </p:txBody>
      </p:sp>
      <p:sp>
        <p:nvSpPr>
          <p:cNvPr id="40" name="TextBox 39"/>
          <p:cNvSpPr txBox="1"/>
          <p:nvPr/>
        </p:nvSpPr>
        <p:spPr>
          <a:xfrm>
            <a:off x="5120640" y="2153412"/>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Ext. Carpi Radialis (ECR)  </a:t>
            </a:r>
            <a:r>
              <a:rPr sz="980" b="0">
                <a:solidFill>
                  <a:srgbClr val="5C6B7A"/>
                </a:solidFill>
                <a:latin typeface="Segoe UI"/>
              </a:rPr>
              <a:t>— wrist extension + radial (toward thumb)</a:t>
            </a:r>
          </a:p>
        </p:txBody>
      </p:sp>
      <p:sp>
        <p:nvSpPr>
          <p:cNvPr id="41" name="Rounded Rectangle 40"/>
          <p:cNvSpPr/>
          <p:nvPr/>
        </p:nvSpPr>
        <p:spPr>
          <a:xfrm>
            <a:off x="4663440" y="2514600"/>
            <a:ext cx="310896" cy="274320"/>
          </a:xfrm>
          <a:prstGeom prst="round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63440" y="2514600"/>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S3</a:t>
            </a:r>
          </a:p>
        </p:txBody>
      </p:sp>
      <p:sp>
        <p:nvSpPr>
          <p:cNvPr id="43" name="TextBox 42"/>
          <p:cNvSpPr txBox="1"/>
          <p:nvPr/>
        </p:nvSpPr>
        <p:spPr>
          <a:xfrm>
            <a:off x="5120640" y="2478024"/>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Extensor Digitorum (ED)  </a:t>
            </a:r>
            <a:r>
              <a:rPr sz="980" b="0">
                <a:solidFill>
                  <a:srgbClr val="5C6B7A"/>
                </a:solidFill>
                <a:latin typeface="Segoe UI"/>
              </a:rPr>
              <a:t>— opens fingers 2–5 — opens the hand</a:t>
            </a:r>
          </a:p>
        </p:txBody>
      </p:sp>
      <p:sp>
        <p:nvSpPr>
          <p:cNvPr id="44" name="Rounded Rectangle 43"/>
          <p:cNvSpPr/>
          <p:nvPr/>
        </p:nvSpPr>
        <p:spPr>
          <a:xfrm>
            <a:off x="4663440" y="2839212"/>
            <a:ext cx="310896" cy="274320"/>
          </a:xfrm>
          <a:prstGeom prst="round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2839212"/>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S4</a:t>
            </a:r>
          </a:p>
        </p:txBody>
      </p:sp>
      <p:sp>
        <p:nvSpPr>
          <p:cNvPr id="46" name="TextBox 45"/>
          <p:cNvSpPr txBox="1"/>
          <p:nvPr/>
        </p:nvSpPr>
        <p:spPr>
          <a:xfrm>
            <a:off x="5120640" y="2802636"/>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Ext. Carpi Ulnaris (ECU)  </a:t>
            </a:r>
            <a:r>
              <a:rPr sz="980" b="0">
                <a:solidFill>
                  <a:srgbClr val="5C6B7A"/>
                </a:solidFill>
                <a:latin typeface="Segoe UI"/>
              </a:rPr>
              <a:t>— wrist extension + ulnar (toward little)</a:t>
            </a:r>
          </a:p>
        </p:txBody>
      </p:sp>
      <p:sp>
        <p:nvSpPr>
          <p:cNvPr id="47" name="Rounded Rectangle 46"/>
          <p:cNvSpPr/>
          <p:nvPr/>
        </p:nvSpPr>
        <p:spPr>
          <a:xfrm>
            <a:off x="4663440" y="3163824"/>
            <a:ext cx="310896" cy="274320"/>
          </a:xfrm>
          <a:prstGeom prst="round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63440" y="3163824"/>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S5</a:t>
            </a:r>
          </a:p>
        </p:txBody>
      </p:sp>
      <p:sp>
        <p:nvSpPr>
          <p:cNvPr id="49" name="TextBox 48"/>
          <p:cNvSpPr txBox="1"/>
          <p:nvPr/>
        </p:nvSpPr>
        <p:spPr>
          <a:xfrm>
            <a:off x="5120640" y="3127248"/>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Flexor Carpi Ulnaris (FCU)  </a:t>
            </a:r>
            <a:r>
              <a:rPr sz="980" b="0">
                <a:solidFill>
                  <a:srgbClr val="5C6B7A"/>
                </a:solidFill>
                <a:latin typeface="Segoe UI"/>
              </a:rPr>
              <a:t>— wrist flexion + ulnar deviation</a:t>
            </a:r>
          </a:p>
        </p:txBody>
      </p:sp>
      <p:sp>
        <p:nvSpPr>
          <p:cNvPr id="50" name="Rounded Rectangle 49"/>
          <p:cNvSpPr/>
          <p:nvPr/>
        </p:nvSpPr>
        <p:spPr>
          <a:xfrm>
            <a:off x="4663440" y="3488436"/>
            <a:ext cx="310896" cy="274320"/>
          </a:xfrm>
          <a:prstGeom prst="round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63440" y="3488436"/>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S6</a:t>
            </a:r>
          </a:p>
        </p:txBody>
      </p:sp>
      <p:sp>
        <p:nvSpPr>
          <p:cNvPr id="52" name="TextBox 51"/>
          <p:cNvSpPr txBox="1"/>
          <p:nvPr/>
        </p:nvSpPr>
        <p:spPr>
          <a:xfrm>
            <a:off x="5120640" y="3451860"/>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Flexor Digit. Superficialis (FDS)  </a:t>
            </a:r>
            <a:r>
              <a:rPr sz="980" b="0">
                <a:solidFill>
                  <a:srgbClr val="5C6B7A"/>
                </a:solidFill>
                <a:latin typeface="Segoe UI"/>
              </a:rPr>
              <a:t>— flex middle / ring / little — grip</a:t>
            </a:r>
          </a:p>
        </p:txBody>
      </p:sp>
      <p:sp>
        <p:nvSpPr>
          <p:cNvPr id="53" name="Rounded Rectangle 52"/>
          <p:cNvSpPr/>
          <p:nvPr/>
        </p:nvSpPr>
        <p:spPr>
          <a:xfrm>
            <a:off x="4663440" y="3813048"/>
            <a:ext cx="310896" cy="274320"/>
          </a:xfrm>
          <a:prstGeom prst="round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63440" y="3813048"/>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S7</a:t>
            </a:r>
          </a:p>
        </p:txBody>
      </p:sp>
      <p:sp>
        <p:nvSpPr>
          <p:cNvPr id="55" name="TextBox 54"/>
          <p:cNvSpPr txBox="1"/>
          <p:nvPr/>
        </p:nvSpPr>
        <p:spPr>
          <a:xfrm>
            <a:off x="5120640" y="3776472"/>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FDS (index region)  </a:t>
            </a:r>
            <a:r>
              <a:rPr sz="980" b="0">
                <a:solidFill>
                  <a:srgbClr val="5C6B7A"/>
                </a:solidFill>
                <a:latin typeface="Segoe UI"/>
              </a:rPr>
              <a:t>— flex index finger — pinch / precision</a:t>
            </a:r>
          </a:p>
        </p:txBody>
      </p:sp>
      <p:sp>
        <p:nvSpPr>
          <p:cNvPr id="56" name="Rounded Rectangle 55"/>
          <p:cNvSpPr/>
          <p:nvPr/>
        </p:nvSpPr>
        <p:spPr>
          <a:xfrm>
            <a:off x="4663440" y="4137660"/>
            <a:ext cx="310896" cy="274320"/>
          </a:xfrm>
          <a:prstGeom prst="round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63440" y="4137660"/>
            <a:ext cx="310896" cy="274320"/>
          </a:xfrm>
          <a:prstGeom prst="rect">
            <a:avLst/>
          </a:prstGeom>
          <a:noFill/>
        </p:spPr>
        <p:txBody>
          <a:bodyPr wrap="square" anchor="ctr" lIns="0" rIns="0" tIns="0" bIns="0">
            <a:spAutoFit/>
          </a:bodyPr>
          <a:lstStyle/>
          <a:p>
            <a:pPr algn="ctr">
              <a:lnSpc>
                <a:spcPct val="100000"/>
              </a:lnSpc>
              <a:spcBef>
                <a:spcPts val="0"/>
              </a:spcBef>
              <a:spcAft>
                <a:spcPts val="400"/>
              </a:spcAft>
            </a:pPr>
            <a:r>
              <a:rPr sz="950" b="1">
                <a:solidFill>
                  <a:srgbClr val="FFFFFF"/>
                </a:solidFill>
                <a:latin typeface="Segoe UI Semibold"/>
              </a:rPr>
              <a:t>S8</a:t>
            </a:r>
          </a:p>
        </p:txBody>
      </p:sp>
      <p:sp>
        <p:nvSpPr>
          <p:cNvPr id="58" name="TextBox 57"/>
          <p:cNvSpPr txBox="1"/>
          <p:nvPr/>
        </p:nvSpPr>
        <p:spPr>
          <a:xfrm>
            <a:off x="5120640" y="4101084"/>
            <a:ext cx="64008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030" b="1">
                <a:solidFill>
                  <a:srgbClr val="1A2433"/>
                </a:solidFill>
                <a:latin typeface="Segoe UI"/>
              </a:rPr>
              <a:t>Flexor Carpi Radialis + FPL  </a:t>
            </a:r>
            <a:r>
              <a:rPr sz="980" b="0">
                <a:solidFill>
                  <a:srgbClr val="5C6B7A"/>
                </a:solidFill>
                <a:latin typeface="Segoe UI"/>
              </a:rPr>
              <a:t>— wrist flexion + thumb — pinch</a:t>
            </a:r>
          </a:p>
        </p:txBody>
      </p:sp>
      <p:sp>
        <p:nvSpPr>
          <p:cNvPr id="59" name="Rounded Rectangle 58"/>
          <p:cNvSpPr/>
          <p:nvPr/>
        </p:nvSpPr>
        <p:spPr>
          <a:xfrm>
            <a:off x="502920" y="4617720"/>
            <a:ext cx="11201400" cy="1463040"/>
          </a:xfrm>
          <a:prstGeom prst="roundRect">
            <a:avLst>
              <a:gd name="adj" fmla="val 6000"/>
            </a:avLst>
          </a:prstGeom>
          <a:solidFill>
            <a:srgbClr val="0E1B2E"/>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4718304"/>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12B5A8"/>
                </a:solidFill>
                <a:latin typeface="Segoe UI Semibold"/>
              </a:rPr>
              <a:t>Reading the right signal</a:t>
            </a:r>
          </a:p>
        </p:txBody>
      </p:sp>
      <p:sp>
        <p:nvSpPr>
          <p:cNvPr id="61" name="TextBox 60"/>
          <p:cNvSpPr txBox="1"/>
          <p:nvPr/>
        </p:nvSpPr>
        <p:spPr>
          <a:xfrm>
            <a:off x="731520" y="5029200"/>
            <a:ext cx="10972800" cy="960120"/>
          </a:xfrm>
          <a:prstGeom prst="rect">
            <a:avLst/>
          </a:prstGeom>
          <a:noFill/>
        </p:spPr>
        <p:txBody>
          <a:bodyPr wrap="square" anchor="t" lIns="0" rIns="0" tIns="0" bIns="0">
            <a:spAutoFit/>
          </a:bodyPr>
          <a:lstStyle/>
          <a:p>
            <a:pPr algn="l">
              <a:lnSpc>
                <a:spcPct val="118000"/>
              </a:lnSpc>
              <a:spcBef>
                <a:spcPts val="0"/>
              </a:spcBef>
              <a:spcAft>
                <a:spcPts val="400"/>
              </a:spcAft>
            </a:pPr>
            <a:r>
              <a:rPr sz="1030" b="0">
                <a:solidFill>
                  <a:srgbClr val="CFE0F0"/>
                </a:solidFill>
                <a:latin typeface="Segoe UI"/>
              </a:rPr>
              <a:t>Sensors sit over the muscle bellies on the proximal forearm — about 5–6 cm below the elbow — where the FMG signal is strongest. Flexor muscles on the palm side close the fingers and wrist; extensor muscles on the back open them. Eight evenly-spaced sensors give full-circle coverage, and the model learns the natural overlap between neighbouring muscles (crosstalk) on its own — no muscle has to be isolated perfectly.</a:t>
            </a:r>
          </a:p>
        </p:txBody>
      </p:sp>
      <p:sp>
        <p:nvSpPr>
          <p:cNvPr id="62" name="TextBox 61"/>
          <p:cNvSpPr txBox="1"/>
          <p:nvPr/>
        </p:nvSpPr>
        <p:spPr>
          <a:xfrm>
            <a:off x="502920" y="6437376"/>
            <a:ext cx="7315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0">
                <a:solidFill>
                  <a:srgbClr val="5C6B7A"/>
                </a:solidFill>
                <a:latin typeface="Segoe UI"/>
              </a:rPr>
              <a:t>JoTouch — Technical Brief · Sensing, Control &amp; AI</a:t>
            </a:r>
          </a:p>
        </p:txBody>
      </p:sp>
      <p:sp>
        <p:nvSpPr>
          <p:cNvPr id="63" name="TextBox 62"/>
          <p:cNvSpPr txBox="1"/>
          <p:nvPr/>
        </p:nvSpPr>
        <p:spPr>
          <a:xfrm>
            <a:off x="10241280" y="6437376"/>
            <a:ext cx="1463040" cy="274320"/>
          </a:xfrm>
          <a:prstGeom prst="rect">
            <a:avLst/>
          </a:prstGeom>
          <a:noFill/>
        </p:spPr>
        <p:txBody>
          <a:bodyPr wrap="square" anchor="ctr" lIns="0" rIns="0" tIns="0" bIns="0">
            <a:spAutoFit/>
          </a:bodyPr>
          <a:lstStyle/>
          <a:p>
            <a:pPr algn="r">
              <a:lnSpc>
                <a:spcPct val="100000"/>
              </a:lnSpc>
              <a:spcBef>
                <a:spcPts val="0"/>
              </a:spcBef>
              <a:spcAft>
                <a:spcPts val="400"/>
              </a:spcAft>
            </a:pPr>
            <a:r>
              <a:rPr sz="900" b="1">
                <a:solidFill>
                  <a:srgbClr val="5C6B7A"/>
                </a:solidFill>
                <a:latin typeface="Segoe UI Semibold"/>
              </a:rP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Oval 1"/>
          <p:cNvSpPr/>
          <p:nvPr/>
        </p:nvSpPr>
        <p:spPr>
          <a:xfrm>
            <a:off x="502920" y="402336"/>
            <a:ext cx="274320" cy="274320"/>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0584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250" b="1">
                <a:solidFill>
                  <a:srgbClr val="2E6BE6"/>
                </a:solidFill>
                <a:latin typeface="Segoe UI Semibold"/>
              </a:rPr>
              <a:t>02 · AI MODEL</a:t>
            </a:r>
          </a:p>
        </p:txBody>
      </p:sp>
      <p:sp>
        <p:nvSpPr>
          <p:cNvPr id="4" name="TextBox 3"/>
          <p:cNvSpPr txBox="1"/>
          <p:nvPr/>
        </p:nvSpPr>
        <p:spPr>
          <a:xfrm>
            <a:off x="502920" y="713232"/>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2700" b="1">
                <a:solidFill>
                  <a:srgbClr val="1A2433"/>
                </a:solidFill>
                <a:latin typeface="Segoe UI Semibold"/>
              </a:rPr>
              <a:t>JoTouchModel — classification and regression</a:t>
            </a:r>
          </a:p>
        </p:txBody>
      </p:sp>
      <p:sp>
        <p:nvSpPr>
          <p:cNvPr id="5" name="Rounded Rectangle 4"/>
          <p:cNvSpPr/>
          <p:nvPr/>
        </p:nvSpPr>
        <p:spPr>
          <a:xfrm>
            <a:off x="9784080" y="438912"/>
            <a:ext cx="1920240" cy="274320"/>
          </a:xfrm>
          <a:prstGeom prst="roundRect">
            <a:avLst>
              <a:gd name="adj" fmla="val 50000"/>
            </a:avLst>
          </a:prstGeom>
          <a:noFill/>
          <a:ln w="15240">
            <a:solidFill>
              <a:srgbClr val="0B8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93807" y="534924"/>
            <a:ext cx="91440" cy="91440"/>
          </a:xfrm>
          <a:prstGeom prst="ellipse">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438912"/>
            <a:ext cx="1600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1">
                <a:solidFill>
                  <a:srgbClr val="0B8A80"/>
                </a:solidFill>
                <a:latin typeface="Segoe UI Semibold"/>
              </a:rPr>
              <a:t>BENCHMARKED</a:t>
            </a:r>
          </a:p>
        </p:txBody>
      </p:sp>
      <p:sp>
        <p:nvSpPr>
          <p:cNvPr id="8" name="Rounded Rectangle 7"/>
          <p:cNvSpPr/>
          <p:nvPr/>
        </p:nvSpPr>
        <p:spPr>
          <a:xfrm>
            <a:off x="502920" y="1207008"/>
            <a:ext cx="11201400" cy="512064"/>
          </a:xfrm>
          <a:prstGeom prst="roundRect">
            <a:avLst>
              <a:gd name="adj" fmla="val 18000"/>
            </a:avLst>
          </a:prstGeom>
          <a:solidFill>
            <a:srgbClr val="E6F7F5"/>
          </a:solidFill>
          <a:ln w="12700">
            <a:solidFill>
              <a:srgbClr val="12B5A8"/>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07008"/>
            <a:ext cx="10972800" cy="512064"/>
          </a:xfrm>
          <a:prstGeom prst="rect">
            <a:avLst/>
          </a:prstGeom>
          <a:noFill/>
        </p:spPr>
        <p:txBody>
          <a:bodyPr wrap="square" anchor="ctr" lIns="0" rIns="0" tIns="0" bIns="0">
            <a:spAutoFit/>
          </a:bodyPr>
          <a:lstStyle/>
          <a:p>
            <a:pPr algn="l">
              <a:lnSpc>
                <a:spcPct val="100000"/>
              </a:lnSpc>
              <a:spcBef>
                <a:spcPts val="0"/>
              </a:spcBef>
              <a:spcAft>
                <a:spcPts val="400"/>
              </a:spcAft>
            </a:pPr>
            <a:r>
              <a:rPr sz="1150" b="1">
                <a:solidFill>
                  <a:srgbClr val="0B8A80"/>
                </a:solidFill>
                <a:latin typeface="Segoe UI Semibold"/>
              </a:rPr>
              <a:t>Not just classification:  </a:t>
            </a:r>
            <a:r>
              <a:rPr sz="1100" b="0">
                <a:solidFill>
                  <a:srgbClr val="1A2433"/>
                </a:solidFill>
                <a:latin typeface="Segoe UI"/>
              </a:rPr>
              <a:t>the model predicts </a:t>
            </a:r>
            <a:r>
              <a:rPr sz="1100" b="1">
                <a:solidFill>
                  <a:srgbClr val="2E6BE6"/>
                </a:solidFill>
                <a:latin typeface="Segoe UI"/>
              </a:rPr>
              <a:t>which gesture (classification)</a:t>
            </a:r>
            <a:r>
              <a:rPr sz="1100" b="0">
                <a:solidFill>
                  <a:srgbClr val="1A2433"/>
                </a:solidFill>
                <a:latin typeface="Segoe UI"/>
              </a:rPr>
              <a:t>  and  </a:t>
            </a:r>
            <a:r>
              <a:rPr sz="1100" b="1">
                <a:solidFill>
                  <a:srgbClr val="0B8A80"/>
                </a:solidFill>
                <a:latin typeface="Segoe UI"/>
              </a:rPr>
              <a:t>the exact joint angles (regression)</a:t>
            </a:r>
            <a:r>
              <a:rPr sz="1100" b="0">
                <a:solidFill>
                  <a:srgbClr val="1A2433"/>
                </a:solidFill>
                <a:latin typeface="Segoe UI"/>
              </a:rPr>
              <a:t>  → proportional, natural control.</a:t>
            </a:r>
          </a:p>
        </p:txBody>
      </p:sp>
      <p:sp>
        <p:nvSpPr>
          <p:cNvPr id="10" name="TextBox 9"/>
          <p:cNvSpPr txBox="1"/>
          <p:nvPr/>
        </p:nvSpPr>
        <p:spPr>
          <a:xfrm>
            <a:off x="502920" y="1920240"/>
            <a:ext cx="512064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a:solidFill>
                  <a:srgbClr val="1A2433"/>
                </a:solidFill>
                <a:latin typeface="Segoe UI Semibold"/>
              </a:rPr>
              <a:t>How the model reads the signal</a:t>
            </a:r>
          </a:p>
        </p:txBody>
      </p:sp>
      <p:sp>
        <p:nvSpPr>
          <p:cNvPr id="11" name="Rounded Rectangle 10"/>
          <p:cNvSpPr/>
          <p:nvPr/>
        </p:nvSpPr>
        <p:spPr>
          <a:xfrm>
            <a:off x="502920" y="2249424"/>
            <a:ext cx="5120640" cy="530352"/>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340864"/>
            <a:ext cx="73152" cy="347471"/>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322576"/>
            <a:ext cx="4754880" cy="274320"/>
          </a:xfrm>
          <a:prstGeom prst="rect">
            <a:avLst/>
          </a:prstGeom>
          <a:noFill/>
        </p:spPr>
        <p:txBody>
          <a:bodyPr wrap="square" anchor="t" lIns="0" rIns="0" tIns="0" bIns="0">
            <a:spAutoFit/>
          </a:bodyPr>
          <a:lstStyle/>
          <a:p>
            <a:pPr algn="l">
              <a:lnSpc>
                <a:spcPct val="100000"/>
              </a:lnSpc>
              <a:spcBef>
                <a:spcPts val="0"/>
              </a:spcBef>
              <a:spcAft>
                <a:spcPts val="400"/>
              </a:spcAft>
            </a:pPr>
            <a:r>
              <a:rPr sz="1120" b="1">
                <a:solidFill>
                  <a:srgbClr val="1A2433"/>
                </a:solidFill>
                <a:latin typeface="Segoe UI Semibold"/>
              </a:rPr>
              <a:t>Windowed FMG input</a:t>
            </a:r>
          </a:p>
        </p:txBody>
      </p:sp>
      <p:sp>
        <p:nvSpPr>
          <p:cNvPr id="14" name="TextBox 13"/>
          <p:cNvSpPr txBox="1"/>
          <p:nvPr/>
        </p:nvSpPr>
        <p:spPr>
          <a:xfrm>
            <a:off x="731520" y="2560320"/>
            <a:ext cx="48006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a:solidFill>
                  <a:srgbClr val="5C6B7A"/>
                </a:solidFill>
                <a:latin typeface="Segoe UI"/>
              </a:rPr>
              <a:t>a short slice of sensor history</a:t>
            </a:r>
          </a:p>
        </p:txBody>
      </p:sp>
      <p:cxnSp>
        <p:nvCxnSpPr>
          <p:cNvPr id="15" name="Connector 14"/>
          <p:cNvCxnSpPr/>
          <p:nvPr/>
        </p:nvCxnSpPr>
        <p:spPr>
          <a:xfrm>
            <a:off x="3063240" y="2779776"/>
            <a:ext cx="0" cy="109728"/>
          </a:xfrm>
          <a:prstGeom prst="line">
            <a:avLst/>
          </a:prstGeom>
          <a:ln w="19050">
            <a:solidFill>
              <a:srgbClr val="C3D2E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 y="2889504"/>
            <a:ext cx="5120640" cy="530352"/>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980944"/>
            <a:ext cx="73152" cy="347471"/>
          </a:xfrm>
          <a:prstGeom prst="rect">
            <a:avLst/>
          </a:prstGeom>
          <a:solidFill>
            <a:srgbClr val="12B5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962656"/>
            <a:ext cx="4754880" cy="274320"/>
          </a:xfrm>
          <a:prstGeom prst="rect">
            <a:avLst/>
          </a:prstGeom>
          <a:noFill/>
        </p:spPr>
        <p:txBody>
          <a:bodyPr wrap="square" anchor="t" lIns="0" rIns="0" tIns="0" bIns="0">
            <a:spAutoFit/>
          </a:bodyPr>
          <a:lstStyle/>
          <a:p>
            <a:pPr algn="l">
              <a:lnSpc>
                <a:spcPct val="100000"/>
              </a:lnSpc>
              <a:spcBef>
                <a:spcPts val="0"/>
              </a:spcBef>
              <a:spcAft>
                <a:spcPts val="400"/>
              </a:spcAft>
            </a:pPr>
            <a:r>
              <a:rPr sz="1120" b="1">
                <a:solidFill>
                  <a:srgbClr val="1A2433"/>
                </a:solidFill>
                <a:latin typeface="Segoe UI Semibold"/>
              </a:rPr>
              <a:t>MobileNetV2 blocks</a:t>
            </a:r>
          </a:p>
        </p:txBody>
      </p:sp>
      <p:sp>
        <p:nvSpPr>
          <p:cNvPr id="19" name="TextBox 18"/>
          <p:cNvSpPr txBox="1"/>
          <p:nvPr/>
        </p:nvSpPr>
        <p:spPr>
          <a:xfrm>
            <a:off x="731520" y="3200400"/>
            <a:ext cx="48006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a:solidFill>
                  <a:srgbClr val="5C6B7A"/>
                </a:solidFill>
                <a:latin typeface="Segoe UI"/>
              </a:rPr>
              <a:t>extract features from the signal</a:t>
            </a:r>
          </a:p>
        </p:txBody>
      </p:sp>
      <p:cxnSp>
        <p:nvCxnSpPr>
          <p:cNvPr id="20" name="Connector 19"/>
          <p:cNvCxnSpPr/>
          <p:nvPr/>
        </p:nvCxnSpPr>
        <p:spPr>
          <a:xfrm>
            <a:off x="3063240" y="3419856"/>
            <a:ext cx="0" cy="109728"/>
          </a:xfrm>
          <a:prstGeom prst="line">
            <a:avLst/>
          </a:prstGeom>
          <a:ln w="19050">
            <a:solidFill>
              <a:srgbClr val="C3D2E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2920" y="3529584"/>
            <a:ext cx="5120640" cy="530352"/>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621024"/>
            <a:ext cx="73152" cy="347471"/>
          </a:xfrm>
          <a:prstGeom prst="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602736"/>
            <a:ext cx="4754880" cy="274320"/>
          </a:xfrm>
          <a:prstGeom prst="rect">
            <a:avLst/>
          </a:prstGeom>
          <a:noFill/>
        </p:spPr>
        <p:txBody>
          <a:bodyPr wrap="square" anchor="t" lIns="0" rIns="0" tIns="0" bIns="0">
            <a:spAutoFit/>
          </a:bodyPr>
          <a:lstStyle/>
          <a:p>
            <a:pPr algn="l">
              <a:lnSpc>
                <a:spcPct val="100000"/>
              </a:lnSpc>
              <a:spcBef>
                <a:spcPts val="0"/>
              </a:spcBef>
              <a:spcAft>
                <a:spcPts val="400"/>
              </a:spcAft>
            </a:pPr>
            <a:r>
              <a:rPr sz="1120" b="1">
                <a:solidFill>
                  <a:srgbClr val="1A2433"/>
                </a:solidFill>
                <a:latin typeface="Segoe UI Semibold"/>
              </a:rPr>
              <a:t>TCN (temporal conv.)</a:t>
            </a:r>
          </a:p>
        </p:txBody>
      </p:sp>
      <p:sp>
        <p:nvSpPr>
          <p:cNvPr id="24" name="TextBox 23"/>
          <p:cNvSpPr txBox="1"/>
          <p:nvPr/>
        </p:nvSpPr>
        <p:spPr>
          <a:xfrm>
            <a:off x="731520" y="3840480"/>
            <a:ext cx="48006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a:solidFill>
                  <a:srgbClr val="5C6B7A"/>
                </a:solidFill>
                <a:latin typeface="Segoe UI"/>
              </a:rPr>
              <a:t>model how the signal evolves in time</a:t>
            </a:r>
          </a:p>
        </p:txBody>
      </p:sp>
      <p:cxnSp>
        <p:nvCxnSpPr>
          <p:cNvPr id="25" name="Connector 24"/>
          <p:cNvCxnSpPr/>
          <p:nvPr/>
        </p:nvCxnSpPr>
        <p:spPr>
          <a:xfrm>
            <a:off x="3063240" y="4059936"/>
            <a:ext cx="0" cy="109728"/>
          </a:xfrm>
          <a:prstGeom prst="line">
            <a:avLst/>
          </a:prstGeom>
          <a:ln w="19050">
            <a:solidFill>
              <a:srgbClr val="C3D2E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4169664"/>
            <a:ext cx="5120640" cy="530352"/>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261104"/>
            <a:ext cx="73152" cy="347471"/>
          </a:xfrm>
          <a:prstGeom prst="rect">
            <a:avLst/>
          </a:prstGeom>
          <a:solidFill>
            <a:srgbClr val="8A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242816"/>
            <a:ext cx="4754880" cy="274320"/>
          </a:xfrm>
          <a:prstGeom prst="rect">
            <a:avLst/>
          </a:prstGeom>
          <a:noFill/>
        </p:spPr>
        <p:txBody>
          <a:bodyPr wrap="square" anchor="t" lIns="0" rIns="0" tIns="0" bIns="0">
            <a:spAutoFit/>
          </a:bodyPr>
          <a:lstStyle/>
          <a:p>
            <a:pPr algn="l">
              <a:lnSpc>
                <a:spcPct val="100000"/>
              </a:lnSpc>
              <a:spcBef>
                <a:spcPts val="0"/>
              </a:spcBef>
              <a:spcAft>
                <a:spcPts val="400"/>
              </a:spcAft>
            </a:pPr>
            <a:r>
              <a:rPr sz="1120" b="1">
                <a:solidFill>
                  <a:srgbClr val="1A2433"/>
                </a:solidFill>
                <a:latin typeface="Segoe UI Semibold"/>
              </a:rPr>
              <a:t>Regularised shared layer</a:t>
            </a:r>
          </a:p>
        </p:txBody>
      </p:sp>
      <p:sp>
        <p:nvSpPr>
          <p:cNvPr id="29" name="TextBox 28"/>
          <p:cNvSpPr txBox="1"/>
          <p:nvPr/>
        </p:nvSpPr>
        <p:spPr>
          <a:xfrm>
            <a:off x="731520" y="4480560"/>
            <a:ext cx="48006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a:solidFill>
                  <a:srgbClr val="5C6B7A"/>
                </a:solidFill>
                <a:latin typeface="Segoe UI"/>
              </a:rPr>
              <a:t>robust, compact representation</a:t>
            </a:r>
          </a:p>
        </p:txBody>
      </p:sp>
      <p:cxnSp>
        <p:nvCxnSpPr>
          <p:cNvPr id="30" name="Connector 29"/>
          <p:cNvCxnSpPr/>
          <p:nvPr/>
        </p:nvCxnSpPr>
        <p:spPr>
          <a:xfrm>
            <a:off x="3063240" y="4700016"/>
            <a:ext cx="0" cy="109728"/>
          </a:xfrm>
          <a:prstGeom prst="line">
            <a:avLst/>
          </a:prstGeom>
          <a:ln w="19050">
            <a:solidFill>
              <a:srgbClr val="C3D2E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02920" y="4809744"/>
            <a:ext cx="5120640" cy="603504"/>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901184"/>
            <a:ext cx="73152" cy="420624"/>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882896"/>
            <a:ext cx="4754880" cy="274320"/>
          </a:xfrm>
          <a:prstGeom prst="rect">
            <a:avLst/>
          </a:prstGeom>
          <a:noFill/>
        </p:spPr>
        <p:txBody>
          <a:bodyPr wrap="square" anchor="t" lIns="0" rIns="0" tIns="0" bIns="0">
            <a:spAutoFit/>
          </a:bodyPr>
          <a:lstStyle/>
          <a:p>
            <a:pPr algn="l">
              <a:lnSpc>
                <a:spcPct val="100000"/>
              </a:lnSpc>
              <a:spcBef>
                <a:spcPts val="0"/>
              </a:spcBef>
              <a:spcAft>
                <a:spcPts val="400"/>
              </a:spcAft>
            </a:pPr>
            <a:r>
              <a:rPr sz="1120" b="1">
                <a:solidFill>
                  <a:srgbClr val="1A2433"/>
                </a:solidFill>
                <a:latin typeface="Segoe UI Semibold"/>
              </a:rPr>
              <a:t>Two heads — Classification + Regression</a:t>
            </a:r>
          </a:p>
        </p:txBody>
      </p:sp>
      <p:sp>
        <p:nvSpPr>
          <p:cNvPr id="34" name="TextBox 33"/>
          <p:cNvSpPr txBox="1"/>
          <p:nvPr/>
        </p:nvSpPr>
        <p:spPr>
          <a:xfrm>
            <a:off x="731520" y="5120640"/>
            <a:ext cx="48006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a:solidFill>
                  <a:srgbClr val="5C6B7A"/>
                </a:solidFill>
                <a:latin typeface="Segoe UI"/>
              </a:rPr>
              <a:t>gesture  +  continuous joint angles</a:t>
            </a:r>
          </a:p>
        </p:txBody>
      </p:sp>
      <p:sp>
        <p:nvSpPr>
          <p:cNvPr id="35" name="TextBox 34"/>
          <p:cNvSpPr txBox="1"/>
          <p:nvPr/>
        </p:nvSpPr>
        <p:spPr>
          <a:xfrm>
            <a:off x="5943600" y="1920240"/>
            <a:ext cx="576072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a:solidFill>
                  <a:srgbClr val="1A2433"/>
                </a:solidFill>
                <a:latin typeface="Segoe UI Semibold"/>
              </a:rPr>
              <a:t>Why these choices</a:t>
            </a:r>
          </a:p>
        </p:txBody>
      </p:sp>
      <p:sp>
        <p:nvSpPr>
          <p:cNvPr id="36" name="Rounded Rectangle 35"/>
          <p:cNvSpPr/>
          <p:nvPr/>
        </p:nvSpPr>
        <p:spPr>
          <a:xfrm>
            <a:off x="5943600" y="2249424"/>
            <a:ext cx="5760720" cy="932688"/>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0" y="2359152"/>
            <a:ext cx="73152" cy="713232"/>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44768" y="2359152"/>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160" b="1">
                <a:solidFill>
                  <a:srgbClr val="1A2433"/>
                </a:solidFill>
                <a:latin typeface="Segoe UI Semibold"/>
              </a:rPr>
              <a:t>Why classification + regression</a:t>
            </a:r>
          </a:p>
        </p:txBody>
      </p:sp>
      <p:sp>
        <p:nvSpPr>
          <p:cNvPr id="39" name="TextBox 38"/>
          <p:cNvSpPr txBox="1"/>
          <p:nvPr/>
        </p:nvSpPr>
        <p:spPr>
          <a:xfrm>
            <a:off x="6144768" y="2615184"/>
            <a:ext cx="5486400" cy="502920"/>
          </a:xfrm>
          <a:prstGeom prst="rect">
            <a:avLst/>
          </a:prstGeom>
          <a:noFill/>
        </p:spPr>
        <p:txBody>
          <a:bodyPr wrap="square" anchor="t" lIns="0" rIns="0" tIns="0" bIns="0">
            <a:spAutoFit/>
          </a:bodyPr>
          <a:lstStyle/>
          <a:p>
            <a:pPr algn="l">
              <a:lnSpc>
                <a:spcPct val="105000"/>
              </a:lnSpc>
              <a:spcBef>
                <a:spcPts val="0"/>
              </a:spcBef>
              <a:spcAft>
                <a:spcPts val="400"/>
              </a:spcAft>
            </a:pPr>
            <a:r>
              <a:rPr sz="960" b="0">
                <a:solidFill>
                  <a:srgbClr val="5C6B7A"/>
                </a:solidFill>
                <a:latin typeface="Segoe UI"/>
              </a:rPr>
              <a:t>Classification picks the intended gesture; regression outputs the exact joint angles. Together they give smooth, proportional motion instead of fixed on/off grips.</a:t>
            </a:r>
          </a:p>
        </p:txBody>
      </p:sp>
      <p:sp>
        <p:nvSpPr>
          <p:cNvPr id="40" name="Rounded Rectangle 39"/>
          <p:cNvSpPr/>
          <p:nvPr/>
        </p:nvSpPr>
        <p:spPr>
          <a:xfrm>
            <a:off x="5943600" y="3273552"/>
            <a:ext cx="5760720" cy="932688"/>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43600" y="3383280"/>
            <a:ext cx="73152" cy="713232"/>
          </a:xfrm>
          <a:prstGeom prst="rect">
            <a:avLst/>
          </a:prstGeom>
          <a:solidFill>
            <a:srgbClr val="12B5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44768" y="3383280"/>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160" b="1">
                <a:solidFill>
                  <a:srgbClr val="1A2433"/>
                </a:solidFill>
                <a:latin typeface="Segoe UI Semibold"/>
              </a:rPr>
              <a:t>Why MobileNetV2</a:t>
            </a:r>
          </a:p>
        </p:txBody>
      </p:sp>
      <p:sp>
        <p:nvSpPr>
          <p:cNvPr id="43" name="TextBox 42"/>
          <p:cNvSpPr txBox="1"/>
          <p:nvPr/>
        </p:nvSpPr>
        <p:spPr>
          <a:xfrm>
            <a:off x="6144768" y="3639312"/>
            <a:ext cx="5486400" cy="502920"/>
          </a:xfrm>
          <a:prstGeom prst="rect">
            <a:avLst/>
          </a:prstGeom>
          <a:noFill/>
        </p:spPr>
        <p:txBody>
          <a:bodyPr wrap="square" anchor="t" lIns="0" rIns="0" tIns="0" bIns="0">
            <a:spAutoFit/>
          </a:bodyPr>
          <a:lstStyle/>
          <a:p>
            <a:pPr algn="l">
              <a:lnSpc>
                <a:spcPct val="105000"/>
              </a:lnSpc>
              <a:spcBef>
                <a:spcPts val="0"/>
              </a:spcBef>
              <a:spcAft>
                <a:spcPts val="400"/>
              </a:spcAft>
            </a:pPr>
            <a:r>
              <a:rPr sz="960" b="0">
                <a:solidFill>
                  <a:srgbClr val="5C6B7A"/>
                </a:solidFill>
                <a:latin typeface="Segoe UI"/>
              </a:rPr>
              <a:t>Lightweight and efficient — built for edge devices — so it runs on the Raspberry Pi within our power and latency budget, with far fewer parameters than a full CNN.</a:t>
            </a:r>
          </a:p>
        </p:txBody>
      </p:sp>
      <p:sp>
        <p:nvSpPr>
          <p:cNvPr id="44" name="Rounded Rectangle 43"/>
          <p:cNvSpPr/>
          <p:nvPr/>
        </p:nvSpPr>
        <p:spPr>
          <a:xfrm>
            <a:off x="5943600" y="4297680"/>
            <a:ext cx="5760720" cy="932688"/>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43600" y="4407408"/>
            <a:ext cx="73152" cy="713232"/>
          </a:xfrm>
          <a:prstGeom prst="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44768" y="4407408"/>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160" b="1">
                <a:solidFill>
                  <a:srgbClr val="1A2433"/>
                </a:solidFill>
                <a:latin typeface="Segoe UI Semibold"/>
              </a:rPr>
              <a:t>Why a TCN (not an RNN/LSTM)</a:t>
            </a:r>
          </a:p>
        </p:txBody>
      </p:sp>
      <p:sp>
        <p:nvSpPr>
          <p:cNvPr id="47" name="TextBox 46"/>
          <p:cNvSpPr txBox="1"/>
          <p:nvPr/>
        </p:nvSpPr>
        <p:spPr>
          <a:xfrm>
            <a:off x="6144768" y="4663440"/>
            <a:ext cx="5486400" cy="502920"/>
          </a:xfrm>
          <a:prstGeom prst="rect">
            <a:avLst/>
          </a:prstGeom>
          <a:noFill/>
        </p:spPr>
        <p:txBody>
          <a:bodyPr wrap="square" anchor="t" lIns="0" rIns="0" tIns="0" bIns="0">
            <a:spAutoFit/>
          </a:bodyPr>
          <a:lstStyle/>
          <a:p>
            <a:pPr algn="l">
              <a:lnSpc>
                <a:spcPct val="105000"/>
              </a:lnSpc>
              <a:spcBef>
                <a:spcPts val="0"/>
              </a:spcBef>
              <a:spcAft>
                <a:spcPts val="400"/>
              </a:spcAft>
            </a:pPr>
            <a:r>
              <a:rPr sz="960" b="0">
                <a:solidFill>
                  <a:srgbClr val="5C6B7A"/>
                </a:solidFill>
                <a:latin typeface="Segoe UI"/>
              </a:rPr>
              <a:t>Convolutions over time capture the muscle pattern as it unfolds, run fast in parallel, and avoid the unstable gradients of recurrent nets — better for real-time control.</a:t>
            </a:r>
          </a:p>
        </p:txBody>
      </p:sp>
      <p:sp>
        <p:nvSpPr>
          <p:cNvPr id="48" name="Rounded Rectangle 47"/>
          <p:cNvSpPr/>
          <p:nvPr/>
        </p:nvSpPr>
        <p:spPr>
          <a:xfrm>
            <a:off x="5943600" y="5321808"/>
            <a:ext cx="5760720" cy="932688"/>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943600" y="5431536"/>
            <a:ext cx="73152" cy="713232"/>
          </a:xfrm>
          <a:prstGeom prst="rect">
            <a:avLst/>
          </a:prstGeom>
          <a:solidFill>
            <a:srgbClr val="8A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4768" y="5431536"/>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160" b="1">
                <a:solidFill>
                  <a:srgbClr val="1A2433"/>
                </a:solidFill>
                <a:latin typeface="Segoe UI Semibold"/>
              </a:rPr>
              <a:t>Why on-device + confidence gating</a:t>
            </a:r>
          </a:p>
        </p:txBody>
      </p:sp>
      <p:sp>
        <p:nvSpPr>
          <p:cNvPr id="51" name="TextBox 50"/>
          <p:cNvSpPr txBox="1"/>
          <p:nvPr/>
        </p:nvSpPr>
        <p:spPr>
          <a:xfrm>
            <a:off x="6144768" y="5687568"/>
            <a:ext cx="5486400" cy="502920"/>
          </a:xfrm>
          <a:prstGeom prst="rect">
            <a:avLst/>
          </a:prstGeom>
          <a:noFill/>
        </p:spPr>
        <p:txBody>
          <a:bodyPr wrap="square" anchor="t" lIns="0" rIns="0" tIns="0" bIns="0">
            <a:spAutoFit/>
          </a:bodyPr>
          <a:lstStyle/>
          <a:p>
            <a:pPr algn="l">
              <a:lnSpc>
                <a:spcPct val="105000"/>
              </a:lnSpc>
              <a:spcBef>
                <a:spcPts val="0"/>
              </a:spcBef>
              <a:spcAft>
                <a:spcPts val="400"/>
              </a:spcAft>
            </a:pPr>
            <a:r>
              <a:rPr sz="960" b="0">
                <a:solidFill>
                  <a:srgbClr val="5C6B7A"/>
                </a:solidFill>
                <a:latin typeface="Segoe UI"/>
              </a:rPr>
              <a:t>Local inference removes network delay and protects privacy; the hand acts only when the model is confident, keeping motion safe and stable.</a:t>
            </a:r>
          </a:p>
        </p:txBody>
      </p:sp>
      <p:sp>
        <p:nvSpPr>
          <p:cNvPr id="52" name="TextBox 51"/>
          <p:cNvSpPr txBox="1"/>
          <p:nvPr/>
        </p:nvSpPr>
        <p:spPr>
          <a:xfrm>
            <a:off x="502920" y="6437376"/>
            <a:ext cx="7315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0">
                <a:solidFill>
                  <a:srgbClr val="5C6B7A"/>
                </a:solidFill>
                <a:latin typeface="Segoe UI"/>
              </a:rPr>
              <a:t>JoTouch — Technical Brief · Sensing, Control &amp; AI</a:t>
            </a:r>
          </a:p>
        </p:txBody>
      </p:sp>
      <p:sp>
        <p:nvSpPr>
          <p:cNvPr id="53" name="TextBox 52"/>
          <p:cNvSpPr txBox="1"/>
          <p:nvPr/>
        </p:nvSpPr>
        <p:spPr>
          <a:xfrm>
            <a:off x="10241280" y="6437376"/>
            <a:ext cx="1463040" cy="274320"/>
          </a:xfrm>
          <a:prstGeom prst="rect">
            <a:avLst/>
          </a:prstGeom>
          <a:noFill/>
        </p:spPr>
        <p:txBody>
          <a:bodyPr wrap="square" anchor="ctr" lIns="0" rIns="0" tIns="0" bIns="0">
            <a:spAutoFit/>
          </a:bodyPr>
          <a:lstStyle/>
          <a:p>
            <a:pPr algn="r">
              <a:lnSpc>
                <a:spcPct val="100000"/>
              </a:lnSpc>
              <a:spcBef>
                <a:spcPts val="0"/>
              </a:spcBef>
              <a:spcAft>
                <a:spcPts val="400"/>
              </a:spcAft>
            </a:pPr>
            <a:r>
              <a:rPr sz="900" b="1">
                <a:solidFill>
                  <a:srgbClr val="5C6B7A"/>
                </a:solidFill>
                <a:latin typeface="Segoe UI Semibold"/>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Oval 1"/>
          <p:cNvSpPr/>
          <p:nvPr/>
        </p:nvSpPr>
        <p:spPr>
          <a:xfrm>
            <a:off x="502920" y="402336"/>
            <a:ext cx="274320" cy="274320"/>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0584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250" b="1">
                <a:solidFill>
                  <a:srgbClr val="2E6BE6"/>
                </a:solidFill>
                <a:latin typeface="Segoe UI Semibold"/>
              </a:rPr>
              <a:t>03 · ONLINE PER-PATIENT TRAINING</a:t>
            </a:r>
          </a:p>
        </p:txBody>
      </p:sp>
      <p:sp>
        <p:nvSpPr>
          <p:cNvPr id="4" name="TextBox 3"/>
          <p:cNvSpPr txBox="1"/>
          <p:nvPr/>
        </p:nvSpPr>
        <p:spPr>
          <a:xfrm>
            <a:off x="502920" y="713232"/>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2700" b="1">
                <a:solidFill>
                  <a:srgbClr val="1A2433"/>
                </a:solidFill>
                <a:latin typeface="Segoe UI Semibold"/>
              </a:rPr>
              <a:t>The hand learns each patient over time</a:t>
            </a:r>
          </a:p>
        </p:txBody>
      </p:sp>
      <p:sp>
        <p:nvSpPr>
          <p:cNvPr id="5" name="Rounded Rectangle 4"/>
          <p:cNvSpPr/>
          <p:nvPr/>
        </p:nvSpPr>
        <p:spPr>
          <a:xfrm>
            <a:off x="9784080" y="438912"/>
            <a:ext cx="1920240" cy="274320"/>
          </a:xfrm>
          <a:prstGeom prst="roundRect">
            <a:avLst>
              <a:gd name="adj" fmla="val 50000"/>
            </a:avLst>
          </a:prstGeom>
          <a:noFill/>
          <a:ln w="15240">
            <a:solidFill>
              <a:srgbClr val="7C89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93807" y="534924"/>
            <a:ext cx="91440" cy="91440"/>
          </a:xfrm>
          <a:prstGeom prst="ellipse">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438912"/>
            <a:ext cx="1600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1">
                <a:solidFill>
                  <a:srgbClr val="7C8997"/>
                </a:solidFill>
                <a:latin typeface="Segoe UI Semibold"/>
              </a:rPr>
              <a:t>PLANNED</a:t>
            </a:r>
          </a:p>
        </p:txBody>
      </p:sp>
      <p:sp>
        <p:nvSpPr>
          <p:cNvPr id="8" name="Rounded Rectangle 7"/>
          <p:cNvSpPr/>
          <p:nvPr/>
        </p:nvSpPr>
        <p:spPr>
          <a:xfrm>
            <a:off x="502920" y="1188720"/>
            <a:ext cx="11201400" cy="713232"/>
          </a:xfrm>
          <a:prstGeom prst="roundRect">
            <a:avLst>
              <a:gd name="adj" fmla="val 6000"/>
            </a:avLst>
          </a:prstGeom>
          <a:solidFill>
            <a:srgbClr val="0E1B2E"/>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80160"/>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1">
                <a:solidFill>
                  <a:srgbClr val="12B5A8"/>
                </a:solidFill>
                <a:latin typeface="Segoe UI Semibold"/>
              </a:rPr>
              <a:t>Sensor → motor weights</a:t>
            </a:r>
          </a:p>
        </p:txBody>
      </p:sp>
      <p:sp>
        <p:nvSpPr>
          <p:cNvPr id="10" name="Rounded Rectangle 9"/>
          <p:cNvSpPr/>
          <p:nvPr/>
        </p:nvSpPr>
        <p:spPr>
          <a:xfrm>
            <a:off x="731520" y="1517904"/>
            <a:ext cx="4297680" cy="292608"/>
          </a:xfrm>
          <a:prstGeom prst="roundRect">
            <a:avLst>
              <a:gd name="adj" fmla="val 30000"/>
            </a:avLst>
          </a:prstGeom>
          <a:solidFill>
            <a:srgbClr val="16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17904"/>
            <a:ext cx="4114800" cy="292608"/>
          </a:xfrm>
          <a:prstGeom prst="rect">
            <a:avLst/>
          </a:prstGeom>
          <a:noFill/>
        </p:spPr>
        <p:txBody>
          <a:bodyPr wrap="square" anchor="ctr" lIns="0" rIns="0" tIns="0" bIns="0">
            <a:spAutoFit/>
          </a:bodyPr>
          <a:lstStyle/>
          <a:p>
            <a:pPr algn="l">
              <a:lnSpc>
                <a:spcPct val="100000"/>
              </a:lnSpc>
              <a:spcBef>
                <a:spcPts val="0"/>
              </a:spcBef>
              <a:spcAft>
                <a:spcPts val="400"/>
              </a:spcAft>
            </a:pPr>
            <a:r>
              <a:rPr sz="1000" b="1">
                <a:solidFill>
                  <a:srgbClr val="F2A01E"/>
                </a:solidFill>
                <a:latin typeface="Segoe UI Semibold"/>
              </a:rPr>
              <a:t>① Initial  </a:t>
            </a:r>
            <a:r>
              <a:rPr sz="960" b="0">
                <a:solidFill>
                  <a:srgbClr val="FFFFFF"/>
                </a:solidFill>
                <a:latin typeface="Segoe UI"/>
              </a:rPr>
              <a:t>fixed weights trained on our dataset</a:t>
            </a:r>
          </a:p>
        </p:txBody>
      </p:sp>
      <p:cxnSp>
        <p:nvCxnSpPr>
          <p:cNvPr id="12" name="Connector 11"/>
          <p:cNvCxnSpPr/>
          <p:nvPr/>
        </p:nvCxnSpPr>
        <p:spPr>
          <a:xfrm>
            <a:off x="5120640" y="1664208"/>
            <a:ext cx="685800" cy="0"/>
          </a:xfrm>
          <a:prstGeom prst="line">
            <a:avLst/>
          </a:prstGeom>
          <a:ln w="27940">
            <a:solidFill>
              <a:srgbClr val="12B5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97880" y="1517904"/>
            <a:ext cx="5120640" cy="292608"/>
          </a:xfrm>
          <a:prstGeom prst="roundRect">
            <a:avLst>
              <a:gd name="adj" fmla="val 30000"/>
            </a:avLst>
          </a:prstGeom>
          <a:solidFill>
            <a:srgbClr val="16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1517904"/>
            <a:ext cx="4937760" cy="292608"/>
          </a:xfrm>
          <a:prstGeom prst="rect">
            <a:avLst/>
          </a:prstGeom>
          <a:noFill/>
        </p:spPr>
        <p:txBody>
          <a:bodyPr wrap="square" anchor="ctr" lIns="0" rIns="0" tIns="0" bIns="0">
            <a:spAutoFit/>
          </a:bodyPr>
          <a:lstStyle/>
          <a:p>
            <a:pPr algn="l">
              <a:lnSpc>
                <a:spcPct val="100000"/>
              </a:lnSpc>
              <a:spcBef>
                <a:spcPts val="0"/>
              </a:spcBef>
              <a:spcAft>
                <a:spcPts val="400"/>
              </a:spcAft>
            </a:pPr>
            <a:r>
              <a:rPr sz="1000" b="1">
                <a:solidFill>
                  <a:srgbClr val="12B5A8"/>
                </a:solidFill>
                <a:latin typeface="Segoe UI Semibold"/>
              </a:rPr>
              <a:t>② Per-patient  </a:t>
            </a:r>
            <a:r>
              <a:rPr sz="960" b="0">
                <a:solidFill>
                  <a:srgbClr val="FFFFFF"/>
                </a:solidFill>
                <a:latin typeface="Segoe UI"/>
              </a:rPr>
              <a:t>updated online for each user over time</a:t>
            </a:r>
          </a:p>
        </p:txBody>
      </p:sp>
      <p:sp>
        <p:nvSpPr>
          <p:cNvPr id="15" name="Rounded Rectangle 14"/>
          <p:cNvSpPr/>
          <p:nvPr/>
        </p:nvSpPr>
        <p:spPr>
          <a:xfrm>
            <a:off x="502920" y="2121408"/>
            <a:ext cx="5029200" cy="2743200"/>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231136"/>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a:solidFill>
                  <a:srgbClr val="1A2433"/>
                </a:solidFill>
                <a:latin typeface="Segoe UI Semibold"/>
              </a:rPr>
              <a:t>How we get the signals</a:t>
            </a:r>
          </a:p>
        </p:txBody>
      </p:sp>
      <p:sp>
        <p:nvSpPr>
          <p:cNvPr id="17" name="Oval 16"/>
          <p:cNvSpPr/>
          <p:nvPr/>
        </p:nvSpPr>
        <p:spPr>
          <a:xfrm>
            <a:off x="731520" y="2615184"/>
            <a:ext cx="128016" cy="128016"/>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2532888"/>
            <a:ext cx="43891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Input — intent</a:t>
            </a:r>
          </a:p>
        </p:txBody>
      </p:sp>
      <p:sp>
        <p:nvSpPr>
          <p:cNvPr id="19" name="TextBox 18"/>
          <p:cNvSpPr txBox="1"/>
          <p:nvPr/>
        </p:nvSpPr>
        <p:spPr>
          <a:xfrm>
            <a:off x="950976" y="2798063"/>
            <a:ext cx="4434840" cy="548640"/>
          </a:xfrm>
          <a:prstGeom prst="rect">
            <a:avLst/>
          </a:prstGeom>
          <a:noFill/>
        </p:spPr>
        <p:txBody>
          <a:bodyPr wrap="square" anchor="t" lIns="0" rIns="0" tIns="0" bIns="0">
            <a:spAutoFit/>
          </a:bodyPr>
          <a:lstStyle/>
          <a:p>
            <a:pPr algn="l">
              <a:lnSpc>
                <a:spcPct val="104000"/>
              </a:lnSpc>
              <a:spcBef>
                <a:spcPts val="0"/>
              </a:spcBef>
              <a:spcAft>
                <a:spcPts val="400"/>
              </a:spcAft>
            </a:pPr>
            <a:r>
              <a:rPr sz="960" b="0">
                <a:solidFill>
                  <a:srgbClr val="5C6B7A"/>
                </a:solidFill>
                <a:latin typeface="Segoe UI"/>
              </a:rPr>
              <a:t>The forearm FMG sensors capture what the patient is trying to do.</a:t>
            </a:r>
          </a:p>
        </p:txBody>
      </p:sp>
      <p:sp>
        <p:nvSpPr>
          <p:cNvPr id="20" name="Oval 19"/>
          <p:cNvSpPr/>
          <p:nvPr/>
        </p:nvSpPr>
        <p:spPr>
          <a:xfrm>
            <a:off x="731520" y="3364991"/>
            <a:ext cx="128016" cy="128016"/>
          </a:xfrm>
          <a:prstGeom prst="ellipse">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3282696"/>
            <a:ext cx="43891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Output — ground truth</a:t>
            </a:r>
          </a:p>
        </p:txBody>
      </p:sp>
      <p:sp>
        <p:nvSpPr>
          <p:cNvPr id="22" name="TextBox 21"/>
          <p:cNvSpPr txBox="1"/>
          <p:nvPr/>
        </p:nvSpPr>
        <p:spPr>
          <a:xfrm>
            <a:off x="950976" y="3547872"/>
            <a:ext cx="4434840" cy="548640"/>
          </a:xfrm>
          <a:prstGeom prst="rect">
            <a:avLst/>
          </a:prstGeom>
          <a:noFill/>
        </p:spPr>
        <p:txBody>
          <a:bodyPr wrap="square" anchor="t" lIns="0" rIns="0" tIns="0" bIns="0">
            <a:spAutoFit/>
          </a:bodyPr>
          <a:lstStyle/>
          <a:p>
            <a:pPr algn="l">
              <a:lnSpc>
                <a:spcPct val="104000"/>
              </a:lnSpc>
              <a:spcBef>
                <a:spcPts val="0"/>
              </a:spcBef>
              <a:spcAft>
                <a:spcPts val="400"/>
              </a:spcAft>
            </a:pPr>
            <a:r>
              <a:rPr sz="960" b="0">
                <a:solidFill>
                  <a:srgbClr val="5C6B7A"/>
                </a:solidFill>
                <a:latin typeface="Segoe UI"/>
              </a:rPr>
              <a:t>The motor encoders report the real joint positions, giving a matched (intent → motion) pair every moment — no extra lab equipment.</a:t>
            </a:r>
          </a:p>
        </p:txBody>
      </p:sp>
      <p:sp>
        <p:nvSpPr>
          <p:cNvPr id="23" name="Oval 22"/>
          <p:cNvSpPr/>
          <p:nvPr/>
        </p:nvSpPr>
        <p:spPr>
          <a:xfrm>
            <a:off x="731520" y="4114800"/>
            <a:ext cx="128016" cy="128016"/>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4032504"/>
            <a:ext cx="43891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Supervised calibration</a:t>
            </a:r>
          </a:p>
        </p:txBody>
      </p:sp>
      <p:sp>
        <p:nvSpPr>
          <p:cNvPr id="25" name="TextBox 24"/>
          <p:cNvSpPr txBox="1"/>
          <p:nvPr/>
        </p:nvSpPr>
        <p:spPr>
          <a:xfrm>
            <a:off x="950976" y="4297680"/>
            <a:ext cx="4434840" cy="548640"/>
          </a:xfrm>
          <a:prstGeom prst="rect">
            <a:avLst/>
          </a:prstGeom>
          <a:noFill/>
        </p:spPr>
        <p:txBody>
          <a:bodyPr wrap="square" anchor="t" lIns="0" rIns="0" tIns="0" bIns="0">
            <a:spAutoFit/>
          </a:bodyPr>
          <a:lstStyle/>
          <a:p>
            <a:pPr algn="l">
              <a:lnSpc>
                <a:spcPct val="104000"/>
              </a:lnSpc>
              <a:spcBef>
                <a:spcPts val="0"/>
              </a:spcBef>
              <a:spcAft>
                <a:spcPts val="400"/>
              </a:spcAft>
            </a:pPr>
            <a:r>
              <a:rPr sz="960" b="0">
                <a:solidFill>
                  <a:srgbClr val="5C6B7A"/>
                </a:solidFill>
                <a:latin typeface="Segoe UI"/>
              </a:rPr>
              <a:t>In a guided session the patient performs prescribed movements, so the collected pairs are trustworthy labels for learning.</a:t>
            </a:r>
          </a:p>
        </p:txBody>
      </p:sp>
      <p:sp>
        <p:nvSpPr>
          <p:cNvPr id="26" name="TextBox 25"/>
          <p:cNvSpPr txBox="1"/>
          <p:nvPr/>
        </p:nvSpPr>
        <p:spPr>
          <a:xfrm>
            <a:off x="5806440" y="2121408"/>
            <a:ext cx="585216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a:solidFill>
                  <a:srgbClr val="1A2433"/>
                </a:solidFill>
                <a:latin typeface="Segoe UI Semibold"/>
              </a:rPr>
              <a:t>The personalisation loop</a:t>
            </a:r>
          </a:p>
        </p:txBody>
      </p:sp>
      <p:sp>
        <p:nvSpPr>
          <p:cNvPr id="27" name="Rounded Rectangle 26"/>
          <p:cNvSpPr/>
          <p:nvPr/>
        </p:nvSpPr>
        <p:spPr>
          <a:xfrm>
            <a:off x="6016752" y="2569464"/>
            <a:ext cx="2377440" cy="914400"/>
          </a:xfrm>
          <a:prstGeom prst="roundRect">
            <a:avLst>
              <a:gd name="adj" fmla="val 12000"/>
            </a:avLst>
          </a:prstGeom>
          <a:solidFill>
            <a:srgbClr val="173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943600" y="2487168"/>
            <a:ext cx="2377440" cy="914400"/>
          </a:xfrm>
          <a:prstGeom prst="roundRect">
            <a:avLst>
              <a:gd name="adj" fmla="val 12000"/>
            </a:avLst>
          </a:prstGeom>
          <a:gradFill>
            <a:gsLst>
              <a:gs pos="0">
                <a:srgbClr val="5385EA"/>
              </a:gs>
              <a:gs pos="100000">
                <a:srgbClr val="2E6BE6"/>
              </a:gs>
            </a:gsLst>
            <a:lin ang="4200000" scaled="1"/>
          </a:gra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0" y="2487168"/>
            <a:ext cx="2377440" cy="82296"/>
          </a:xfrm>
          <a:prstGeom prst="rect">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71616" y="2596896"/>
            <a:ext cx="2121408" cy="749808"/>
          </a:xfrm>
          <a:prstGeom prst="rect">
            <a:avLst/>
          </a:prstGeom>
          <a:noFill/>
        </p:spPr>
        <p:txBody>
          <a:bodyPr wrap="square" anchor="ctr" lIns="0" rIns="0" tIns="0" bIns="0">
            <a:spAutoFit/>
          </a:bodyPr>
          <a:lstStyle/>
          <a:p>
            <a:pPr algn="l">
              <a:lnSpc>
                <a:spcPct val="100000"/>
              </a:lnSpc>
              <a:spcBef>
                <a:spcPts val="0"/>
              </a:spcBef>
              <a:spcAft>
                <a:spcPts val="200"/>
              </a:spcAft>
            </a:pPr>
            <a:r>
              <a:rPr sz="1250" b="1">
                <a:solidFill>
                  <a:srgbClr val="FFFFFF"/>
                </a:solidFill>
                <a:latin typeface="Segoe UI Semibold"/>
              </a:rPr>
              <a:t>1 · Use / calibrate</a:t>
            </a:r>
          </a:p>
          <a:p>
            <a:pPr algn="l">
              <a:lnSpc>
                <a:spcPct val="100000"/>
              </a:lnSpc>
              <a:spcBef>
                <a:spcPts val="0"/>
              </a:spcBef>
              <a:spcAft>
                <a:spcPts val="200"/>
              </a:spcAft>
            </a:pPr>
            <a:r>
              <a:rPr sz="930" b="0">
                <a:solidFill>
                  <a:srgbClr val="CFE0F0"/>
                </a:solidFill>
                <a:latin typeface="Segoe UI"/>
              </a:rPr>
              <a:t>FMG in · encoder angles out</a:t>
            </a:r>
          </a:p>
        </p:txBody>
      </p:sp>
      <p:sp>
        <p:nvSpPr>
          <p:cNvPr id="31" name="Rounded Rectangle 30"/>
          <p:cNvSpPr/>
          <p:nvPr/>
        </p:nvSpPr>
        <p:spPr>
          <a:xfrm>
            <a:off x="9308592" y="2569464"/>
            <a:ext cx="2377440" cy="914400"/>
          </a:xfrm>
          <a:prstGeom prst="roundRect">
            <a:avLst>
              <a:gd name="adj" fmla="val 12000"/>
            </a:avLst>
          </a:prstGeom>
          <a:solidFill>
            <a:srgbClr val="05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35440" y="2487168"/>
            <a:ext cx="2377440" cy="914400"/>
          </a:xfrm>
          <a:prstGeom prst="roundRect">
            <a:avLst>
              <a:gd name="adj" fmla="val 12000"/>
            </a:avLst>
          </a:prstGeom>
          <a:gradFill>
            <a:gsLst>
              <a:gs pos="0">
                <a:srgbClr val="369F96"/>
              </a:gs>
              <a:gs pos="100000">
                <a:srgbClr val="0B8A80"/>
              </a:gs>
            </a:gsLst>
            <a:lin ang="4200000" scaled="1"/>
          </a:gra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35440" y="2487168"/>
            <a:ext cx="2377440" cy="82296"/>
          </a:xfrm>
          <a:prstGeom prst="rect">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63456" y="2596896"/>
            <a:ext cx="2121408" cy="749808"/>
          </a:xfrm>
          <a:prstGeom prst="rect">
            <a:avLst/>
          </a:prstGeom>
          <a:noFill/>
        </p:spPr>
        <p:txBody>
          <a:bodyPr wrap="square" anchor="ctr" lIns="0" rIns="0" tIns="0" bIns="0">
            <a:spAutoFit/>
          </a:bodyPr>
          <a:lstStyle/>
          <a:p>
            <a:pPr algn="l">
              <a:lnSpc>
                <a:spcPct val="100000"/>
              </a:lnSpc>
              <a:spcBef>
                <a:spcPts val="0"/>
              </a:spcBef>
              <a:spcAft>
                <a:spcPts val="200"/>
              </a:spcAft>
            </a:pPr>
            <a:r>
              <a:rPr sz="1250" b="1">
                <a:solidFill>
                  <a:srgbClr val="FFFFFF"/>
                </a:solidFill>
                <a:latin typeface="Segoe UI Semibold"/>
              </a:rPr>
              <a:t>2 · Learn online</a:t>
            </a:r>
          </a:p>
          <a:p>
            <a:pPr algn="l">
              <a:lnSpc>
                <a:spcPct val="100000"/>
              </a:lnSpc>
              <a:spcBef>
                <a:spcPts val="0"/>
              </a:spcBef>
              <a:spcAft>
                <a:spcPts val="200"/>
              </a:spcAft>
            </a:pPr>
            <a:r>
              <a:rPr sz="930" b="0">
                <a:solidFill>
                  <a:srgbClr val="CFE0F0"/>
                </a:solidFill>
                <a:latin typeface="Segoe UI"/>
              </a:rPr>
              <a:t>refine on this patient's data</a:t>
            </a:r>
          </a:p>
        </p:txBody>
      </p:sp>
      <p:sp>
        <p:nvSpPr>
          <p:cNvPr id="35" name="Rounded Rectangle 34"/>
          <p:cNvSpPr/>
          <p:nvPr/>
        </p:nvSpPr>
        <p:spPr>
          <a:xfrm>
            <a:off x="9308592" y="4059935"/>
            <a:ext cx="2377440" cy="914400"/>
          </a:xfrm>
          <a:prstGeom prst="roundRect">
            <a:avLst>
              <a:gd name="adj" fmla="val 12000"/>
            </a:avLst>
          </a:prstGeom>
          <a:solidFill>
            <a:srgbClr val="795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235440" y="3977639"/>
            <a:ext cx="2377440" cy="914400"/>
          </a:xfrm>
          <a:prstGeom prst="roundRect">
            <a:avLst>
              <a:gd name="adj" fmla="val 12000"/>
            </a:avLst>
          </a:prstGeom>
          <a:gradFill>
            <a:gsLst>
              <a:gs pos="0">
                <a:srgbClr val="F4B146"/>
              </a:gs>
              <a:gs pos="100000">
                <a:srgbClr val="F2A01E"/>
              </a:gs>
            </a:gsLst>
            <a:lin ang="4200000" scaled="1"/>
          </a:gra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35440" y="3977639"/>
            <a:ext cx="2377440" cy="82296"/>
          </a:xfrm>
          <a:prstGeom prst="rect">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63456" y="4087368"/>
            <a:ext cx="2121408" cy="749808"/>
          </a:xfrm>
          <a:prstGeom prst="rect">
            <a:avLst/>
          </a:prstGeom>
          <a:noFill/>
        </p:spPr>
        <p:txBody>
          <a:bodyPr wrap="square" anchor="ctr" lIns="0" rIns="0" tIns="0" bIns="0">
            <a:spAutoFit/>
          </a:bodyPr>
          <a:lstStyle/>
          <a:p>
            <a:pPr algn="l">
              <a:lnSpc>
                <a:spcPct val="100000"/>
              </a:lnSpc>
              <a:spcBef>
                <a:spcPts val="0"/>
              </a:spcBef>
              <a:spcAft>
                <a:spcPts val="200"/>
              </a:spcAft>
            </a:pPr>
            <a:r>
              <a:rPr sz="1250" b="1">
                <a:solidFill>
                  <a:srgbClr val="332A06"/>
                </a:solidFill>
                <a:latin typeface="Segoe UI Semibold"/>
              </a:rPr>
              <a:t>3 · Accuracy check</a:t>
            </a:r>
          </a:p>
          <a:p>
            <a:pPr algn="l">
              <a:lnSpc>
                <a:spcPct val="100000"/>
              </a:lnSpc>
              <a:spcBef>
                <a:spcPts val="0"/>
              </a:spcBef>
              <a:spcAft>
                <a:spcPts val="200"/>
              </a:spcAft>
            </a:pPr>
            <a:r>
              <a:rPr sz="930" b="0">
                <a:solidFill>
                  <a:srgbClr val="5C6B7A"/>
                </a:solidFill>
                <a:latin typeface="Segoe UI"/>
              </a:rPr>
              <a:t>does it reach our target?</a:t>
            </a:r>
          </a:p>
        </p:txBody>
      </p:sp>
      <p:sp>
        <p:nvSpPr>
          <p:cNvPr id="39" name="Rounded Rectangle 38"/>
          <p:cNvSpPr/>
          <p:nvPr/>
        </p:nvSpPr>
        <p:spPr>
          <a:xfrm>
            <a:off x="6016752" y="4059935"/>
            <a:ext cx="2377440" cy="914400"/>
          </a:xfrm>
          <a:prstGeom prst="roundRect">
            <a:avLst>
              <a:gd name="adj" fmla="val 12000"/>
            </a:avLst>
          </a:prstGeom>
          <a:solidFill>
            <a:srgbClr val="452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943600" y="3977639"/>
            <a:ext cx="2377440" cy="914400"/>
          </a:xfrm>
          <a:prstGeom prst="roundRect">
            <a:avLst>
              <a:gd name="adj" fmla="val 12000"/>
            </a:avLst>
          </a:prstGeom>
          <a:gradFill>
            <a:gsLst>
              <a:gs pos="0">
                <a:srgbClr val="9F79DD"/>
              </a:gs>
              <a:gs pos="100000">
                <a:srgbClr val="8A5CD6"/>
              </a:gs>
            </a:gsLst>
            <a:lin ang="4200000" scaled="1"/>
          </a:gra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43600" y="3977639"/>
            <a:ext cx="2377440" cy="82296"/>
          </a:xfrm>
          <a:prstGeom prst="rect">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71616" y="4087368"/>
            <a:ext cx="2121408" cy="749808"/>
          </a:xfrm>
          <a:prstGeom prst="rect">
            <a:avLst/>
          </a:prstGeom>
          <a:noFill/>
        </p:spPr>
        <p:txBody>
          <a:bodyPr wrap="square" anchor="ctr" lIns="0" rIns="0" tIns="0" bIns="0">
            <a:spAutoFit/>
          </a:bodyPr>
          <a:lstStyle/>
          <a:p>
            <a:pPr algn="l">
              <a:lnSpc>
                <a:spcPct val="100000"/>
              </a:lnSpc>
              <a:spcBef>
                <a:spcPts val="0"/>
              </a:spcBef>
              <a:spcAft>
                <a:spcPts val="200"/>
              </a:spcAft>
            </a:pPr>
            <a:r>
              <a:rPr sz="1250" b="1">
                <a:solidFill>
                  <a:srgbClr val="FFFFFF"/>
                </a:solidFill>
                <a:latin typeface="Segoe UI Semibold"/>
              </a:rPr>
              <a:t>4 · Update weights</a:t>
            </a:r>
          </a:p>
          <a:p>
            <a:pPr algn="l">
              <a:lnSpc>
                <a:spcPct val="100000"/>
              </a:lnSpc>
              <a:spcBef>
                <a:spcPts val="0"/>
              </a:spcBef>
              <a:spcAft>
                <a:spcPts val="200"/>
              </a:spcAft>
            </a:pPr>
            <a:r>
              <a:rPr sz="930" b="0">
                <a:solidFill>
                  <a:srgbClr val="CFE0F0"/>
                </a:solidFill>
                <a:latin typeface="Segoe UI"/>
              </a:rPr>
              <a:t>push refined weights to Teensy</a:t>
            </a:r>
          </a:p>
        </p:txBody>
      </p:sp>
      <p:cxnSp>
        <p:nvCxnSpPr>
          <p:cNvPr id="43" name="Connector 42"/>
          <p:cNvCxnSpPr/>
          <p:nvPr/>
        </p:nvCxnSpPr>
        <p:spPr>
          <a:xfrm>
            <a:off x="8321040" y="2944368"/>
            <a:ext cx="914400" cy="0"/>
          </a:xfrm>
          <a:prstGeom prst="line">
            <a:avLst/>
          </a:prstGeom>
          <a:ln w="25400">
            <a:solidFill>
              <a:srgbClr val="2E6B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424160" y="3401568"/>
            <a:ext cx="0" cy="576071"/>
          </a:xfrm>
          <a:prstGeom prst="line">
            <a:avLst/>
          </a:prstGeom>
          <a:ln w="25400">
            <a:solidFill>
              <a:srgbClr val="2E6B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321040" y="4434840"/>
            <a:ext cx="914400" cy="0"/>
          </a:xfrm>
          <a:prstGeom prst="line">
            <a:avLst/>
          </a:prstGeom>
          <a:ln w="25400">
            <a:solidFill>
              <a:srgbClr val="2E6B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7132320" y="3401568"/>
            <a:ext cx="0" cy="576071"/>
          </a:xfrm>
          <a:prstGeom prst="line">
            <a:avLst/>
          </a:prstGeom>
          <a:ln w="25400">
            <a:solidFill>
              <a:srgbClr val="2E6BE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903720" y="3611880"/>
            <a:ext cx="3657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950" b="1" i="1">
                <a:solidFill>
                  <a:srgbClr val="F2A01E"/>
                </a:solidFill>
                <a:latin typeface="Segoe UI"/>
              </a:rPr>
              <a:t>once target accuracy is met</a:t>
            </a:r>
          </a:p>
        </p:txBody>
      </p:sp>
      <p:sp>
        <p:nvSpPr>
          <p:cNvPr id="48" name="Rounded Rectangle 47"/>
          <p:cNvSpPr/>
          <p:nvPr/>
        </p:nvSpPr>
        <p:spPr>
          <a:xfrm>
            <a:off x="502920" y="4983480"/>
            <a:ext cx="5029200" cy="1097280"/>
          </a:xfrm>
          <a:prstGeom prst="roundRect">
            <a:avLst>
              <a:gd name="adj" fmla="val 6000"/>
            </a:avLst>
          </a:prstGeom>
          <a:solidFill>
            <a:srgbClr val="0E1B2E"/>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5074920"/>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FFFFF"/>
                </a:solidFill>
                <a:latin typeface="Segoe UI Semibold"/>
              </a:rPr>
              <a:t>Why online, per-patient</a:t>
            </a:r>
          </a:p>
        </p:txBody>
      </p:sp>
      <p:sp>
        <p:nvSpPr>
          <p:cNvPr id="50" name="TextBox 49"/>
          <p:cNvSpPr txBox="1"/>
          <p:nvPr/>
        </p:nvSpPr>
        <p:spPr>
          <a:xfrm>
            <a:off x="731520" y="5358384"/>
            <a:ext cx="4572000" cy="685800"/>
          </a:xfrm>
          <a:prstGeom prst="rect">
            <a:avLst/>
          </a:prstGeom>
          <a:noFill/>
        </p:spPr>
        <p:txBody>
          <a:bodyPr wrap="square" anchor="t" lIns="0" rIns="0" tIns="0" bIns="0">
            <a:spAutoFit/>
          </a:bodyPr>
          <a:lstStyle/>
          <a:p>
            <a:pPr algn="l">
              <a:lnSpc>
                <a:spcPct val="110000"/>
              </a:lnSpc>
              <a:spcBef>
                <a:spcPts val="0"/>
              </a:spcBef>
              <a:spcAft>
                <a:spcPts val="400"/>
              </a:spcAft>
            </a:pPr>
            <a:r>
              <a:rPr sz="940" b="0">
                <a:solidFill>
                  <a:srgbClr val="CFE0F0"/>
                </a:solidFill>
                <a:latin typeface="Segoe UI"/>
              </a:rPr>
              <a:t>Anatomy and muscle activation differ per person and drift over time, so a fixed model degrades. Encoders supply ground truth continuously, letting the system keep improving itself.</a:t>
            </a:r>
          </a:p>
        </p:txBody>
      </p:sp>
      <p:sp>
        <p:nvSpPr>
          <p:cNvPr id="51" name="TextBox 50"/>
          <p:cNvSpPr txBox="1"/>
          <p:nvPr/>
        </p:nvSpPr>
        <p:spPr>
          <a:xfrm>
            <a:off x="502920" y="6437376"/>
            <a:ext cx="7315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0">
                <a:solidFill>
                  <a:srgbClr val="5C6B7A"/>
                </a:solidFill>
                <a:latin typeface="Segoe UI"/>
              </a:rPr>
              <a:t>JoTouch — Technical Brief · Sensing, Control &amp; AI</a:t>
            </a:r>
          </a:p>
        </p:txBody>
      </p:sp>
      <p:sp>
        <p:nvSpPr>
          <p:cNvPr id="52" name="TextBox 51"/>
          <p:cNvSpPr txBox="1"/>
          <p:nvPr/>
        </p:nvSpPr>
        <p:spPr>
          <a:xfrm>
            <a:off x="10241280" y="6437376"/>
            <a:ext cx="1463040" cy="274320"/>
          </a:xfrm>
          <a:prstGeom prst="rect">
            <a:avLst/>
          </a:prstGeom>
          <a:noFill/>
        </p:spPr>
        <p:txBody>
          <a:bodyPr wrap="square" anchor="ctr" lIns="0" rIns="0" tIns="0" bIns="0">
            <a:spAutoFit/>
          </a:bodyPr>
          <a:lstStyle/>
          <a:p>
            <a:pPr algn="r">
              <a:lnSpc>
                <a:spcPct val="100000"/>
              </a:lnSpc>
              <a:spcBef>
                <a:spcPts val="0"/>
              </a:spcBef>
              <a:spcAft>
                <a:spcPts val="400"/>
              </a:spcAft>
            </a:pPr>
            <a:r>
              <a:rPr sz="900" b="1">
                <a:solidFill>
                  <a:srgbClr val="5C6B7A"/>
                </a:solidFill>
                <a:latin typeface="Segoe UI Semibold"/>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Oval 1"/>
          <p:cNvSpPr/>
          <p:nvPr/>
        </p:nvSpPr>
        <p:spPr>
          <a:xfrm>
            <a:off x="502920" y="402336"/>
            <a:ext cx="274320" cy="274320"/>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058400" cy="310896"/>
          </a:xfrm>
          <a:prstGeom prst="rect">
            <a:avLst/>
          </a:prstGeom>
          <a:noFill/>
        </p:spPr>
        <p:txBody>
          <a:bodyPr wrap="square" anchor="ctr" lIns="0" rIns="0" tIns="0" bIns="0">
            <a:spAutoFit/>
          </a:bodyPr>
          <a:lstStyle/>
          <a:p>
            <a:pPr algn="l">
              <a:lnSpc>
                <a:spcPct val="100000"/>
              </a:lnSpc>
              <a:spcBef>
                <a:spcPts val="0"/>
              </a:spcBef>
              <a:spcAft>
                <a:spcPts val="400"/>
              </a:spcAft>
            </a:pPr>
            <a:r>
              <a:rPr sz="1250" b="1">
                <a:solidFill>
                  <a:srgbClr val="2E6BE6"/>
                </a:solidFill>
                <a:latin typeface="Segoe UI Semibold"/>
              </a:rPr>
              <a:t>04 · CODING THE TEENSY &amp; RASPBERRY PI</a:t>
            </a:r>
          </a:p>
        </p:txBody>
      </p:sp>
      <p:sp>
        <p:nvSpPr>
          <p:cNvPr id="4" name="TextBox 3"/>
          <p:cNvSpPr txBox="1"/>
          <p:nvPr/>
        </p:nvSpPr>
        <p:spPr>
          <a:xfrm>
            <a:off x="502920" y="713232"/>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2700" b="1">
                <a:solidFill>
                  <a:srgbClr val="1A2433"/>
                </a:solidFill>
                <a:latin typeface="Segoe UI Semibold"/>
              </a:rPr>
              <a:t>Two controllers, one real-time loop</a:t>
            </a:r>
          </a:p>
        </p:txBody>
      </p:sp>
      <p:sp>
        <p:nvSpPr>
          <p:cNvPr id="5" name="Rounded Rectangle 4"/>
          <p:cNvSpPr/>
          <p:nvPr/>
        </p:nvSpPr>
        <p:spPr>
          <a:xfrm>
            <a:off x="9784080" y="438912"/>
            <a:ext cx="1920240" cy="274320"/>
          </a:xfrm>
          <a:prstGeom prst="roundRect">
            <a:avLst>
              <a:gd name="adj" fmla="val 50000"/>
            </a:avLst>
          </a:prstGeom>
          <a:noFill/>
          <a:ln w="15240">
            <a:solidFill>
              <a:srgbClr val="2E6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93807" y="534924"/>
            <a:ext cx="91440" cy="91440"/>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438912"/>
            <a:ext cx="1600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1">
                <a:solidFill>
                  <a:srgbClr val="2E6BE6"/>
                </a:solidFill>
                <a:latin typeface="Segoe UI Semibold"/>
              </a:rPr>
              <a:t>IN PROGRESS</a:t>
            </a:r>
          </a:p>
        </p:txBody>
      </p:sp>
      <p:sp>
        <p:nvSpPr>
          <p:cNvPr id="8" name="Rounded Rectangle 7"/>
          <p:cNvSpPr/>
          <p:nvPr/>
        </p:nvSpPr>
        <p:spPr>
          <a:xfrm>
            <a:off x="502920" y="1554480"/>
            <a:ext cx="5486400" cy="2788920"/>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54480"/>
            <a:ext cx="5486400" cy="457200"/>
          </a:xfrm>
          <a:prstGeom prst="rect">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54480"/>
            <a:ext cx="51206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FFFFFF"/>
                </a:solidFill>
                <a:latin typeface="Segoe UI Semibold"/>
              </a:rPr>
              <a:t>Teensy 4.1   </a:t>
            </a:r>
            <a:r>
              <a:rPr sz="1050" b="0">
                <a:solidFill>
                  <a:srgbClr val="CFE0F0"/>
                </a:solidFill>
                <a:latin typeface="Segoe UI"/>
              </a:rPr>
              <a:t>real-time control (C++)</a:t>
            </a:r>
          </a:p>
        </p:txBody>
      </p:sp>
      <p:sp>
        <p:nvSpPr>
          <p:cNvPr id="11" name="Oval 10"/>
          <p:cNvSpPr/>
          <p:nvPr/>
        </p:nvSpPr>
        <p:spPr>
          <a:xfrm>
            <a:off x="713232" y="2267712"/>
            <a:ext cx="128016" cy="128016"/>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185416"/>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Reads the sensors</a:t>
            </a:r>
          </a:p>
        </p:txBody>
      </p:sp>
      <p:sp>
        <p:nvSpPr>
          <p:cNvPr id="13" name="TextBox 12"/>
          <p:cNvSpPr txBox="1"/>
          <p:nvPr/>
        </p:nvSpPr>
        <p:spPr>
          <a:xfrm>
            <a:off x="932688" y="2441448"/>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captures the muscle signal</a:t>
            </a:r>
          </a:p>
        </p:txBody>
      </p:sp>
      <p:sp>
        <p:nvSpPr>
          <p:cNvPr id="14" name="Oval 13"/>
          <p:cNvSpPr/>
          <p:nvPr/>
        </p:nvSpPr>
        <p:spPr>
          <a:xfrm>
            <a:off x="713232" y="2788920"/>
            <a:ext cx="128016" cy="128016"/>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706624"/>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Runs the on-board mapping</a:t>
            </a:r>
          </a:p>
        </p:txBody>
      </p:sp>
      <p:sp>
        <p:nvSpPr>
          <p:cNvPr id="16" name="TextBox 15"/>
          <p:cNvSpPr txBox="1"/>
          <p:nvPr/>
        </p:nvSpPr>
        <p:spPr>
          <a:xfrm>
            <a:off x="932688" y="2962656"/>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base weights from our data, updated per patient</a:t>
            </a:r>
          </a:p>
        </p:txBody>
      </p:sp>
      <p:sp>
        <p:nvSpPr>
          <p:cNvPr id="17" name="Oval 16"/>
          <p:cNvSpPr/>
          <p:nvPr/>
        </p:nvSpPr>
        <p:spPr>
          <a:xfrm>
            <a:off x="713232" y="3310127"/>
            <a:ext cx="128016" cy="128016"/>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227832"/>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Drives the motors</a:t>
            </a:r>
          </a:p>
        </p:txBody>
      </p:sp>
      <p:sp>
        <p:nvSpPr>
          <p:cNvPr id="19" name="TextBox 18"/>
          <p:cNvSpPr txBox="1"/>
          <p:nvPr/>
        </p:nvSpPr>
        <p:spPr>
          <a:xfrm>
            <a:off x="932688" y="3483863"/>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moves the joints smoothly + proportional</a:t>
            </a:r>
          </a:p>
        </p:txBody>
      </p:sp>
      <p:sp>
        <p:nvSpPr>
          <p:cNvPr id="20" name="Oval 19"/>
          <p:cNvSpPr/>
          <p:nvPr/>
        </p:nvSpPr>
        <p:spPr>
          <a:xfrm>
            <a:off x="713232" y="3831335"/>
            <a:ext cx="128016" cy="128016"/>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3749039"/>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Reads the encoders</a:t>
            </a:r>
          </a:p>
        </p:txBody>
      </p:sp>
      <p:sp>
        <p:nvSpPr>
          <p:cNvPr id="22" name="TextBox 21"/>
          <p:cNvSpPr txBox="1"/>
          <p:nvPr/>
        </p:nvSpPr>
        <p:spPr>
          <a:xfrm>
            <a:off x="932688" y="4005072"/>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feeds back true motion for control &amp; training</a:t>
            </a:r>
          </a:p>
        </p:txBody>
      </p:sp>
      <p:sp>
        <p:nvSpPr>
          <p:cNvPr id="23" name="Rounded Rectangle 22"/>
          <p:cNvSpPr/>
          <p:nvPr/>
        </p:nvSpPr>
        <p:spPr>
          <a:xfrm>
            <a:off x="6217920" y="1554480"/>
            <a:ext cx="5486400" cy="2788920"/>
          </a:xfrm>
          <a:prstGeom prst="roundRect">
            <a:avLst>
              <a:gd name="adj" fmla="val 6000"/>
            </a:avLst>
          </a:prstGeom>
          <a:solidFill>
            <a:srgbClr val="FFFFFF"/>
          </a:solidFill>
          <a:ln w="12700">
            <a:solidFill>
              <a:srgbClr val="E6ECF2"/>
            </a:solid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1554480"/>
            <a:ext cx="5486400" cy="4572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1554480"/>
            <a:ext cx="51206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FFFFFF"/>
                </a:solidFill>
                <a:latin typeface="Segoe UI Semibold"/>
              </a:rPr>
              <a:t>Raspberry Pi   </a:t>
            </a:r>
            <a:r>
              <a:rPr sz="1050" b="0">
                <a:solidFill>
                  <a:srgbClr val="CFE0F0"/>
                </a:solidFill>
                <a:latin typeface="Segoe UI"/>
              </a:rPr>
              <a:t>AI prediction (Python)</a:t>
            </a:r>
          </a:p>
        </p:txBody>
      </p:sp>
      <p:sp>
        <p:nvSpPr>
          <p:cNvPr id="26" name="Oval 25"/>
          <p:cNvSpPr/>
          <p:nvPr/>
        </p:nvSpPr>
        <p:spPr>
          <a:xfrm>
            <a:off x="6428232" y="2267712"/>
            <a:ext cx="128016" cy="128016"/>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47688" y="2185416"/>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Runs the AI model</a:t>
            </a:r>
          </a:p>
        </p:txBody>
      </p:sp>
      <p:sp>
        <p:nvSpPr>
          <p:cNvPr id="28" name="TextBox 27"/>
          <p:cNvSpPr txBox="1"/>
          <p:nvPr/>
        </p:nvSpPr>
        <p:spPr>
          <a:xfrm>
            <a:off x="6647688" y="2441448"/>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classifies gesture + regresses joint angles</a:t>
            </a:r>
          </a:p>
        </p:txBody>
      </p:sp>
      <p:sp>
        <p:nvSpPr>
          <p:cNvPr id="29" name="Oval 28"/>
          <p:cNvSpPr/>
          <p:nvPr/>
        </p:nvSpPr>
        <p:spPr>
          <a:xfrm>
            <a:off x="6428232" y="2788920"/>
            <a:ext cx="128016" cy="128016"/>
          </a:xfrm>
          <a:prstGeom prst="ellipse">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47688" y="2706624"/>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Sends commands when confident</a:t>
            </a:r>
          </a:p>
        </p:txBody>
      </p:sp>
      <p:sp>
        <p:nvSpPr>
          <p:cNvPr id="31" name="TextBox 30"/>
          <p:cNvSpPr txBox="1"/>
          <p:nvPr/>
        </p:nvSpPr>
        <p:spPr>
          <a:xfrm>
            <a:off x="6647688" y="2962656"/>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acts only above the confidence target</a:t>
            </a:r>
          </a:p>
        </p:txBody>
      </p:sp>
      <p:sp>
        <p:nvSpPr>
          <p:cNvPr id="32" name="Oval 31"/>
          <p:cNvSpPr/>
          <p:nvPr/>
        </p:nvSpPr>
        <p:spPr>
          <a:xfrm>
            <a:off x="6428232" y="3310127"/>
            <a:ext cx="128016" cy="128016"/>
          </a:xfrm>
          <a:prstGeom prst="ellipse">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47688" y="3227832"/>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Handles online training</a:t>
            </a:r>
          </a:p>
        </p:txBody>
      </p:sp>
      <p:sp>
        <p:nvSpPr>
          <p:cNvPr id="34" name="TextBox 33"/>
          <p:cNvSpPr txBox="1"/>
          <p:nvPr/>
        </p:nvSpPr>
        <p:spPr>
          <a:xfrm>
            <a:off x="6647688" y="3483863"/>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updates each patient's weights</a:t>
            </a:r>
          </a:p>
        </p:txBody>
      </p:sp>
      <p:sp>
        <p:nvSpPr>
          <p:cNvPr id="35" name="Oval 34"/>
          <p:cNvSpPr/>
          <p:nvPr/>
        </p:nvSpPr>
        <p:spPr>
          <a:xfrm>
            <a:off x="6428232" y="3831335"/>
            <a:ext cx="128016" cy="128016"/>
          </a:xfrm>
          <a:prstGeom prst="ellipse">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47688" y="3749039"/>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30" b="1">
                <a:solidFill>
                  <a:srgbClr val="1A2433"/>
                </a:solidFill>
                <a:latin typeface="Segoe UI Semibold"/>
              </a:rPr>
              <a:t>Coordinates the two units</a:t>
            </a:r>
          </a:p>
        </p:txBody>
      </p:sp>
      <p:sp>
        <p:nvSpPr>
          <p:cNvPr id="37" name="TextBox 36"/>
          <p:cNvSpPr txBox="1"/>
          <p:nvPr/>
        </p:nvSpPr>
        <p:spPr>
          <a:xfrm>
            <a:off x="6647688" y="4005072"/>
            <a:ext cx="4937760" cy="274320"/>
          </a:xfrm>
          <a:prstGeom prst="rect">
            <a:avLst/>
          </a:prstGeom>
          <a:noFill/>
        </p:spPr>
        <p:txBody>
          <a:bodyPr wrap="square" anchor="t" lIns="0" rIns="0" tIns="0" bIns="0">
            <a:spAutoFit/>
          </a:bodyPr>
          <a:lstStyle/>
          <a:p>
            <a:pPr algn="l">
              <a:lnSpc>
                <a:spcPct val="100000"/>
              </a:lnSpc>
              <a:spcBef>
                <a:spcPts val="0"/>
              </a:spcBef>
              <a:spcAft>
                <a:spcPts val="400"/>
              </a:spcAft>
            </a:pPr>
            <a:r>
              <a:rPr sz="940" b="0">
                <a:solidFill>
                  <a:srgbClr val="5C6B7A"/>
                </a:solidFill>
                <a:latin typeface="Segoe UI"/>
              </a:rPr>
              <a:t>high-level brain to the Teensy's spine</a:t>
            </a:r>
          </a:p>
        </p:txBody>
      </p:sp>
      <p:sp>
        <p:nvSpPr>
          <p:cNvPr id="38" name="Rounded Rectangle 37"/>
          <p:cNvSpPr/>
          <p:nvPr/>
        </p:nvSpPr>
        <p:spPr>
          <a:xfrm>
            <a:off x="502920" y="4526280"/>
            <a:ext cx="11201400" cy="1554480"/>
          </a:xfrm>
          <a:prstGeom prst="roundRect">
            <a:avLst>
              <a:gd name="adj" fmla="val 6000"/>
            </a:avLst>
          </a:prstGeom>
          <a:solidFill>
            <a:srgbClr val="0E1B2E"/>
          </a:soli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636008"/>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FFFFFF"/>
                </a:solidFill>
                <a:latin typeface="Segoe UI Semibold"/>
              </a:rPr>
              <a:t>How they talk to each other</a:t>
            </a:r>
          </a:p>
        </p:txBody>
      </p:sp>
      <p:sp>
        <p:nvSpPr>
          <p:cNvPr id="40" name="Rounded Rectangle 39"/>
          <p:cNvSpPr/>
          <p:nvPr/>
        </p:nvSpPr>
        <p:spPr>
          <a:xfrm>
            <a:off x="941832" y="5111496"/>
            <a:ext cx="2926080" cy="777240"/>
          </a:xfrm>
          <a:prstGeom prst="roundRect">
            <a:avLst>
              <a:gd name="adj" fmla="val 12000"/>
            </a:avLst>
          </a:prstGeom>
          <a:solidFill>
            <a:srgbClr val="05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68680" y="5029200"/>
            <a:ext cx="2926080" cy="777240"/>
          </a:xfrm>
          <a:prstGeom prst="roundRect">
            <a:avLst>
              <a:gd name="adj" fmla="val 12000"/>
            </a:avLst>
          </a:prstGeom>
          <a:gradFill>
            <a:gsLst>
              <a:gs pos="0">
                <a:srgbClr val="369F96"/>
              </a:gs>
              <a:gs pos="100000">
                <a:srgbClr val="0B8A80"/>
              </a:gs>
            </a:gsLst>
            <a:lin ang="4200000" scaled="1"/>
          </a:gra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695" y="5138928"/>
            <a:ext cx="2670048" cy="612647"/>
          </a:xfrm>
          <a:prstGeom prst="rect">
            <a:avLst/>
          </a:prstGeom>
          <a:noFill/>
        </p:spPr>
        <p:txBody>
          <a:bodyPr wrap="square" anchor="ctr" lIns="0" rIns="0" tIns="0" bIns="0">
            <a:spAutoFit/>
          </a:bodyPr>
          <a:lstStyle/>
          <a:p>
            <a:pPr algn="l">
              <a:lnSpc>
                <a:spcPct val="100000"/>
              </a:lnSpc>
              <a:spcBef>
                <a:spcPts val="0"/>
              </a:spcBef>
              <a:spcAft>
                <a:spcPts val="200"/>
              </a:spcAft>
            </a:pPr>
            <a:r>
              <a:rPr sz="1250" b="1">
                <a:solidFill>
                  <a:srgbClr val="FFFFFF"/>
                </a:solidFill>
                <a:latin typeface="Segoe UI Semibold"/>
              </a:rPr>
              <a:t>Teensy</a:t>
            </a:r>
          </a:p>
          <a:p>
            <a:pPr algn="l">
              <a:lnSpc>
                <a:spcPct val="100000"/>
              </a:lnSpc>
              <a:spcBef>
                <a:spcPts val="0"/>
              </a:spcBef>
              <a:spcAft>
                <a:spcPts val="200"/>
              </a:spcAft>
            </a:pPr>
            <a:r>
              <a:rPr sz="930" b="0">
                <a:solidFill>
                  <a:srgbClr val="CFE0F0"/>
                </a:solidFill>
                <a:latin typeface="Segoe UI"/>
              </a:rPr>
              <a:t>sensor + encoder stream  →</a:t>
            </a:r>
          </a:p>
        </p:txBody>
      </p:sp>
      <p:sp>
        <p:nvSpPr>
          <p:cNvPr id="43" name="Rounded Rectangle 42"/>
          <p:cNvSpPr/>
          <p:nvPr/>
        </p:nvSpPr>
        <p:spPr>
          <a:xfrm>
            <a:off x="4645152" y="5111496"/>
            <a:ext cx="3017520" cy="777240"/>
          </a:xfrm>
          <a:prstGeom prst="roundRect">
            <a:avLst>
              <a:gd name="adj" fmla="val 12000"/>
            </a:avLst>
          </a:prstGeom>
          <a:solidFill>
            <a:srgbClr val="173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572000" y="5029200"/>
            <a:ext cx="3017520" cy="777240"/>
          </a:xfrm>
          <a:prstGeom prst="roundRect">
            <a:avLst>
              <a:gd name="adj" fmla="val 12000"/>
            </a:avLst>
          </a:prstGeom>
          <a:gradFill>
            <a:gsLst>
              <a:gs pos="0">
                <a:srgbClr val="5385EA"/>
              </a:gs>
              <a:gs pos="100000">
                <a:srgbClr val="2E6BE6"/>
              </a:gs>
            </a:gsLst>
            <a:lin ang="4200000" scaled="1"/>
          </a:gra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00016" y="5138928"/>
            <a:ext cx="2761487" cy="612647"/>
          </a:xfrm>
          <a:prstGeom prst="rect">
            <a:avLst/>
          </a:prstGeom>
          <a:noFill/>
        </p:spPr>
        <p:txBody>
          <a:bodyPr wrap="square" anchor="ctr" lIns="0" rIns="0" tIns="0" bIns="0">
            <a:spAutoFit/>
          </a:bodyPr>
          <a:lstStyle/>
          <a:p>
            <a:pPr algn="l">
              <a:lnSpc>
                <a:spcPct val="100000"/>
              </a:lnSpc>
              <a:spcBef>
                <a:spcPts val="0"/>
              </a:spcBef>
              <a:spcAft>
                <a:spcPts val="200"/>
              </a:spcAft>
            </a:pPr>
            <a:r>
              <a:rPr sz="1250" b="1">
                <a:solidFill>
                  <a:srgbClr val="FFFFFF"/>
                </a:solidFill>
                <a:latin typeface="Segoe UI Semibold"/>
              </a:rPr>
              <a:t>Raspberry Pi</a:t>
            </a:r>
          </a:p>
          <a:p>
            <a:pPr algn="l">
              <a:lnSpc>
                <a:spcPct val="100000"/>
              </a:lnSpc>
              <a:spcBef>
                <a:spcPts val="0"/>
              </a:spcBef>
              <a:spcAft>
                <a:spcPts val="200"/>
              </a:spcAft>
            </a:pPr>
            <a:r>
              <a:rPr sz="930" b="0">
                <a:solidFill>
                  <a:srgbClr val="CFE0F0"/>
                </a:solidFill>
                <a:latin typeface="Segoe UI"/>
              </a:rPr>
              <a:t>predicts intent</a:t>
            </a:r>
          </a:p>
        </p:txBody>
      </p:sp>
      <p:sp>
        <p:nvSpPr>
          <p:cNvPr id="46" name="Rounded Rectangle 45"/>
          <p:cNvSpPr/>
          <p:nvPr/>
        </p:nvSpPr>
        <p:spPr>
          <a:xfrm>
            <a:off x="8394192" y="5111496"/>
            <a:ext cx="3108960" cy="777240"/>
          </a:xfrm>
          <a:prstGeom prst="roundRect">
            <a:avLst>
              <a:gd name="adj" fmla="val 12000"/>
            </a:avLst>
          </a:prstGeom>
          <a:solidFill>
            <a:srgbClr val="05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321040" y="5029200"/>
            <a:ext cx="3108960" cy="777240"/>
          </a:xfrm>
          <a:prstGeom prst="roundRect">
            <a:avLst>
              <a:gd name="adj" fmla="val 12000"/>
            </a:avLst>
          </a:prstGeom>
          <a:gradFill>
            <a:gsLst>
              <a:gs pos="0">
                <a:srgbClr val="369F96"/>
              </a:gs>
              <a:gs pos="100000">
                <a:srgbClr val="0B8A80"/>
              </a:gs>
            </a:gsLst>
            <a:lin ang="4200000" scaled="1"/>
          </a:gradFill>
          <a:ln>
            <a:noFill/>
          </a:ln>
          <a:effectLst/>
          <a:effectLst>
            <a:outerShdw blurRad="80000" dist="30000" dir="5400000" rotWithShape="0">
              <a:srgbClr val="0E1B2E">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49056" y="5138928"/>
            <a:ext cx="2852928" cy="612647"/>
          </a:xfrm>
          <a:prstGeom prst="rect">
            <a:avLst/>
          </a:prstGeom>
          <a:noFill/>
        </p:spPr>
        <p:txBody>
          <a:bodyPr wrap="square" anchor="ctr" lIns="0" rIns="0" tIns="0" bIns="0">
            <a:spAutoFit/>
          </a:bodyPr>
          <a:lstStyle/>
          <a:p>
            <a:pPr algn="l">
              <a:lnSpc>
                <a:spcPct val="100000"/>
              </a:lnSpc>
              <a:spcBef>
                <a:spcPts val="0"/>
              </a:spcBef>
              <a:spcAft>
                <a:spcPts val="200"/>
              </a:spcAft>
            </a:pPr>
            <a:r>
              <a:rPr sz="1250" b="1">
                <a:solidFill>
                  <a:srgbClr val="FFFFFF"/>
                </a:solidFill>
                <a:latin typeface="Segoe UI Semibold"/>
              </a:rPr>
              <a:t>Teensy</a:t>
            </a:r>
          </a:p>
          <a:p>
            <a:pPr algn="l">
              <a:lnSpc>
                <a:spcPct val="100000"/>
              </a:lnSpc>
              <a:spcBef>
                <a:spcPts val="0"/>
              </a:spcBef>
              <a:spcAft>
                <a:spcPts val="200"/>
              </a:spcAft>
            </a:pPr>
            <a:r>
              <a:rPr sz="930" b="0">
                <a:solidFill>
                  <a:srgbClr val="CFE0F0"/>
                </a:solidFill>
                <a:latin typeface="Segoe UI"/>
              </a:rPr>
              <a:t>← target motion commands</a:t>
            </a:r>
          </a:p>
        </p:txBody>
      </p:sp>
      <p:cxnSp>
        <p:nvCxnSpPr>
          <p:cNvPr id="49" name="Connector 48"/>
          <p:cNvCxnSpPr/>
          <p:nvPr/>
        </p:nvCxnSpPr>
        <p:spPr>
          <a:xfrm>
            <a:off x="3794760" y="5413248"/>
            <a:ext cx="777240" cy="0"/>
          </a:xfrm>
          <a:prstGeom prst="line">
            <a:avLst/>
          </a:prstGeom>
          <a:ln w="27940">
            <a:solidFill>
              <a:srgbClr val="12B5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589520" y="5413248"/>
            <a:ext cx="731520" cy="0"/>
          </a:xfrm>
          <a:prstGeom prst="line">
            <a:avLst/>
          </a:prstGeom>
          <a:ln w="27940">
            <a:solidFill>
              <a:srgbClr val="F2A01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31520" y="5897880"/>
            <a:ext cx="109728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12B5A8"/>
                </a:solidFill>
                <a:latin typeface="Segoe UI Semibold"/>
              </a:rPr>
              <a:t>Goal: </a:t>
            </a:r>
            <a:r>
              <a:rPr sz="960" b="0">
                <a:solidFill>
                  <a:srgbClr val="CFE0F0"/>
                </a:solidFill>
                <a:latin typeface="Segoe UI"/>
              </a:rPr>
              <a:t>smooth, real-time response end-to-end · commands sent only when the model is confident.</a:t>
            </a:r>
          </a:p>
        </p:txBody>
      </p:sp>
      <p:sp>
        <p:nvSpPr>
          <p:cNvPr id="52" name="Oval 51"/>
          <p:cNvSpPr/>
          <p:nvPr/>
        </p:nvSpPr>
        <p:spPr>
          <a:xfrm>
            <a:off x="8869680" y="6355080"/>
            <a:ext cx="137160" cy="137160"/>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70848" y="6291072"/>
            <a:ext cx="2926080" cy="274320"/>
          </a:xfrm>
          <a:prstGeom prst="rect">
            <a:avLst/>
          </a:prstGeom>
          <a:noFill/>
        </p:spPr>
        <p:txBody>
          <a:bodyPr wrap="square" anchor="ctr" lIns="0" rIns="0" tIns="0" bIns="0">
            <a:spAutoFit/>
          </a:bodyPr>
          <a:lstStyle/>
          <a:p>
            <a:pPr algn="l">
              <a:lnSpc>
                <a:spcPct val="100000"/>
              </a:lnSpc>
              <a:spcBef>
                <a:spcPts val="0"/>
              </a:spcBef>
              <a:spcAft>
                <a:spcPts val="400"/>
              </a:spcAft>
            </a:pPr>
            <a:r>
              <a:rPr sz="1000" b="0">
                <a:solidFill>
                  <a:srgbClr val="1A2433"/>
                </a:solidFill>
                <a:latin typeface="Segoe UI"/>
              </a:rPr>
              <a:t>coded</a:t>
            </a:r>
          </a:p>
        </p:txBody>
      </p:sp>
      <p:sp>
        <p:nvSpPr>
          <p:cNvPr id="54" name="Oval 53"/>
          <p:cNvSpPr/>
          <p:nvPr/>
        </p:nvSpPr>
        <p:spPr>
          <a:xfrm>
            <a:off x="10241280" y="6355080"/>
            <a:ext cx="137160" cy="137160"/>
          </a:xfrm>
          <a:prstGeom prst="ellipse">
            <a:avLst/>
          </a:prstGeom>
          <a:solidFill>
            <a:srgbClr val="7C89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442448" y="6291072"/>
            <a:ext cx="2926080" cy="274320"/>
          </a:xfrm>
          <a:prstGeom prst="rect">
            <a:avLst/>
          </a:prstGeom>
          <a:noFill/>
        </p:spPr>
        <p:txBody>
          <a:bodyPr wrap="square" anchor="ctr" lIns="0" rIns="0" tIns="0" bIns="0">
            <a:spAutoFit/>
          </a:bodyPr>
          <a:lstStyle/>
          <a:p>
            <a:pPr algn="l">
              <a:lnSpc>
                <a:spcPct val="100000"/>
              </a:lnSpc>
              <a:spcBef>
                <a:spcPts val="0"/>
              </a:spcBef>
              <a:spcAft>
                <a:spcPts val="400"/>
              </a:spcAft>
            </a:pPr>
            <a:r>
              <a:rPr sz="1000" b="0">
                <a:solidFill>
                  <a:srgbClr val="1A2433"/>
                </a:solidFill>
                <a:latin typeface="Segoe UI"/>
              </a:rPr>
              <a:t>to wire up</a:t>
            </a:r>
          </a:p>
        </p:txBody>
      </p:sp>
      <p:sp>
        <p:nvSpPr>
          <p:cNvPr id="56" name="TextBox 55"/>
          <p:cNvSpPr txBox="1"/>
          <p:nvPr/>
        </p:nvSpPr>
        <p:spPr>
          <a:xfrm>
            <a:off x="502920" y="6437376"/>
            <a:ext cx="7315200" cy="274320"/>
          </a:xfrm>
          <a:prstGeom prst="rect">
            <a:avLst/>
          </a:prstGeom>
          <a:noFill/>
        </p:spPr>
        <p:txBody>
          <a:bodyPr wrap="square" anchor="ctr" lIns="0" rIns="0" tIns="0" bIns="0">
            <a:spAutoFit/>
          </a:bodyPr>
          <a:lstStyle/>
          <a:p>
            <a:pPr algn="l">
              <a:lnSpc>
                <a:spcPct val="100000"/>
              </a:lnSpc>
              <a:spcBef>
                <a:spcPts val="0"/>
              </a:spcBef>
              <a:spcAft>
                <a:spcPts val="400"/>
              </a:spcAft>
            </a:pPr>
            <a:r>
              <a:rPr sz="900" b="0">
                <a:solidFill>
                  <a:srgbClr val="5C6B7A"/>
                </a:solidFill>
                <a:latin typeface="Segoe UI"/>
              </a:rPr>
              <a:t>JoTouch — Technical Brief · Sensing, Control &amp; AI</a:t>
            </a:r>
          </a:p>
        </p:txBody>
      </p:sp>
      <p:sp>
        <p:nvSpPr>
          <p:cNvPr id="57" name="TextBox 56"/>
          <p:cNvSpPr txBox="1"/>
          <p:nvPr/>
        </p:nvSpPr>
        <p:spPr>
          <a:xfrm>
            <a:off x="10241280" y="6437376"/>
            <a:ext cx="1463040" cy="274320"/>
          </a:xfrm>
          <a:prstGeom prst="rect">
            <a:avLst/>
          </a:prstGeom>
          <a:noFill/>
        </p:spPr>
        <p:txBody>
          <a:bodyPr wrap="square" anchor="ctr" lIns="0" rIns="0" tIns="0" bIns="0">
            <a:spAutoFit/>
          </a:bodyPr>
          <a:lstStyle/>
          <a:p>
            <a:pPr algn="r">
              <a:lnSpc>
                <a:spcPct val="100000"/>
              </a:lnSpc>
              <a:spcBef>
                <a:spcPts val="0"/>
              </a:spcBef>
              <a:spcAft>
                <a:spcPts val="400"/>
              </a:spcAft>
            </a:pPr>
            <a:r>
              <a:rPr sz="900" b="1">
                <a:solidFill>
                  <a:srgbClr val="5C6B7A"/>
                </a:solidFill>
                <a:latin typeface="Segoe UI Semibold"/>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Oval 1"/>
          <p:cNvSpPr/>
          <p:nvPr/>
        </p:nvSpPr>
        <p:spPr>
          <a:xfrm>
            <a:off x="502920" y="402336"/>
            <a:ext cx="274320" cy="274320"/>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384048"/>
            <a:ext cx="10058400" cy="310896"/>
          </a:xfrm>
          <a:prstGeom prst="rect">
            <a:avLst/>
          </a:prstGeom>
          <a:noFill/>
        </p:spPr>
        <p:txBody>
          <a:bodyPr wrap="square" lIns="0" rIns="0" tIns="0" bIns="0" anchor="ctr">
            <a:spAutoFit/>
          </a:bodyPr>
          <a:lstStyle/>
          <a:p>
            <a:pPr algn="l">
              <a:lnSpc>
                <a:spcPct val="100000"/>
              </a:lnSpc>
              <a:spcAft>
                <a:spcPts val="400"/>
              </a:spcAft>
            </a:pPr>
            <a:r>
              <a:rPr sz="1250" b="1">
                <a:solidFill>
                  <a:srgbClr val="2E6BE6"/>
                </a:solidFill>
                <a:latin typeface="Segoe UI Semibold"/>
              </a:rPr>
              <a:t>05 · TRAINING DATA &amp; RESULTS</a:t>
            </a:r>
          </a:p>
        </p:txBody>
      </p:sp>
      <p:sp>
        <p:nvSpPr>
          <p:cNvPr id="4" name="TextBox 3"/>
          <p:cNvSpPr txBox="1"/>
          <p:nvPr/>
        </p:nvSpPr>
        <p:spPr>
          <a:xfrm>
            <a:off x="502920" y="713232"/>
            <a:ext cx="10058400" cy="548640"/>
          </a:xfrm>
          <a:prstGeom prst="rect">
            <a:avLst/>
          </a:prstGeom>
          <a:noFill/>
        </p:spPr>
        <p:txBody>
          <a:bodyPr wrap="square" lIns="0" rIns="0" tIns="0" bIns="0" anchor="t">
            <a:spAutoFit/>
          </a:bodyPr>
          <a:lstStyle/>
          <a:p>
            <a:pPr algn="l">
              <a:lnSpc>
                <a:spcPct val="100000"/>
              </a:lnSpc>
              <a:spcAft>
                <a:spcPts val="400"/>
              </a:spcAft>
            </a:pPr>
            <a:r>
              <a:rPr sz="2700" b="1">
                <a:solidFill>
                  <a:srgbClr val="1A2433"/>
                </a:solidFill>
                <a:latin typeface="Segoe UI Semibold"/>
              </a:rPr>
              <a:t>Trained and tested on open-source FMG datasets</a:t>
            </a:r>
          </a:p>
        </p:txBody>
      </p:sp>
      <p:sp>
        <p:nvSpPr>
          <p:cNvPr id="5" name="Rounded Rectangle 4"/>
          <p:cNvSpPr/>
          <p:nvPr/>
        </p:nvSpPr>
        <p:spPr>
          <a:xfrm>
            <a:off x="9784080" y="438912"/>
            <a:ext cx="1920240" cy="274320"/>
          </a:xfrm>
          <a:prstGeom prst="roundRect">
            <a:avLst>
              <a:gd name="adj" fmla="val 50000"/>
            </a:avLst>
          </a:prstGeom>
          <a:noFill/>
          <a:ln w="15240">
            <a:solidFill>
              <a:srgbClr val="0B8A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9893808" y="534924"/>
            <a:ext cx="91440" cy="91440"/>
          </a:xfrm>
          <a:prstGeom prst="ellipse">
            <a:avLst/>
          </a:prstGeom>
          <a:solidFill>
            <a:srgbClr val="0B8A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0" y="438912"/>
            <a:ext cx="1600200" cy="274320"/>
          </a:xfrm>
          <a:prstGeom prst="rect">
            <a:avLst/>
          </a:prstGeom>
          <a:noFill/>
        </p:spPr>
        <p:txBody>
          <a:bodyPr wrap="square" lIns="0" rIns="0" tIns="0" bIns="0" anchor="ctr">
            <a:spAutoFit/>
          </a:bodyPr>
          <a:lstStyle/>
          <a:p>
            <a:pPr algn="l">
              <a:lnSpc>
                <a:spcPct val="100000"/>
              </a:lnSpc>
              <a:spcAft>
                <a:spcPts val="400"/>
              </a:spcAft>
            </a:pPr>
            <a:r>
              <a:rPr sz="900" b="1">
                <a:solidFill>
                  <a:srgbClr val="0B8A80"/>
                </a:solidFill>
                <a:latin typeface="Segoe UI Semibold"/>
              </a:rPr>
              <a:t>OPEN DATA</a:t>
            </a:r>
          </a:p>
        </p:txBody>
      </p:sp>
      <p:sp>
        <p:nvSpPr>
          <p:cNvPr id="8" name="Rounded Rectangle 7"/>
          <p:cNvSpPr/>
          <p:nvPr/>
        </p:nvSpPr>
        <p:spPr>
          <a:xfrm>
            <a:off x="502920" y="1188720"/>
            <a:ext cx="11201400" cy="512064"/>
          </a:xfrm>
          <a:prstGeom prst="roundRect">
            <a:avLst>
              <a:gd name="adj" fmla="val 18000"/>
            </a:avLst>
          </a:prstGeom>
          <a:solidFill>
            <a:srgbClr val="E6F7F5"/>
          </a:solidFill>
          <a:ln w="12700">
            <a:solidFill>
              <a:srgbClr val="12B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188720"/>
            <a:ext cx="10972800" cy="512064"/>
          </a:xfrm>
          <a:prstGeom prst="rect">
            <a:avLst/>
          </a:prstGeom>
          <a:noFill/>
        </p:spPr>
        <p:txBody>
          <a:bodyPr wrap="square" lIns="0" rIns="0" tIns="0" bIns="0" anchor="ctr">
            <a:spAutoFit/>
          </a:bodyPr>
          <a:lstStyle/>
          <a:p>
            <a:pPr algn="l">
              <a:lnSpc>
                <a:spcPct val="100000"/>
              </a:lnSpc>
              <a:spcAft>
                <a:spcPts val="400"/>
              </a:spcAft>
            </a:pPr>
            <a:r>
              <a:rPr sz="1150" b="1">
                <a:solidFill>
                  <a:srgbClr val="0B8A80"/>
                </a:solidFill>
                <a:latin typeface="Segoe UI Semibold"/>
              </a:rPr>
              <a:t>To be precise:  </a:t>
            </a:r>
            <a:r>
              <a:rPr sz="1100" b="0">
                <a:solidFill>
                  <a:srgbClr val="1A2433"/>
                </a:solidFill>
                <a:latin typeface="Segoe UI"/>
              </a:rPr>
              <a:t>we have not run our own human trials yet. JoTouchModel was trained end-to-end on </a:t>
            </a:r>
            <a:r>
              <a:rPr sz="1100" b="1">
                <a:solidFill>
                  <a:srgbClr val="2E6BE6"/>
                </a:solidFill>
                <a:latin typeface="Segoe UI Semibold"/>
              </a:rPr>
              <a:t>three published open-source FMG datasets</a:t>
            </a:r>
            <a:r>
              <a:rPr sz="1100" b="0">
                <a:solidFill>
                  <a:srgbClr val="1A2433"/>
                </a:solidFill>
                <a:latin typeface="Segoe UI"/>
              </a:rPr>
              <a:t>  —  </a:t>
            </a:r>
            <a:r>
              <a:rPr sz="1100" b="1">
                <a:solidFill>
                  <a:srgbClr val="0B8A80"/>
                </a:solidFill>
                <a:latin typeface="Segoe UI Semibold"/>
              </a:rPr>
              <a:t>37,500 windows</a:t>
            </a:r>
            <a:r>
              <a:rPr sz="1100" b="0">
                <a:solidFill>
                  <a:srgbClr val="1A2433"/>
                </a:solidFill>
                <a:latin typeface="Segoe UI"/>
              </a:rPr>
              <a:t> — and scored on a 15% test set it never saw while training.</a:t>
            </a:r>
          </a:p>
        </p:txBody>
      </p:sp>
      <p:sp>
        <p:nvSpPr>
          <p:cNvPr id="10" name="TextBox 9"/>
          <p:cNvSpPr txBox="1"/>
          <p:nvPr/>
        </p:nvSpPr>
        <p:spPr>
          <a:xfrm>
            <a:off x="502920" y="1920240"/>
            <a:ext cx="5120640" cy="274320"/>
          </a:xfrm>
          <a:prstGeom prst="rect">
            <a:avLst/>
          </a:prstGeom>
          <a:noFill/>
        </p:spPr>
        <p:txBody>
          <a:bodyPr wrap="square" lIns="0" rIns="0" tIns="0" bIns="0" anchor="t">
            <a:spAutoFit/>
          </a:bodyPr>
          <a:lstStyle/>
          <a:p>
            <a:pPr algn="l">
              <a:lnSpc>
                <a:spcPct val="100000"/>
              </a:lnSpc>
              <a:spcAft>
                <a:spcPts val="400"/>
              </a:spcAft>
            </a:pPr>
            <a:r>
              <a:rPr sz="1250" b="1">
                <a:solidFill>
                  <a:srgbClr val="1A2433"/>
                </a:solidFill>
                <a:latin typeface="Segoe UI Semibold"/>
              </a:rPr>
              <a:t>The three datasets</a:t>
            </a:r>
          </a:p>
        </p:txBody>
      </p:sp>
      <p:sp>
        <p:nvSpPr>
          <p:cNvPr id="11" name="Rounded Rectangle 10"/>
          <p:cNvSpPr/>
          <p:nvPr/>
        </p:nvSpPr>
        <p:spPr>
          <a:xfrm>
            <a:off x="502920" y="2249424"/>
            <a:ext cx="5120640" cy="932688"/>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02920" y="2359152"/>
            <a:ext cx="73152" cy="7132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350008"/>
            <a:ext cx="4709159" cy="256032"/>
          </a:xfrm>
          <a:prstGeom prst="rect">
            <a:avLst/>
          </a:prstGeom>
          <a:noFill/>
        </p:spPr>
        <p:txBody>
          <a:bodyPr wrap="square" lIns="0" rIns="0" tIns="0" bIns="0" anchor="t">
            <a:spAutoFit/>
          </a:bodyPr>
          <a:lstStyle/>
          <a:p>
            <a:pPr algn="l">
              <a:lnSpc>
                <a:spcPct val="100000"/>
              </a:lnSpc>
              <a:spcAft>
                <a:spcPts val="400"/>
              </a:spcAft>
            </a:pPr>
            <a:r>
              <a:rPr sz="1120" b="1">
                <a:solidFill>
                  <a:srgbClr val="1A2433"/>
                </a:solidFill>
                <a:latin typeface="Segoe UI Semibold"/>
              </a:rPr>
              <a:t>Zenodo MDPI FMG  ·  17 subjects</a:t>
            </a:r>
          </a:p>
        </p:txBody>
      </p:sp>
      <p:sp>
        <p:nvSpPr>
          <p:cNvPr id="14" name="TextBox 13"/>
          <p:cNvSpPr txBox="1"/>
          <p:nvPr/>
        </p:nvSpPr>
        <p:spPr>
          <a:xfrm>
            <a:off x="731520" y="2615184"/>
            <a:ext cx="4709159" cy="475488"/>
          </a:xfrm>
          <a:prstGeom prst="rect">
            <a:avLst/>
          </a:prstGeom>
          <a:noFill/>
        </p:spPr>
        <p:txBody>
          <a:bodyPr wrap="square" lIns="0" rIns="0" tIns="0" bIns="0" anchor="t">
            <a:spAutoFit/>
          </a:bodyPr>
          <a:lstStyle/>
          <a:p>
            <a:pPr algn="l">
              <a:lnSpc>
                <a:spcPct val="105000"/>
              </a:lnSpc>
              <a:spcAft>
                <a:spcPts val="400"/>
              </a:spcAft>
            </a:pPr>
            <a:r>
              <a:rPr sz="930" b="0">
                <a:solidFill>
                  <a:srgbClr val="5C6B7A"/>
                </a:solidFill>
                <a:latin typeface="Segoe UI"/>
              </a:rPr>
              <a:t>Zakia &amp; Menon, MDPI Data 2022  ·  5 stage motions
12,500 windows  ·  8 channels × 20 steps (200 ms)</a:t>
            </a:r>
          </a:p>
        </p:txBody>
      </p:sp>
      <p:sp>
        <p:nvSpPr>
          <p:cNvPr id="15" name="Rounded Rectangle 14"/>
          <p:cNvSpPr/>
          <p:nvPr/>
        </p:nvSpPr>
        <p:spPr>
          <a:xfrm>
            <a:off x="502920" y="3291840"/>
            <a:ext cx="5120640" cy="932688"/>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02920" y="3401568"/>
            <a:ext cx="73152" cy="713232"/>
          </a:xfrm>
          <a:prstGeom prst="rect">
            <a:avLst/>
          </a:prstGeom>
          <a:solidFill>
            <a:srgbClr val="12B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392424"/>
            <a:ext cx="4709159" cy="256032"/>
          </a:xfrm>
          <a:prstGeom prst="rect">
            <a:avLst/>
          </a:prstGeom>
          <a:noFill/>
        </p:spPr>
        <p:txBody>
          <a:bodyPr wrap="square" lIns="0" rIns="0" tIns="0" bIns="0" anchor="t">
            <a:spAutoFit/>
          </a:bodyPr>
          <a:lstStyle/>
          <a:p>
            <a:pPr algn="l">
              <a:lnSpc>
                <a:spcPct val="100000"/>
              </a:lnSpc>
              <a:spcAft>
                <a:spcPts val="400"/>
              </a:spcAft>
            </a:pPr>
            <a:r>
              <a:rPr sz="1120" b="1">
                <a:solidFill>
                  <a:srgbClr val="1A2433"/>
                </a:solidFill>
                <a:latin typeface="Segoe UI Semibold"/>
              </a:rPr>
              <a:t>Exoskelebox FMG benchmark  ·  20 subjects</a:t>
            </a:r>
          </a:p>
        </p:txBody>
      </p:sp>
      <p:sp>
        <p:nvSpPr>
          <p:cNvPr id="18" name="TextBox 17"/>
          <p:cNvSpPr txBox="1"/>
          <p:nvPr/>
        </p:nvSpPr>
        <p:spPr>
          <a:xfrm>
            <a:off x="731520" y="3657600"/>
            <a:ext cx="4709159" cy="475488"/>
          </a:xfrm>
          <a:prstGeom prst="rect">
            <a:avLst/>
          </a:prstGeom>
          <a:noFill/>
        </p:spPr>
        <p:txBody>
          <a:bodyPr wrap="square" lIns="0" rIns="0" tIns="0" bIns="0" anchor="t">
            <a:spAutoFit/>
          </a:bodyPr>
          <a:lstStyle/>
          <a:p>
            <a:pPr algn="l">
              <a:lnSpc>
                <a:spcPct val="105000"/>
              </a:lnSpc>
              <a:spcAft>
                <a:spcPts val="400"/>
              </a:spcAft>
            </a:pPr>
            <a:r>
              <a:rPr sz="930" b="0">
                <a:solidFill>
                  <a:srgbClr val="5C6B7A"/>
                </a:solidFill>
                <a:latin typeface="Segoe UI"/>
              </a:rPr>
              <a:t>arXiv:2007.14918  ·  6 gestures × 3 wrist orientations
15,000 windows  ·  8 forearm FSR @ ~100 Hz</a:t>
            </a:r>
          </a:p>
        </p:txBody>
      </p:sp>
      <p:sp>
        <p:nvSpPr>
          <p:cNvPr id="19" name="Rounded Rectangle 18"/>
          <p:cNvSpPr/>
          <p:nvPr/>
        </p:nvSpPr>
        <p:spPr>
          <a:xfrm>
            <a:off x="502920" y="4334256"/>
            <a:ext cx="5120640" cy="932688"/>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02920" y="4443984"/>
            <a:ext cx="73152" cy="713232"/>
          </a:xfrm>
          <a:prstGeom prst="rect">
            <a:avLst/>
          </a:prstGeom>
          <a:solidFill>
            <a:srgbClr val="8A5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434840"/>
            <a:ext cx="4709159" cy="256032"/>
          </a:xfrm>
          <a:prstGeom prst="rect">
            <a:avLst/>
          </a:prstGeom>
          <a:noFill/>
        </p:spPr>
        <p:txBody>
          <a:bodyPr wrap="square" lIns="0" rIns="0" tIns="0" bIns="0" anchor="t">
            <a:spAutoFit/>
          </a:bodyPr>
          <a:lstStyle/>
          <a:p>
            <a:pPr algn="l">
              <a:lnSpc>
                <a:spcPct val="100000"/>
              </a:lnSpc>
              <a:spcAft>
                <a:spcPts val="400"/>
              </a:spcAft>
            </a:pPr>
            <a:r>
              <a:rPr sz="1120" b="1">
                <a:solidFill>
                  <a:srgbClr val="1A2433"/>
                </a:solidFill>
                <a:latin typeface="Segoe UI Semibold"/>
              </a:rPr>
              <a:t>PLoS ONE 2025 FMG  ·  27 participants</a:t>
            </a:r>
          </a:p>
        </p:txBody>
      </p:sp>
      <p:sp>
        <p:nvSpPr>
          <p:cNvPr id="22" name="TextBox 21"/>
          <p:cNvSpPr txBox="1"/>
          <p:nvPr/>
        </p:nvSpPr>
        <p:spPr>
          <a:xfrm>
            <a:off x="731520" y="4700016"/>
            <a:ext cx="4709159" cy="475488"/>
          </a:xfrm>
          <a:prstGeom prst="rect">
            <a:avLst/>
          </a:prstGeom>
          <a:noFill/>
        </p:spPr>
        <p:txBody>
          <a:bodyPr wrap="square" lIns="0" rIns="0" tIns="0" bIns="0" anchor="t">
            <a:spAutoFit/>
          </a:bodyPr>
          <a:lstStyle/>
          <a:p>
            <a:pPr algn="l">
              <a:lnSpc>
                <a:spcPct val="105000"/>
              </a:lnSpc>
              <a:spcAft>
                <a:spcPts val="400"/>
              </a:spcAft>
            </a:pPr>
            <a:r>
              <a:rPr sz="930" b="0">
                <a:solidFill>
                  <a:srgbClr val="5C6B7A"/>
                </a:solidFill>
                <a:latin typeface="Segoe UI"/>
              </a:rPr>
              <a:t>Young et al., e0321319  ·  4 grasps × 5 load levels
10,000 windows  ·  8 channels @ 100 Hz</a:t>
            </a:r>
          </a:p>
        </p:txBody>
      </p:sp>
      <p:sp>
        <p:nvSpPr>
          <p:cNvPr id="23" name="TextBox 22"/>
          <p:cNvSpPr txBox="1"/>
          <p:nvPr/>
        </p:nvSpPr>
        <p:spPr>
          <a:xfrm>
            <a:off x="5943600" y="1920240"/>
            <a:ext cx="5760720" cy="274320"/>
          </a:xfrm>
          <a:prstGeom prst="rect">
            <a:avLst/>
          </a:prstGeom>
          <a:noFill/>
        </p:spPr>
        <p:txBody>
          <a:bodyPr wrap="square" lIns="0" rIns="0" tIns="0" bIns="0" anchor="t">
            <a:spAutoFit/>
          </a:bodyPr>
          <a:lstStyle/>
          <a:p>
            <a:pPr algn="l">
              <a:lnSpc>
                <a:spcPct val="100000"/>
              </a:lnSpc>
              <a:spcAft>
                <a:spcPts val="400"/>
              </a:spcAft>
            </a:pPr>
            <a:r>
              <a:rPr sz="1250" b="1">
                <a:solidFill>
                  <a:srgbClr val="1A2433"/>
                </a:solidFill>
                <a:latin typeface="Segoe UI Semibold"/>
              </a:rPr>
              <a:t>Accuracy on the untouched test set</a:t>
            </a:r>
          </a:p>
        </p:txBody>
      </p:sp>
      <p:sp>
        <p:nvSpPr>
          <p:cNvPr id="24" name="Rectangle 23"/>
          <p:cNvSpPr/>
          <p:nvPr/>
        </p:nvSpPr>
        <p:spPr>
          <a:xfrm>
            <a:off x="5943600" y="2249424"/>
            <a:ext cx="5760720" cy="310896"/>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126480" y="2249424"/>
            <a:ext cx="2331720" cy="310896"/>
          </a:xfrm>
          <a:prstGeom prst="rect">
            <a:avLst/>
          </a:prstGeom>
          <a:noFill/>
        </p:spPr>
        <p:txBody>
          <a:bodyPr wrap="square" lIns="0" rIns="0" tIns="0" bIns="0" anchor="ctr">
            <a:spAutoFit/>
          </a:bodyPr>
          <a:lstStyle/>
          <a:p>
            <a:pPr algn="l">
              <a:lnSpc>
                <a:spcPct val="100000"/>
              </a:lnSpc>
              <a:spcAft>
                <a:spcPts val="400"/>
              </a:spcAft>
            </a:pPr>
            <a:r>
              <a:rPr sz="900" b="1">
                <a:solidFill>
                  <a:srgbClr val="CFE0F0"/>
                </a:solidFill>
                <a:latin typeface="Segoe UI Semibold"/>
              </a:rPr>
              <a:t>Dataset</a:t>
            </a:r>
          </a:p>
        </p:txBody>
      </p:sp>
      <p:sp>
        <p:nvSpPr>
          <p:cNvPr id="26" name="TextBox 25"/>
          <p:cNvSpPr txBox="1"/>
          <p:nvPr/>
        </p:nvSpPr>
        <p:spPr>
          <a:xfrm>
            <a:off x="8641080" y="2249424"/>
            <a:ext cx="1325880" cy="310896"/>
          </a:xfrm>
          <a:prstGeom prst="rect">
            <a:avLst/>
          </a:prstGeom>
          <a:noFill/>
        </p:spPr>
        <p:txBody>
          <a:bodyPr wrap="square" lIns="0" rIns="0" tIns="0" bIns="0" anchor="ctr">
            <a:spAutoFit/>
          </a:bodyPr>
          <a:lstStyle/>
          <a:p>
            <a:pPr algn="r">
              <a:lnSpc>
                <a:spcPct val="100000"/>
              </a:lnSpc>
              <a:spcAft>
                <a:spcPts val="400"/>
              </a:spcAft>
            </a:pPr>
            <a:r>
              <a:rPr sz="900" b="1">
                <a:solidFill>
                  <a:srgbClr val="CFE0F0"/>
                </a:solidFill>
                <a:latin typeface="Segoe UI Semibold"/>
              </a:rPr>
              <a:t>Test accuracy</a:t>
            </a:r>
          </a:p>
        </p:txBody>
      </p:sp>
      <p:sp>
        <p:nvSpPr>
          <p:cNvPr id="27" name="TextBox 26"/>
          <p:cNvSpPr txBox="1"/>
          <p:nvPr/>
        </p:nvSpPr>
        <p:spPr>
          <a:xfrm>
            <a:off x="10058400" y="2249424"/>
            <a:ext cx="960120" cy="310896"/>
          </a:xfrm>
          <a:prstGeom prst="rect">
            <a:avLst/>
          </a:prstGeom>
          <a:noFill/>
        </p:spPr>
        <p:txBody>
          <a:bodyPr wrap="square" lIns="0" rIns="0" tIns="0" bIns="0" anchor="ctr">
            <a:spAutoFit/>
          </a:bodyPr>
          <a:lstStyle/>
          <a:p>
            <a:pPr algn="r">
              <a:lnSpc>
                <a:spcPct val="100000"/>
              </a:lnSpc>
              <a:spcAft>
                <a:spcPts val="400"/>
              </a:spcAft>
            </a:pPr>
            <a:r>
              <a:rPr sz="900" b="1">
                <a:solidFill>
                  <a:srgbClr val="CFE0F0"/>
                </a:solidFill>
                <a:latin typeface="Segoe UI Semibold"/>
              </a:rPr>
              <a:t>Latency</a:t>
            </a:r>
          </a:p>
        </p:txBody>
      </p:sp>
      <p:sp>
        <p:nvSpPr>
          <p:cNvPr id="28" name="TextBox 27"/>
          <p:cNvSpPr txBox="1"/>
          <p:nvPr/>
        </p:nvSpPr>
        <p:spPr>
          <a:xfrm>
            <a:off x="11109960" y="2249424"/>
            <a:ext cx="457200" cy="310896"/>
          </a:xfrm>
          <a:prstGeom prst="rect">
            <a:avLst/>
          </a:prstGeom>
          <a:noFill/>
        </p:spPr>
        <p:txBody>
          <a:bodyPr wrap="square" lIns="0" rIns="0" tIns="0" bIns="0" anchor="ctr">
            <a:spAutoFit/>
          </a:bodyPr>
          <a:lstStyle/>
          <a:p>
            <a:pPr algn="r">
              <a:lnSpc>
                <a:spcPct val="100000"/>
              </a:lnSpc>
              <a:spcAft>
                <a:spcPts val="400"/>
              </a:spcAft>
            </a:pPr>
            <a:r>
              <a:rPr sz="900" b="1">
                <a:solidFill>
                  <a:srgbClr val="CFE0F0"/>
                </a:solidFill>
                <a:latin typeface="Segoe UI Semibold"/>
              </a:rPr>
              <a:t>Epochs</a:t>
            </a:r>
          </a:p>
        </p:txBody>
      </p:sp>
      <p:sp>
        <p:nvSpPr>
          <p:cNvPr id="29" name="Rounded Rectangle 28"/>
          <p:cNvSpPr/>
          <p:nvPr/>
        </p:nvSpPr>
        <p:spPr>
          <a:xfrm>
            <a:off x="5943600" y="2596896"/>
            <a:ext cx="5760720" cy="438912"/>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126480" y="2596896"/>
            <a:ext cx="2331720" cy="438912"/>
          </a:xfrm>
          <a:prstGeom prst="rect">
            <a:avLst/>
          </a:prstGeom>
          <a:noFill/>
        </p:spPr>
        <p:txBody>
          <a:bodyPr wrap="square" lIns="0" rIns="0" tIns="0" bIns="0" anchor="ctr">
            <a:spAutoFit/>
          </a:bodyPr>
          <a:lstStyle/>
          <a:p>
            <a:pPr algn="l">
              <a:lnSpc>
                <a:spcPct val="100000"/>
              </a:lnSpc>
              <a:spcAft>
                <a:spcPts val="400"/>
              </a:spcAft>
            </a:pPr>
            <a:r>
              <a:rPr sz="1019" b="1">
                <a:solidFill>
                  <a:srgbClr val="1A2433"/>
                </a:solidFill>
                <a:latin typeface="Segoe UI Semibold"/>
              </a:rPr>
              <a:t>Zenodo  (5 motions)</a:t>
            </a:r>
          </a:p>
        </p:txBody>
      </p:sp>
      <p:sp>
        <p:nvSpPr>
          <p:cNvPr id="31" name="TextBox 30"/>
          <p:cNvSpPr txBox="1"/>
          <p:nvPr/>
        </p:nvSpPr>
        <p:spPr>
          <a:xfrm>
            <a:off x="8641080" y="2596896"/>
            <a:ext cx="1325880" cy="438912"/>
          </a:xfrm>
          <a:prstGeom prst="rect">
            <a:avLst/>
          </a:prstGeom>
          <a:noFill/>
        </p:spPr>
        <p:txBody>
          <a:bodyPr wrap="square" lIns="0" rIns="0" tIns="0" bIns="0" anchor="ctr">
            <a:spAutoFit/>
          </a:bodyPr>
          <a:lstStyle/>
          <a:p>
            <a:pPr algn="r">
              <a:lnSpc>
                <a:spcPct val="100000"/>
              </a:lnSpc>
              <a:spcAft>
                <a:spcPts val="400"/>
              </a:spcAft>
            </a:pPr>
            <a:r>
              <a:rPr sz="1300" b="1">
                <a:solidFill>
                  <a:srgbClr val="0B8A80"/>
                </a:solidFill>
                <a:latin typeface="Segoe UI Semibold"/>
              </a:rPr>
              <a:t>86.78%</a:t>
            </a:r>
          </a:p>
        </p:txBody>
      </p:sp>
      <p:sp>
        <p:nvSpPr>
          <p:cNvPr id="32" name="TextBox 31"/>
          <p:cNvSpPr txBox="1"/>
          <p:nvPr/>
        </p:nvSpPr>
        <p:spPr>
          <a:xfrm>
            <a:off x="10058400" y="2596896"/>
            <a:ext cx="960120" cy="438912"/>
          </a:xfrm>
          <a:prstGeom prst="rect">
            <a:avLst/>
          </a:prstGeom>
          <a:noFill/>
        </p:spPr>
        <p:txBody>
          <a:bodyPr wrap="square" lIns="0" rIns="0" tIns="0" bIns="0" anchor="ctr">
            <a:spAutoFit/>
          </a:bodyPr>
          <a:lstStyle/>
          <a:p>
            <a:pPr algn="r">
              <a:lnSpc>
                <a:spcPct val="100000"/>
              </a:lnSpc>
              <a:spcAft>
                <a:spcPts val="400"/>
              </a:spcAft>
            </a:pPr>
            <a:r>
              <a:rPr sz="980" b="0">
                <a:solidFill>
                  <a:srgbClr val="5C6B7A"/>
                </a:solidFill>
                <a:latin typeface="Segoe UI"/>
              </a:rPr>
              <a:t>3.57 ms</a:t>
            </a:r>
          </a:p>
        </p:txBody>
      </p:sp>
      <p:sp>
        <p:nvSpPr>
          <p:cNvPr id="33" name="TextBox 32"/>
          <p:cNvSpPr txBox="1"/>
          <p:nvPr/>
        </p:nvSpPr>
        <p:spPr>
          <a:xfrm>
            <a:off x="11109960" y="2596896"/>
            <a:ext cx="457200" cy="438912"/>
          </a:xfrm>
          <a:prstGeom prst="rect">
            <a:avLst/>
          </a:prstGeom>
          <a:noFill/>
        </p:spPr>
        <p:txBody>
          <a:bodyPr wrap="square" lIns="0" rIns="0" tIns="0" bIns="0" anchor="ctr">
            <a:spAutoFit/>
          </a:bodyPr>
          <a:lstStyle/>
          <a:p>
            <a:pPr algn="r">
              <a:lnSpc>
                <a:spcPct val="100000"/>
              </a:lnSpc>
              <a:spcAft>
                <a:spcPts val="400"/>
              </a:spcAft>
            </a:pPr>
            <a:r>
              <a:rPr sz="980" b="0">
                <a:solidFill>
                  <a:srgbClr val="5C6B7A"/>
                </a:solidFill>
                <a:latin typeface="Segoe UI"/>
              </a:rPr>
              <a:t>13</a:t>
            </a:r>
          </a:p>
        </p:txBody>
      </p:sp>
      <p:sp>
        <p:nvSpPr>
          <p:cNvPr id="34" name="Rounded Rectangle 33"/>
          <p:cNvSpPr/>
          <p:nvPr/>
        </p:nvSpPr>
        <p:spPr>
          <a:xfrm>
            <a:off x="5943600" y="3090672"/>
            <a:ext cx="5760720" cy="438912"/>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126480" y="3090672"/>
            <a:ext cx="2331720" cy="438912"/>
          </a:xfrm>
          <a:prstGeom prst="rect">
            <a:avLst/>
          </a:prstGeom>
          <a:noFill/>
        </p:spPr>
        <p:txBody>
          <a:bodyPr wrap="square" lIns="0" rIns="0" tIns="0" bIns="0" anchor="ctr">
            <a:spAutoFit/>
          </a:bodyPr>
          <a:lstStyle/>
          <a:p>
            <a:pPr algn="l">
              <a:lnSpc>
                <a:spcPct val="100000"/>
              </a:lnSpc>
              <a:spcAft>
                <a:spcPts val="400"/>
              </a:spcAft>
            </a:pPr>
            <a:r>
              <a:rPr sz="1019" b="1">
                <a:solidFill>
                  <a:srgbClr val="1A2433"/>
                </a:solidFill>
                <a:latin typeface="Segoe UI Semibold"/>
              </a:rPr>
              <a:t>Exoskelebox  (6 gestures)</a:t>
            </a:r>
          </a:p>
        </p:txBody>
      </p:sp>
      <p:sp>
        <p:nvSpPr>
          <p:cNvPr id="36" name="TextBox 35"/>
          <p:cNvSpPr txBox="1"/>
          <p:nvPr/>
        </p:nvSpPr>
        <p:spPr>
          <a:xfrm>
            <a:off x="8641080" y="3090672"/>
            <a:ext cx="1325880" cy="438912"/>
          </a:xfrm>
          <a:prstGeom prst="rect">
            <a:avLst/>
          </a:prstGeom>
          <a:noFill/>
        </p:spPr>
        <p:txBody>
          <a:bodyPr wrap="square" lIns="0" rIns="0" tIns="0" bIns="0" anchor="ctr">
            <a:spAutoFit/>
          </a:bodyPr>
          <a:lstStyle/>
          <a:p>
            <a:pPr algn="r">
              <a:lnSpc>
                <a:spcPct val="100000"/>
              </a:lnSpc>
              <a:spcAft>
                <a:spcPts val="400"/>
              </a:spcAft>
            </a:pPr>
            <a:r>
              <a:rPr sz="1300" b="1">
                <a:solidFill>
                  <a:srgbClr val="0B8A80"/>
                </a:solidFill>
                <a:latin typeface="Segoe UI Semibold"/>
              </a:rPr>
              <a:t>70.92%</a:t>
            </a:r>
          </a:p>
        </p:txBody>
      </p:sp>
      <p:sp>
        <p:nvSpPr>
          <p:cNvPr id="37" name="TextBox 36"/>
          <p:cNvSpPr txBox="1"/>
          <p:nvPr/>
        </p:nvSpPr>
        <p:spPr>
          <a:xfrm>
            <a:off x="10058400" y="3090672"/>
            <a:ext cx="960120" cy="438912"/>
          </a:xfrm>
          <a:prstGeom prst="rect">
            <a:avLst/>
          </a:prstGeom>
          <a:noFill/>
        </p:spPr>
        <p:txBody>
          <a:bodyPr wrap="square" lIns="0" rIns="0" tIns="0" bIns="0" anchor="ctr">
            <a:spAutoFit/>
          </a:bodyPr>
          <a:lstStyle/>
          <a:p>
            <a:pPr algn="r">
              <a:lnSpc>
                <a:spcPct val="100000"/>
              </a:lnSpc>
              <a:spcAft>
                <a:spcPts val="400"/>
              </a:spcAft>
            </a:pPr>
            <a:r>
              <a:rPr sz="980" b="0">
                <a:solidFill>
                  <a:srgbClr val="5C6B7A"/>
                </a:solidFill>
                <a:latin typeface="Segoe UI"/>
              </a:rPr>
              <a:t>3.07 ms</a:t>
            </a:r>
          </a:p>
        </p:txBody>
      </p:sp>
      <p:sp>
        <p:nvSpPr>
          <p:cNvPr id="38" name="TextBox 37"/>
          <p:cNvSpPr txBox="1"/>
          <p:nvPr/>
        </p:nvSpPr>
        <p:spPr>
          <a:xfrm>
            <a:off x="11109960" y="3090672"/>
            <a:ext cx="457200" cy="438912"/>
          </a:xfrm>
          <a:prstGeom prst="rect">
            <a:avLst/>
          </a:prstGeom>
          <a:noFill/>
        </p:spPr>
        <p:txBody>
          <a:bodyPr wrap="square" lIns="0" rIns="0" tIns="0" bIns="0" anchor="ctr">
            <a:spAutoFit/>
          </a:bodyPr>
          <a:lstStyle/>
          <a:p>
            <a:pPr algn="r">
              <a:lnSpc>
                <a:spcPct val="100000"/>
              </a:lnSpc>
              <a:spcAft>
                <a:spcPts val="400"/>
              </a:spcAft>
            </a:pPr>
            <a:r>
              <a:rPr sz="980" b="0">
                <a:solidFill>
                  <a:srgbClr val="5C6B7A"/>
                </a:solidFill>
                <a:latin typeface="Segoe UI"/>
              </a:rPr>
              <a:t>40</a:t>
            </a:r>
          </a:p>
        </p:txBody>
      </p:sp>
      <p:sp>
        <p:nvSpPr>
          <p:cNvPr id="39" name="Rounded Rectangle 38"/>
          <p:cNvSpPr/>
          <p:nvPr/>
        </p:nvSpPr>
        <p:spPr>
          <a:xfrm>
            <a:off x="5943600" y="3584448"/>
            <a:ext cx="5760720" cy="438912"/>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126480" y="3584448"/>
            <a:ext cx="2331720" cy="438912"/>
          </a:xfrm>
          <a:prstGeom prst="rect">
            <a:avLst/>
          </a:prstGeom>
          <a:noFill/>
        </p:spPr>
        <p:txBody>
          <a:bodyPr wrap="square" lIns="0" rIns="0" tIns="0" bIns="0" anchor="ctr">
            <a:spAutoFit/>
          </a:bodyPr>
          <a:lstStyle/>
          <a:p>
            <a:pPr algn="l">
              <a:lnSpc>
                <a:spcPct val="100000"/>
              </a:lnSpc>
              <a:spcAft>
                <a:spcPts val="400"/>
              </a:spcAft>
            </a:pPr>
            <a:r>
              <a:rPr sz="1019" b="1">
                <a:solidFill>
                  <a:srgbClr val="1A2433"/>
                </a:solidFill>
                <a:latin typeface="Segoe UI Semibold"/>
              </a:rPr>
              <a:t>PLoS ONE  (4 grasps)</a:t>
            </a:r>
          </a:p>
        </p:txBody>
      </p:sp>
      <p:sp>
        <p:nvSpPr>
          <p:cNvPr id="41" name="TextBox 40"/>
          <p:cNvSpPr txBox="1"/>
          <p:nvPr/>
        </p:nvSpPr>
        <p:spPr>
          <a:xfrm>
            <a:off x="8641080" y="3584448"/>
            <a:ext cx="1325880" cy="438912"/>
          </a:xfrm>
          <a:prstGeom prst="rect">
            <a:avLst/>
          </a:prstGeom>
          <a:noFill/>
        </p:spPr>
        <p:txBody>
          <a:bodyPr wrap="square" lIns="0" rIns="0" tIns="0" bIns="0" anchor="ctr">
            <a:spAutoFit/>
          </a:bodyPr>
          <a:lstStyle/>
          <a:p>
            <a:pPr algn="r">
              <a:lnSpc>
                <a:spcPct val="100000"/>
              </a:lnSpc>
              <a:spcAft>
                <a:spcPts val="400"/>
              </a:spcAft>
            </a:pPr>
            <a:r>
              <a:rPr sz="1300" b="1">
                <a:solidFill>
                  <a:srgbClr val="E09612"/>
                </a:solidFill>
                <a:latin typeface="Segoe UI Semibold"/>
              </a:rPr>
              <a:t>42.61%</a:t>
            </a:r>
          </a:p>
        </p:txBody>
      </p:sp>
      <p:sp>
        <p:nvSpPr>
          <p:cNvPr id="42" name="TextBox 41"/>
          <p:cNvSpPr txBox="1"/>
          <p:nvPr/>
        </p:nvSpPr>
        <p:spPr>
          <a:xfrm>
            <a:off x="10058400" y="3584448"/>
            <a:ext cx="960120" cy="438912"/>
          </a:xfrm>
          <a:prstGeom prst="rect">
            <a:avLst/>
          </a:prstGeom>
          <a:noFill/>
        </p:spPr>
        <p:txBody>
          <a:bodyPr wrap="square" lIns="0" rIns="0" tIns="0" bIns="0" anchor="ctr">
            <a:spAutoFit/>
          </a:bodyPr>
          <a:lstStyle/>
          <a:p>
            <a:pPr algn="r">
              <a:lnSpc>
                <a:spcPct val="100000"/>
              </a:lnSpc>
              <a:spcAft>
                <a:spcPts val="400"/>
              </a:spcAft>
            </a:pPr>
            <a:r>
              <a:rPr sz="980" b="0">
                <a:solidFill>
                  <a:srgbClr val="5C6B7A"/>
                </a:solidFill>
                <a:latin typeface="Segoe UI"/>
              </a:rPr>
              <a:t>2.06 ms</a:t>
            </a:r>
          </a:p>
        </p:txBody>
      </p:sp>
      <p:sp>
        <p:nvSpPr>
          <p:cNvPr id="43" name="TextBox 42"/>
          <p:cNvSpPr txBox="1"/>
          <p:nvPr/>
        </p:nvSpPr>
        <p:spPr>
          <a:xfrm>
            <a:off x="11109960" y="3584448"/>
            <a:ext cx="457200" cy="438912"/>
          </a:xfrm>
          <a:prstGeom prst="rect">
            <a:avLst/>
          </a:prstGeom>
          <a:noFill/>
        </p:spPr>
        <p:txBody>
          <a:bodyPr wrap="square" lIns="0" rIns="0" tIns="0" bIns="0" anchor="ctr">
            <a:spAutoFit/>
          </a:bodyPr>
          <a:lstStyle/>
          <a:p>
            <a:pPr algn="r">
              <a:lnSpc>
                <a:spcPct val="100000"/>
              </a:lnSpc>
              <a:spcAft>
                <a:spcPts val="400"/>
              </a:spcAft>
            </a:pPr>
            <a:r>
              <a:rPr sz="980" b="0">
                <a:solidFill>
                  <a:srgbClr val="5C6B7A"/>
                </a:solidFill>
                <a:latin typeface="Segoe UI"/>
              </a:rPr>
              <a:t>12</a:t>
            </a:r>
          </a:p>
        </p:txBody>
      </p:sp>
      <p:sp>
        <p:nvSpPr>
          <p:cNvPr id="44" name="Rounded Rectangle 43"/>
          <p:cNvSpPr/>
          <p:nvPr/>
        </p:nvSpPr>
        <p:spPr>
          <a:xfrm>
            <a:off x="5943600" y="4151376"/>
            <a:ext cx="5760720" cy="1115568"/>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5943600" y="4261104"/>
            <a:ext cx="73152" cy="896112"/>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172200" y="4251960"/>
            <a:ext cx="5349240" cy="256032"/>
          </a:xfrm>
          <a:prstGeom prst="rect">
            <a:avLst/>
          </a:prstGeom>
          <a:noFill/>
        </p:spPr>
        <p:txBody>
          <a:bodyPr wrap="square" lIns="0" rIns="0" tIns="0" bIns="0" anchor="t">
            <a:spAutoFit/>
          </a:bodyPr>
          <a:lstStyle/>
          <a:p>
            <a:pPr algn="l">
              <a:lnSpc>
                <a:spcPct val="100000"/>
              </a:lnSpc>
              <a:spcAft>
                <a:spcPts val="400"/>
              </a:spcAft>
            </a:pPr>
            <a:r>
              <a:rPr sz="1160" b="1">
                <a:solidFill>
                  <a:srgbClr val="1A2433"/>
                </a:solidFill>
                <a:latin typeface="Segoe UI Semibold"/>
              </a:rPr>
              <a:t>One model, small enough for the hand itself</a:t>
            </a:r>
          </a:p>
        </p:txBody>
      </p:sp>
      <p:sp>
        <p:nvSpPr>
          <p:cNvPr id="47" name="TextBox 46"/>
          <p:cNvSpPr txBox="1"/>
          <p:nvPr/>
        </p:nvSpPr>
        <p:spPr>
          <a:xfrm>
            <a:off x="6172200" y="4517136"/>
            <a:ext cx="5349240" cy="658368"/>
          </a:xfrm>
          <a:prstGeom prst="rect">
            <a:avLst/>
          </a:prstGeom>
          <a:noFill/>
        </p:spPr>
        <p:txBody>
          <a:bodyPr wrap="square" lIns="0" rIns="0" tIns="0" bIns="0" anchor="t">
            <a:spAutoFit/>
          </a:bodyPr>
          <a:lstStyle/>
          <a:p>
            <a:pPr algn="l">
              <a:lnSpc>
                <a:spcPct val="105000"/>
              </a:lnSpc>
              <a:spcAft>
                <a:spcPts val="400"/>
              </a:spcAft>
            </a:pPr>
            <a:r>
              <a:rPr sz="960" b="0">
                <a:solidFill>
                  <a:srgbClr val="5C6B7A"/>
                </a:solidFill>
                <a:latin typeface="Segoe UI"/>
              </a:rPr>
              <a:t>65.8 K parameters  ·  257 KB  ·  2–3.6 ms per window on a plain CPU. The window is 200 ms and refreshes every 50 ms, so prediction uses only a few percent of the time we have — the latency budget is not the bottleneck.</a:t>
            </a:r>
          </a:p>
        </p:txBody>
      </p:sp>
      <p:sp>
        <p:nvSpPr>
          <p:cNvPr id="48" name="Rectangle 47"/>
          <p:cNvSpPr/>
          <p:nvPr/>
        </p:nvSpPr>
        <p:spPr>
          <a:xfrm>
            <a:off x="502920" y="5358384"/>
            <a:ext cx="11201400" cy="987552"/>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31520" y="5458968"/>
            <a:ext cx="10744200" cy="274320"/>
          </a:xfrm>
          <a:prstGeom prst="rect">
            <a:avLst/>
          </a:prstGeom>
          <a:noFill/>
        </p:spPr>
        <p:txBody>
          <a:bodyPr wrap="square" lIns="0" rIns="0" tIns="0" bIns="0" anchor="t">
            <a:spAutoFit/>
          </a:bodyPr>
          <a:lstStyle/>
          <a:p>
            <a:pPr algn="l">
              <a:lnSpc>
                <a:spcPct val="100000"/>
              </a:lnSpc>
              <a:spcAft>
                <a:spcPts val="400"/>
              </a:spcAft>
            </a:pPr>
            <a:r>
              <a:rPr sz="1120" b="1">
                <a:solidFill>
                  <a:srgbClr val="12B5A8"/>
                </a:solidFill>
                <a:latin typeface="Segoe UI Semibold"/>
              </a:rPr>
              <a:t>How these numbers were produced</a:t>
            </a:r>
          </a:p>
        </p:txBody>
      </p:sp>
      <p:sp>
        <p:nvSpPr>
          <p:cNvPr id="50" name="TextBox 49"/>
          <p:cNvSpPr txBox="1"/>
          <p:nvPr/>
        </p:nvSpPr>
        <p:spPr>
          <a:xfrm>
            <a:off x="731520" y="5742432"/>
            <a:ext cx="10744200" cy="512064"/>
          </a:xfrm>
          <a:prstGeom prst="rect">
            <a:avLst/>
          </a:prstGeom>
          <a:noFill/>
        </p:spPr>
        <p:txBody>
          <a:bodyPr wrap="square" lIns="0" rIns="0" tIns="0" bIns="0" anchor="t">
            <a:spAutoFit/>
          </a:bodyPr>
          <a:lstStyle/>
          <a:p>
            <a:pPr algn="l">
              <a:lnSpc>
                <a:spcPct val="112000"/>
              </a:lnSpc>
              <a:spcAft>
                <a:spcPts val="400"/>
              </a:spcAft>
            </a:pPr>
            <a:r>
              <a:rPr sz="940" b="0">
                <a:solidFill>
                  <a:srgbClr val="CFE0F0"/>
                </a:solidFill>
                <a:latin typeface="Segoe UI"/>
              </a:rPr>
              <a:t>The data is public and cited, so anyone can reproduce this. One model per dataset — the label sets mean different things, so merging them into a single classifier would be dishonest. Identical pipeline for all three: AdamW + OneCycleLR + gradient clipping + early stopping (patience 8), up to 40 epochs, batch 64, lr 0.001, split 70% train / 15% validation / 15% untouched test.</a:t>
            </a:r>
          </a:p>
        </p:txBody>
      </p:sp>
      <p:sp>
        <p:nvSpPr>
          <p:cNvPr id="51" name="TextBox 50"/>
          <p:cNvSpPr txBox="1"/>
          <p:nvPr/>
        </p:nvSpPr>
        <p:spPr>
          <a:xfrm>
            <a:off x="502920" y="6437376"/>
            <a:ext cx="7315200" cy="274320"/>
          </a:xfrm>
          <a:prstGeom prst="rect">
            <a:avLst/>
          </a:prstGeom>
          <a:noFill/>
        </p:spPr>
        <p:txBody>
          <a:bodyPr wrap="square" lIns="0" rIns="0" tIns="0" bIns="0" anchor="ctr">
            <a:spAutoFit/>
          </a:bodyPr>
          <a:lstStyle/>
          <a:p>
            <a:pPr algn="l">
              <a:lnSpc>
                <a:spcPct val="100000"/>
              </a:lnSpc>
              <a:spcAft>
                <a:spcPts val="400"/>
              </a:spcAft>
            </a:pPr>
            <a:r>
              <a:rPr sz="900" b="0">
                <a:solidFill>
                  <a:srgbClr val="5C6B7A"/>
                </a:solidFill>
                <a:latin typeface="Segoe UI"/>
              </a:rPr>
              <a:t>JoTouch — Technical Brief · Sensing, Control &amp; AI</a:t>
            </a:r>
          </a:p>
        </p:txBody>
      </p:sp>
      <p:sp>
        <p:nvSpPr>
          <p:cNvPr id="52" name="TextBox 51"/>
          <p:cNvSpPr txBox="1"/>
          <p:nvPr/>
        </p:nvSpPr>
        <p:spPr>
          <a:xfrm>
            <a:off x="10241280" y="6437376"/>
            <a:ext cx="1463040" cy="274320"/>
          </a:xfrm>
          <a:prstGeom prst="rect">
            <a:avLst/>
          </a:prstGeom>
          <a:noFill/>
        </p:spPr>
        <p:txBody>
          <a:bodyPr wrap="square" lIns="0" rIns="0" tIns="0" bIns="0" anchor="ctr">
            <a:spAutoFit/>
          </a:bodyPr>
          <a:lstStyle/>
          <a:p>
            <a:pPr algn="r">
              <a:lnSpc>
                <a:spcPct val="100000"/>
              </a:lnSpc>
              <a:spcAft>
                <a:spcPts val="400"/>
              </a:spcAft>
            </a:pPr>
            <a:r>
              <a:rPr sz="900" b="1">
                <a:solidFill>
                  <a:srgbClr val="5C6B7A"/>
                </a:solidFill>
                <a:latin typeface="Segoe UI Semibold"/>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Oval 1"/>
          <p:cNvSpPr/>
          <p:nvPr/>
        </p:nvSpPr>
        <p:spPr>
          <a:xfrm>
            <a:off x="502920" y="402336"/>
            <a:ext cx="274320" cy="274320"/>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384048"/>
            <a:ext cx="10058400" cy="310896"/>
          </a:xfrm>
          <a:prstGeom prst="rect">
            <a:avLst/>
          </a:prstGeom>
          <a:noFill/>
        </p:spPr>
        <p:txBody>
          <a:bodyPr wrap="square" lIns="0" rIns="0" tIns="0" bIns="0" anchor="ctr">
            <a:spAutoFit/>
          </a:bodyPr>
          <a:lstStyle/>
          <a:p>
            <a:pPr algn="l">
              <a:lnSpc>
                <a:spcPct val="100000"/>
              </a:lnSpc>
              <a:spcAft>
                <a:spcPts val="400"/>
              </a:spcAft>
            </a:pPr>
            <a:r>
              <a:rPr sz="1250" b="1">
                <a:solidFill>
                  <a:srgbClr val="2E6BE6"/>
                </a:solidFill>
                <a:latin typeface="Segoe UI Semibold"/>
              </a:rPr>
              <a:t>06 · HOW WELL IT GENERALISES</a:t>
            </a:r>
          </a:p>
        </p:txBody>
      </p:sp>
      <p:sp>
        <p:nvSpPr>
          <p:cNvPr id="4" name="TextBox 3"/>
          <p:cNvSpPr txBox="1"/>
          <p:nvPr/>
        </p:nvSpPr>
        <p:spPr>
          <a:xfrm>
            <a:off x="502920" y="713232"/>
            <a:ext cx="10058400" cy="548640"/>
          </a:xfrm>
          <a:prstGeom prst="rect">
            <a:avLst/>
          </a:prstGeom>
          <a:noFill/>
        </p:spPr>
        <p:txBody>
          <a:bodyPr wrap="square" lIns="0" rIns="0" tIns="0" bIns="0" anchor="t">
            <a:spAutoFit/>
          </a:bodyPr>
          <a:lstStyle/>
          <a:p>
            <a:pPr algn="l">
              <a:lnSpc>
                <a:spcPct val="100000"/>
              </a:lnSpc>
              <a:spcAft>
                <a:spcPts val="400"/>
              </a:spcAft>
            </a:pPr>
            <a:r>
              <a:rPr sz="2700" b="1">
                <a:solidFill>
                  <a:srgbClr val="1A2433"/>
                </a:solidFill>
                <a:latin typeface="Segoe UI Semibold"/>
              </a:rPr>
              <a:t>The same subject vs. an unseen subject</a:t>
            </a:r>
          </a:p>
        </p:txBody>
      </p:sp>
      <p:sp>
        <p:nvSpPr>
          <p:cNvPr id="5" name="Rounded Rectangle 4"/>
          <p:cNvSpPr/>
          <p:nvPr/>
        </p:nvSpPr>
        <p:spPr>
          <a:xfrm>
            <a:off x="9784080" y="438912"/>
            <a:ext cx="1920240" cy="274320"/>
          </a:xfrm>
          <a:prstGeom prst="roundRect">
            <a:avLst>
              <a:gd name="adj" fmla="val 50000"/>
            </a:avLst>
          </a:prstGeom>
          <a:noFill/>
          <a:ln w="15240">
            <a:solidFill>
              <a:srgbClr val="E0961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9893808" y="534924"/>
            <a:ext cx="91440" cy="91440"/>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0" y="438912"/>
            <a:ext cx="1600200" cy="274320"/>
          </a:xfrm>
          <a:prstGeom prst="rect">
            <a:avLst/>
          </a:prstGeom>
          <a:noFill/>
        </p:spPr>
        <p:txBody>
          <a:bodyPr wrap="square" lIns="0" rIns="0" tIns="0" bIns="0" anchor="ctr">
            <a:spAutoFit/>
          </a:bodyPr>
          <a:lstStyle/>
          <a:p>
            <a:pPr algn="l">
              <a:lnSpc>
                <a:spcPct val="100000"/>
              </a:lnSpc>
              <a:spcAft>
                <a:spcPts val="400"/>
              </a:spcAft>
            </a:pPr>
            <a:r>
              <a:rPr sz="900" b="1">
                <a:solidFill>
                  <a:srgbClr val="E09612"/>
                </a:solidFill>
                <a:latin typeface="Segoe UI Semibold"/>
              </a:rPr>
              <a:t>HONEST LIMITS</a:t>
            </a:r>
          </a:p>
        </p:txBody>
      </p:sp>
      <p:sp>
        <p:nvSpPr>
          <p:cNvPr id="8" name="Rounded Rectangle 7"/>
          <p:cNvSpPr/>
          <p:nvPr/>
        </p:nvSpPr>
        <p:spPr>
          <a:xfrm>
            <a:off x="502920" y="1188720"/>
            <a:ext cx="11201400" cy="512064"/>
          </a:xfrm>
          <a:prstGeom prst="roundRect">
            <a:avLst>
              <a:gd name="adj" fmla="val 18000"/>
            </a:avLst>
          </a:prstGeom>
          <a:solidFill>
            <a:srgbClr val="FDF3E3"/>
          </a:solidFill>
          <a:ln w="12700">
            <a:solidFill>
              <a:srgbClr val="E0961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188720"/>
            <a:ext cx="10972800" cy="512064"/>
          </a:xfrm>
          <a:prstGeom prst="rect">
            <a:avLst/>
          </a:prstGeom>
          <a:noFill/>
        </p:spPr>
        <p:txBody>
          <a:bodyPr wrap="square" lIns="0" rIns="0" tIns="0" bIns="0" anchor="ctr">
            <a:spAutoFit/>
          </a:bodyPr>
          <a:lstStyle/>
          <a:p>
            <a:pPr algn="l">
              <a:lnSpc>
                <a:spcPct val="100000"/>
              </a:lnSpc>
              <a:spcAft>
                <a:spcPts val="400"/>
              </a:spcAft>
            </a:pPr>
            <a:r>
              <a:rPr sz="1150" b="1">
                <a:solidFill>
                  <a:srgbClr val="E09612"/>
                </a:solidFill>
                <a:latin typeface="Segoe UI Semibold"/>
              </a:rPr>
              <a:t>The limit we do not hide:  </a:t>
            </a:r>
            <a:r>
              <a:rPr sz="1100" b="0">
                <a:solidFill>
                  <a:srgbClr val="1A2433"/>
                </a:solidFill>
                <a:latin typeface="Segoe UI"/>
              </a:rPr>
              <a:t>accuracy measured on </a:t>
            </a:r>
            <a:r>
              <a:rPr sz="1100" b="1">
                <a:solidFill>
                  <a:srgbClr val="E09612"/>
                </a:solidFill>
                <a:latin typeface="Segoe UI Semibold"/>
              </a:rPr>
              <a:t>a subject the model has never seen</a:t>
            </a:r>
            <a:r>
              <a:rPr sz="1100" b="0">
                <a:solidFill>
                  <a:srgbClr val="1A2433"/>
                </a:solidFill>
                <a:latin typeface="Segoe UI"/>
              </a:rPr>
              <a:t> is far lower than accuracy on the subjects it trained on. We tested this on purpose, with leave-one-subject-out cross-validation.</a:t>
            </a:r>
          </a:p>
        </p:txBody>
      </p:sp>
      <p:sp>
        <p:nvSpPr>
          <p:cNvPr id="10" name="TextBox 9"/>
          <p:cNvSpPr txBox="1"/>
          <p:nvPr/>
        </p:nvSpPr>
        <p:spPr>
          <a:xfrm>
            <a:off x="502920" y="1920240"/>
            <a:ext cx="6766560" cy="274320"/>
          </a:xfrm>
          <a:prstGeom prst="rect">
            <a:avLst/>
          </a:prstGeom>
          <a:noFill/>
        </p:spPr>
        <p:txBody>
          <a:bodyPr wrap="square" lIns="0" rIns="0" tIns="0" bIns="0" anchor="t">
            <a:spAutoFit/>
          </a:bodyPr>
          <a:lstStyle/>
          <a:p>
            <a:pPr algn="l">
              <a:lnSpc>
                <a:spcPct val="100000"/>
              </a:lnSpc>
              <a:spcAft>
                <a:spcPts val="400"/>
              </a:spcAft>
            </a:pPr>
            <a:r>
              <a:rPr sz="1250" b="1">
                <a:solidFill>
                  <a:srgbClr val="1A2433"/>
                </a:solidFill>
                <a:latin typeface="Segoe UI Semibold"/>
              </a:rPr>
              <a:t>Identical training, two ways of splitting the data</a:t>
            </a:r>
          </a:p>
        </p:txBody>
      </p:sp>
      <p:sp>
        <p:nvSpPr>
          <p:cNvPr id="11" name="Rounded Rectangle 10"/>
          <p:cNvSpPr/>
          <p:nvPr/>
        </p:nvSpPr>
        <p:spPr>
          <a:xfrm>
            <a:off x="502920" y="2249424"/>
            <a:ext cx="6766560" cy="3017520"/>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20" y="2391156"/>
            <a:ext cx="118872" cy="118872"/>
          </a:xfrm>
          <a:prstGeom prst="ellipse">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2340864"/>
            <a:ext cx="2377440" cy="219456"/>
          </a:xfrm>
          <a:prstGeom prst="rect">
            <a:avLst/>
          </a:prstGeom>
          <a:noFill/>
        </p:spPr>
        <p:txBody>
          <a:bodyPr wrap="square" lIns="0" rIns="0" tIns="0" bIns="0" anchor="ctr">
            <a:spAutoFit/>
          </a:bodyPr>
          <a:lstStyle/>
          <a:p>
            <a:pPr algn="l">
              <a:lnSpc>
                <a:spcPct val="100000"/>
              </a:lnSpc>
              <a:spcAft>
                <a:spcPts val="400"/>
              </a:spcAft>
            </a:pPr>
            <a:r>
              <a:rPr sz="880" b="0">
                <a:solidFill>
                  <a:srgbClr val="5C6B7A"/>
                </a:solidFill>
                <a:latin typeface="Segoe UI"/>
              </a:rPr>
              <a:t>Same subjects (random split)</a:t>
            </a:r>
          </a:p>
        </p:txBody>
      </p:sp>
      <p:sp>
        <p:nvSpPr>
          <p:cNvPr id="14" name="Oval 13"/>
          <p:cNvSpPr/>
          <p:nvPr/>
        </p:nvSpPr>
        <p:spPr>
          <a:xfrm>
            <a:off x="3429000" y="2391156"/>
            <a:ext cx="118872" cy="118872"/>
          </a:xfrm>
          <a:prstGeom prst="ellipse">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1880" y="2340864"/>
            <a:ext cx="3291840" cy="219456"/>
          </a:xfrm>
          <a:prstGeom prst="rect">
            <a:avLst/>
          </a:prstGeom>
          <a:noFill/>
        </p:spPr>
        <p:txBody>
          <a:bodyPr wrap="square" lIns="0" rIns="0" tIns="0" bIns="0" anchor="ctr">
            <a:spAutoFit/>
          </a:bodyPr>
          <a:lstStyle/>
          <a:p>
            <a:pPr algn="l">
              <a:lnSpc>
                <a:spcPct val="100000"/>
              </a:lnSpc>
              <a:spcAft>
                <a:spcPts val="400"/>
              </a:spcAft>
            </a:pPr>
            <a:r>
              <a:rPr sz="880" b="0">
                <a:solidFill>
                  <a:srgbClr val="5C6B7A"/>
                </a:solidFill>
                <a:latin typeface="Segoe UI"/>
              </a:rPr>
              <a:t>Unseen subject (leave-one-subject-out)</a:t>
            </a:r>
          </a:p>
        </p:txBody>
      </p:sp>
      <p:sp>
        <p:nvSpPr>
          <p:cNvPr id="16" name="TextBox 15"/>
          <p:cNvSpPr txBox="1"/>
          <p:nvPr/>
        </p:nvSpPr>
        <p:spPr>
          <a:xfrm>
            <a:off x="713232" y="2706624"/>
            <a:ext cx="2011680" cy="237744"/>
          </a:xfrm>
          <a:prstGeom prst="rect">
            <a:avLst/>
          </a:prstGeom>
          <a:noFill/>
        </p:spPr>
        <p:txBody>
          <a:bodyPr wrap="square" lIns="0" rIns="0" tIns="0" bIns="0" anchor="t">
            <a:spAutoFit/>
          </a:bodyPr>
          <a:lstStyle/>
          <a:p>
            <a:pPr algn="l">
              <a:lnSpc>
                <a:spcPct val="100000"/>
              </a:lnSpc>
              <a:spcAft>
                <a:spcPts val="400"/>
              </a:spcAft>
            </a:pPr>
            <a:r>
              <a:rPr sz="1060" b="1">
                <a:solidFill>
                  <a:srgbClr val="1A2433"/>
                </a:solidFill>
                <a:latin typeface="Segoe UI Semibold"/>
              </a:rPr>
              <a:t>Zenodo</a:t>
            </a:r>
          </a:p>
        </p:txBody>
      </p:sp>
      <p:sp>
        <p:nvSpPr>
          <p:cNvPr id="17" name="TextBox 16"/>
          <p:cNvSpPr txBox="1"/>
          <p:nvPr/>
        </p:nvSpPr>
        <p:spPr>
          <a:xfrm>
            <a:off x="713232" y="2944368"/>
            <a:ext cx="2103120" cy="219456"/>
          </a:xfrm>
          <a:prstGeom prst="rect">
            <a:avLst/>
          </a:prstGeom>
          <a:noFill/>
        </p:spPr>
        <p:txBody>
          <a:bodyPr wrap="square" lIns="0" rIns="0" tIns="0" bIns="0" anchor="t">
            <a:spAutoFit/>
          </a:bodyPr>
          <a:lstStyle/>
          <a:p>
            <a:pPr algn="l">
              <a:lnSpc>
                <a:spcPct val="100000"/>
              </a:lnSpc>
              <a:spcAft>
                <a:spcPts val="400"/>
              </a:spcAft>
            </a:pPr>
            <a:r>
              <a:rPr sz="840" b="0">
                <a:solidFill>
                  <a:srgbClr val="5C6B7A"/>
                </a:solidFill>
                <a:latin typeface="Segoe UI"/>
              </a:rPr>
              <a:t>17 subjects · 5 classes · chance 20%</a:t>
            </a:r>
          </a:p>
        </p:txBody>
      </p:sp>
      <p:sp>
        <p:nvSpPr>
          <p:cNvPr id="18" name="Rectangle 17"/>
          <p:cNvSpPr/>
          <p:nvPr/>
        </p:nvSpPr>
        <p:spPr>
          <a:xfrm>
            <a:off x="2788920" y="2743200"/>
            <a:ext cx="3520440" cy="21945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788920" y="2743200"/>
            <a:ext cx="3406377" cy="219456"/>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8449" y="2743200"/>
            <a:ext cx="1280160" cy="219456"/>
          </a:xfrm>
          <a:prstGeom prst="rect">
            <a:avLst/>
          </a:prstGeom>
          <a:noFill/>
        </p:spPr>
        <p:txBody>
          <a:bodyPr wrap="square" lIns="0" rIns="0" tIns="0" bIns="0" anchor="ctr">
            <a:spAutoFit/>
          </a:bodyPr>
          <a:lstStyle/>
          <a:p>
            <a:pPr algn="l">
              <a:lnSpc>
                <a:spcPct val="100000"/>
              </a:lnSpc>
              <a:spcAft>
                <a:spcPts val="400"/>
              </a:spcAft>
            </a:pPr>
            <a:r>
              <a:rPr sz="940" b="1">
                <a:solidFill>
                  <a:srgbClr val="2E6BE6"/>
                </a:solidFill>
                <a:latin typeface="Segoe UI Semibold"/>
              </a:rPr>
              <a:t>96.8%</a:t>
            </a:r>
          </a:p>
        </p:txBody>
      </p:sp>
      <p:sp>
        <p:nvSpPr>
          <p:cNvPr id="21" name="Rectangle 20"/>
          <p:cNvSpPr/>
          <p:nvPr/>
        </p:nvSpPr>
        <p:spPr>
          <a:xfrm>
            <a:off x="2788920" y="3017520"/>
            <a:ext cx="3520440" cy="21945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788920" y="3017520"/>
            <a:ext cx="1245531" cy="219456"/>
          </a:xfrm>
          <a:prstGeom prst="rect">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107603" y="3017520"/>
            <a:ext cx="1280160" cy="219456"/>
          </a:xfrm>
          <a:prstGeom prst="rect">
            <a:avLst/>
          </a:prstGeom>
          <a:noFill/>
        </p:spPr>
        <p:txBody>
          <a:bodyPr wrap="square" lIns="0" rIns="0" tIns="0" bIns="0" anchor="ctr">
            <a:spAutoFit/>
          </a:bodyPr>
          <a:lstStyle/>
          <a:p>
            <a:pPr algn="l">
              <a:lnSpc>
                <a:spcPct val="100000"/>
              </a:lnSpc>
              <a:spcAft>
                <a:spcPts val="400"/>
              </a:spcAft>
            </a:pPr>
            <a:r>
              <a:rPr sz="940" b="1">
                <a:solidFill>
                  <a:srgbClr val="E09612"/>
                </a:solidFill>
                <a:latin typeface="Segoe UI Semibold"/>
              </a:rPr>
              <a:t>35.4%  ±9.6</a:t>
            </a:r>
          </a:p>
        </p:txBody>
      </p:sp>
      <p:sp>
        <p:nvSpPr>
          <p:cNvPr id="24" name="TextBox 23"/>
          <p:cNvSpPr txBox="1"/>
          <p:nvPr/>
        </p:nvSpPr>
        <p:spPr>
          <a:xfrm>
            <a:off x="713232" y="3493008"/>
            <a:ext cx="2011680" cy="237744"/>
          </a:xfrm>
          <a:prstGeom prst="rect">
            <a:avLst/>
          </a:prstGeom>
          <a:noFill/>
        </p:spPr>
        <p:txBody>
          <a:bodyPr wrap="square" lIns="0" rIns="0" tIns="0" bIns="0" anchor="t">
            <a:spAutoFit/>
          </a:bodyPr>
          <a:lstStyle/>
          <a:p>
            <a:pPr algn="l">
              <a:lnSpc>
                <a:spcPct val="100000"/>
              </a:lnSpc>
              <a:spcAft>
                <a:spcPts val="400"/>
              </a:spcAft>
            </a:pPr>
            <a:r>
              <a:rPr sz="1060" b="1">
                <a:solidFill>
                  <a:srgbClr val="1A2433"/>
                </a:solidFill>
                <a:latin typeface="Segoe UI Semibold"/>
              </a:rPr>
              <a:t>Exoskelebox</a:t>
            </a:r>
          </a:p>
        </p:txBody>
      </p:sp>
      <p:sp>
        <p:nvSpPr>
          <p:cNvPr id="25" name="TextBox 24"/>
          <p:cNvSpPr txBox="1"/>
          <p:nvPr/>
        </p:nvSpPr>
        <p:spPr>
          <a:xfrm>
            <a:off x="713232" y="3730752"/>
            <a:ext cx="2103120" cy="219456"/>
          </a:xfrm>
          <a:prstGeom prst="rect">
            <a:avLst/>
          </a:prstGeom>
          <a:noFill/>
        </p:spPr>
        <p:txBody>
          <a:bodyPr wrap="square" lIns="0" rIns="0" tIns="0" bIns="0" anchor="t">
            <a:spAutoFit/>
          </a:bodyPr>
          <a:lstStyle/>
          <a:p>
            <a:pPr algn="l">
              <a:lnSpc>
                <a:spcPct val="100000"/>
              </a:lnSpc>
              <a:spcAft>
                <a:spcPts val="400"/>
              </a:spcAft>
            </a:pPr>
            <a:r>
              <a:rPr sz="840" b="0">
                <a:solidFill>
                  <a:srgbClr val="5C6B7A"/>
                </a:solidFill>
                <a:latin typeface="Segoe UI"/>
              </a:rPr>
              <a:t>20 subjects · 6 classes · chance 17%</a:t>
            </a:r>
          </a:p>
        </p:txBody>
      </p:sp>
      <p:sp>
        <p:nvSpPr>
          <p:cNvPr id="26" name="Rectangle 25"/>
          <p:cNvSpPr/>
          <p:nvPr/>
        </p:nvSpPr>
        <p:spPr>
          <a:xfrm>
            <a:off x="2788920" y="3529584"/>
            <a:ext cx="3520440" cy="21945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3529584"/>
            <a:ext cx="2269627" cy="219456"/>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131699" y="3529584"/>
            <a:ext cx="1280160" cy="219456"/>
          </a:xfrm>
          <a:prstGeom prst="rect">
            <a:avLst/>
          </a:prstGeom>
          <a:noFill/>
        </p:spPr>
        <p:txBody>
          <a:bodyPr wrap="square" lIns="0" rIns="0" tIns="0" bIns="0" anchor="ctr">
            <a:spAutoFit/>
          </a:bodyPr>
          <a:lstStyle/>
          <a:p>
            <a:pPr algn="l">
              <a:lnSpc>
                <a:spcPct val="100000"/>
              </a:lnSpc>
              <a:spcAft>
                <a:spcPts val="400"/>
              </a:spcAft>
            </a:pPr>
            <a:r>
              <a:rPr sz="940" b="1">
                <a:solidFill>
                  <a:srgbClr val="2E6BE6"/>
                </a:solidFill>
                <a:latin typeface="Segoe UI Semibold"/>
              </a:rPr>
              <a:t>64.5%</a:t>
            </a:r>
          </a:p>
        </p:txBody>
      </p:sp>
      <p:sp>
        <p:nvSpPr>
          <p:cNvPr id="29" name="Rectangle 28"/>
          <p:cNvSpPr/>
          <p:nvPr/>
        </p:nvSpPr>
        <p:spPr>
          <a:xfrm>
            <a:off x="2788920" y="3803904"/>
            <a:ext cx="3520440" cy="21945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3803904"/>
            <a:ext cx="747389" cy="219456"/>
          </a:xfrm>
          <a:prstGeom prst="rect">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09461" y="3803904"/>
            <a:ext cx="1280160" cy="219456"/>
          </a:xfrm>
          <a:prstGeom prst="rect">
            <a:avLst/>
          </a:prstGeom>
          <a:noFill/>
        </p:spPr>
        <p:txBody>
          <a:bodyPr wrap="square" lIns="0" rIns="0" tIns="0" bIns="0" anchor="ctr">
            <a:spAutoFit/>
          </a:bodyPr>
          <a:lstStyle/>
          <a:p>
            <a:pPr algn="l">
              <a:lnSpc>
                <a:spcPct val="100000"/>
              </a:lnSpc>
              <a:spcAft>
                <a:spcPts val="400"/>
              </a:spcAft>
            </a:pPr>
            <a:r>
              <a:rPr sz="940" b="1">
                <a:solidFill>
                  <a:srgbClr val="E09612"/>
                </a:solidFill>
                <a:latin typeface="Segoe UI Semibold"/>
              </a:rPr>
              <a:t>21.2%  ±2.7</a:t>
            </a:r>
          </a:p>
        </p:txBody>
      </p:sp>
      <p:sp>
        <p:nvSpPr>
          <p:cNvPr id="32" name="TextBox 31"/>
          <p:cNvSpPr txBox="1"/>
          <p:nvPr/>
        </p:nvSpPr>
        <p:spPr>
          <a:xfrm>
            <a:off x="713232" y="4279392"/>
            <a:ext cx="2011680" cy="237744"/>
          </a:xfrm>
          <a:prstGeom prst="rect">
            <a:avLst/>
          </a:prstGeom>
          <a:noFill/>
        </p:spPr>
        <p:txBody>
          <a:bodyPr wrap="square" lIns="0" rIns="0" tIns="0" bIns="0" anchor="t">
            <a:spAutoFit/>
          </a:bodyPr>
          <a:lstStyle/>
          <a:p>
            <a:pPr algn="l">
              <a:lnSpc>
                <a:spcPct val="100000"/>
              </a:lnSpc>
              <a:spcAft>
                <a:spcPts val="400"/>
              </a:spcAft>
            </a:pPr>
            <a:r>
              <a:rPr sz="1060" b="1">
                <a:solidFill>
                  <a:srgbClr val="1A2433"/>
                </a:solidFill>
                <a:latin typeface="Segoe UI Semibold"/>
              </a:rPr>
              <a:t>PLoS ONE</a:t>
            </a:r>
          </a:p>
        </p:txBody>
      </p:sp>
      <p:sp>
        <p:nvSpPr>
          <p:cNvPr id="33" name="TextBox 32"/>
          <p:cNvSpPr txBox="1"/>
          <p:nvPr/>
        </p:nvSpPr>
        <p:spPr>
          <a:xfrm>
            <a:off x="713232" y="4517136"/>
            <a:ext cx="2103120" cy="219456"/>
          </a:xfrm>
          <a:prstGeom prst="rect">
            <a:avLst/>
          </a:prstGeom>
          <a:noFill/>
        </p:spPr>
        <p:txBody>
          <a:bodyPr wrap="square" lIns="0" rIns="0" tIns="0" bIns="0" anchor="t">
            <a:spAutoFit/>
          </a:bodyPr>
          <a:lstStyle/>
          <a:p>
            <a:pPr algn="l">
              <a:lnSpc>
                <a:spcPct val="100000"/>
              </a:lnSpc>
              <a:spcAft>
                <a:spcPts val="400"/>
              </a:spcAft>
            </a:pPr>
            <a:r>
              <a:rPr sz="840" b="0">
                <a:solidFill>
                  <a:srgbClr val="5C6B7A"/>
                </a:solidFill>
                <a:latin typeface="Segoe UI"/>
              </a:rPr>
              <a:t>27 subjects · 4 classes · chance 25%</a:t>
            </a:r>
          </a:p>
        </p:txBody>
      </p:sp>
      <p:sp>
        <p:nvSpPr>
          <p:cNvPr id="34" name="Rectangle 33"/>
          <p:cNvSpPr/>
          <p:nvPr/>
        </p:nvSpPr>
        <p:spPr>
          <a:xfrm>
            <a:off x="2788920" y="4315968"/>
            <a:ext cx="3520440" cy="21945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788920" y="4315968"/>
            <a:ext cx="1783102" cy="219456"/>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645174" y="4315968"/>
            <a:ext cx="1280160" cy="219456"/>
          </a:xfrm>
          <a:prstGeom prst="rect">
            <a:avLst/>
          </a:prstGeom>
          <a:noFill/>
        </p:spPr>
        <p:txBody>
          <a:bodyPr wrap="square" lIns="0" rIns="0" tIns="0" bIns="0" anchor="ctr">
            <a:spAutoFit/>
          </a:bodyPr>
          <a:lstStyle/>
          <a:p>
            <a:pPr algn="l">
              <a:lnSpc>
                <a:spcPct val="100000"/>
              </a:lnSpc>
              <a:spcAft>
                <a:spcPts val="400"/>
              </a:spcAft>
            </a:pPr>
            <a:r>
              <a:rPr sz="940" b="1">
                <a:solidFill>
                  <a:srgbClr val="2E6BE6"/>
                </a:solidFill>
                <a:latin typeface="Segoe UI Semibold"/>
              </a:rPr>
              <a:t>50.6%</a:t>
            </a:r>
          </a:p>
        </p:txBody>
      </p:sp>
      <p:sp>
        <p:nvSpPr>
          <p:cNvPr id="37" name="Rectangle 36"/>
          <p:cNvSpPr/>
          <p:nvPr/>
        </p:nvSpPr>
        <p:spPr>
          <a:xfrm>
            <a:off x="2788920" y="4590288"/>
            <a:ext cx="3520440" cy="21945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788920" y="4590288"/>
            <a:ext cx="1033601" cy="219456"/>
          </a:xfrm>
          <a:prstGeom prst="rect">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895673" y="4590288"/>
            <a:ext cx="1280160" cy="219456"/>
          </a:xfrm>
          <a:prstGeom prst="rect">
            <a:avLst/>
          </a:prstGeom>
          <a:noFill/>
        </p:spPr>
        <p:txBody>
          <a:bodyPr wrap="square" lIns="0" rIns="0" tIns="0" bIns="0" anchor="ctr">
            <a:spAutoFit/>
          </a:bodyPr>
          <a:lstStyle/>
          <a:p>
            <a:pPr algn="l">
              <a:lnSpc>
                <a:spcPct val="100000"/>
              </a:lnSpc>
              <a:spcAft>
                <a:spcPts val="400"/>
              </a:spcAft>
            </a:pPr>
            <a:r>
              <a:rPr sz="940" b="1">
                <a:solidFill>
                  <a:srgbClr val="E09612"/>
                </a:solidFill>
                <a:latin typeface="Segoe UI Semibold"/>
              </a:rPr>
              <a:t>29.4%  ±1.5</a:t>
            </a:r>
          </a:p>
        </p:txBody>
      </p:sp>
      <p:cxnSp>
        <p:nvCxnSpPr>
          <p:cNvPr id="40" name="Connector 39"/>
          <p:cNvCxnSpPr/>
          <p:nvPr/>
        </p:nvCxnSpPr>
        <p:spPr>
          <a:xfrm>
            <a:off x="731520" y="4919472"/>
            <a:ext cx="6309360" cy="0"/>
          </a:xfrm>
          <a:prstGeom prst="line">
            <a:avLst/>
          </a:prstGeom>
          <a:ln w="12700">
            <a:solidFill>
              <a:srgbClr val="E6ECF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31520" y="4983480"/>
            <a:ext cx="6309360" cy="256032"/>
          </a:xfrm>
          <a:prstGeom prst="rect">
            <a:avLst/>
          </a:prstGeom>
          <a:noFill/>
        </p:spPr>
        <p:txBody>
          <a:bodyPr wrap="square" lIns="0" rIns="0" tIns="0" bIns="0" anchor="t">
            <a:spAutoFit/>
          </a:bodyPr>
          <a:lstStyle/>
          <a:p>
            <a:pPr algn="l">
              <a:lnSpc>
                <a:spcPct val="100000"/>
              </a:lnSpc>
              <a:spcAft>
                <a:spcPts val="400"/>
              </a:spcAft>
            </a:pPr>
            <a:r>
              <a:rPr sz="880" b="0">
                <a:solidFill>
                  <a:srgbClr val="5C6B7A"/>
                </a:solidFill>
                <a:latin typeface="Segoe UI"/>
              </a:rPr>
              <a:t>Both bars come from the identical 12-epoch protocol on identical data — only the split differs.</a:t>
            </a:r>
          </a:p>
        </p:txBody>
      </p:sp>
      <p:sp>
        <p:nvSpPr>
          <p:cNvPr id="42" name="TextBox 41"/>
          <p:cNvSpPr txBox="1"/>
          <p:nvPr/>
        </p:nvSpPr>
        <p:spPr>
          <a:xfrm>
            <a:off x="7498079" y="1920240"/>
            <a:ext cx="4206240" cy="274320"/>
          </a:xfrm>
          <a:prstGeom prst="rect">
            <a:avLst/>
          </a:prstGeom>
          <a:noFill/>
        </p:spPr>
        <p:txBody>
          <a:bodyPr wrap="square" lIns="0" rIns="0" tIns="0" bIns="0" anchor="t">
            <a:spAutoFit/>
          </a:bodyPr>
          <a:lstStyle/>
          <a:p>
            <a:pPr algn="l">
              <a:lnSpc>
                <a:spcPct val="100000"/>
              </a:lnSpc>
              <a:spcAft>
                <a:spcPts val="400"/>
              </a:spcAft>
            </a:pPr>
            <a:r>
              <a:rPr sz="1250" b="1">
                <a:solidFill>
                  <a:srgbClr val="1A2433"/>
                </a:solidFill>
                <a:latin typeface="Segoe UI Semibold"/>
              </a:rPr>
              <a:t>Why — and what we do about it</a:t>
            </a:r>
          </a:p>
        </p:txBody>
      </p:sp>
      <p:sp>
        <p:nvSpPr>
          <p:cNvPr id="43" name="Rounded Rectangle 42"/>
          <p:cNvSpPr/>
          <p:nvPr/>
        </p:nvSpPr>
        <p:spPr>
          <a:xfrm>
            <a:off x="7498079" y="2249424"/>
            <a:ext cx="4206240" cy="1225296"/>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7498079" y="2359152"/>
            <a:ext cx="73152" cy="1005840"/>
          </a:xfrm>
          <a:prstGeom prst="rect">
            <a:avLst/>
          </a:prstGeom>
          <a:solidFill>
            <a:srgbClr val="E096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726679" y="2350008"/>
            <a:ext cx="3794759" cy="256032"/>
          </a:xfrm>
          <a:prstGeom prst="rect">
            <a:avLst/>
          </a:prstGeom>
          <a:noFill/>
        </p:spPr>
        <p:txBody>
          <a:bodyPr wrap="square" lIns="0" rIns="0" tIns="0" bIns="0" anchor="t">
            <a:spAutoFit/>
          </a:bodyPr>
          <a:lstStyle/>
          <a:p>
            <a:pPr algn="l">
              <a:lnSpc>
                <a:spcPct val="100000"/>
              </a:lnSpc>
              <a:spcAft>
                <a:spcPts val="400"/>
              </a:spcAft>
            </a:pPr>
            <a:r>
              <a:rPr sz="1140" b="1">
                <a:solidFill>
                  <a:srgbClr val="1A2433"/>
                </a:solidFill>
                <a:latin typeface="Segoe UI Semibold"/>
              </a:rPr>
              <a:t>Why the drop happens</a:t>
            </a:r>
          </a:p>
        </p:txBody>
      </p:sp>
      <p:sp>
        <p:nvSpPr>
          <p:cNvPr id="46" name="TextBox 45"/>
          <p:cNvSpPr txBox="1"/>
          <p:nvPr/>
        </p:nvSpPr>
        <p:spPr>
          <a:xfrm>
            <a:off x="7726679" y="2615184"/>
            <a:ext cx="3794759" cy="768096"/>
          </a:xfrm>
          <a:prstGeom prst="rect">
            <a:avLst/>
          </a:prstGeom>
          <a:noFill/>
        </p:spPr>
        <p:txBody>
          <a:bodyPr wrap="square" lIns="0" rIns="0" tIns="0" bIns="0" anchor="t">
            <a:spAutoFit/>
          </a:bodyPr>
          <a:lstStyle/>
          <a:p>
            <a:pPr algn="l">
              <a:lnSpc>
                <a:spcPct val="105000"/>
              </a:lnSpc>
              <a:spcAft>
                <a:spcPts val="400"/>
              </a:spcAft>
            </a:pPr>
            <a:r>
              <a:rPr sz="940" b="0">
                <a:solidFill>
                  <a:srgbClr val="5C6B7A"/>
                </a:solidFill>
                <a:latin typeface="Segoe UI"/>
              </a:rPr>
              <a:t>FMG reads the muscle bulging under the skin. Forearm size, fat layer, band tightness and the exact rotation of the band differ from person to person, so the same gesture produces a different 8-channel pattern on a new arm.</a:t>
            </a:r>
          </a:p>
        </p:txBody>
      </p:sp>
      <p:sp>
        <p:nvSpPr>
          <p:cNvPr id="47" name="Rounded Rectangle 46"/>
          <p:cNvSpPr/>
          <p:nvPr/>
        </p:nvSpPr>
        <p:spPr>
          <a:xfrm>
            <a:off x="7498079" y="3584448"/>
            <a:ext cx="4206240" cy="1225296"/>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7498079" y="3694176"/>
            <a:ext cx="73152" cy="1005840"/>
          </a:xfrm>
          <a:prstGeom prst="rect">
            <a:avLst/>
          </a:prstGeom>
          <a:solidFill>
            <a:srgbClr val="12B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726679" y="3685032"/>
            <a:ext cx="3794759" cy="256032"/>
          </a:xfrm>
          <a:prstGeom prst="rect">
            <a:avLst/>
          </a:prstGeom>
          <a:noFill/>
        </p:spPr>
        <p:txBody>
          <a:bodyPr wrap="square" lIns="0" rIns="0" tIns="0" bIns="0" anchor="t">
            <a:spAutoFit/>
          </a:bodyPr>
          <a:lstStyle/>
          <a:p>
            <a:pPr algn="l">
              <a:lnSpc>
                <a:spcPct val="100000"/>
              </a:lnSpc>
              <a:spcAft>
                <a:spcPts val="400"/>
              </a:spcAft>
            </a:pPr>
            <a:r>
              <a:rPr sz="1140" b="1">
                <a:solidFill>
                  <a:srgbClr val="1A2433"/>
                </a:solidFill>
                <a:latin typeface="Segoe UI Semibold"/>
              </a:rPr>
              <a:t>Why this is not a dead end</a:t>
            </a:r>
          </a:p>
        </p:txBody>
      </p:sp>
      <p:sp>
        <p:nvSpPr>
          <p:cNvPr id="50" name="TextBox 49"/>
          <p:cNvSpPr txBox="1"/>
          <p:nvPr/>
        </p:nvSpPr>
        <p:spPr>
          <a:xfrm>
            <a:off x="7726679" y="3950208"/>
            <a:ext cx="3794759" cy="768096"/>
          </a:xfrm>
          <a:prstGeom prst="rect">
            <a:avLst/>
          </a:prstGeom>
          <a:noFill/>
        </p:spPr>
        <p:txBody>
          <a:bodyPr wrap="square" lIns="0" rIns="0" tIns="0" bIns="0" anchor="t">
            <a:spAutoFit/>
          </a:bodyPr>
          <a:lstStyle/>
          <a:p>
            <a:pPr algn="l">
              <a:lnSpc>
                <a:spcPct val="105000"/>
              </a:lnSpc>
              <a:spcAft>
                <a:spcPts val="400"/>
              </a:spcAft>
            </a:pPr>
            <a:r>
              <a:rPr sz="940" b="0">
                <a:solidFill>
                  <a:srgbClr val="5C6B7A"/>
                </a:solidFill>
                <a:latin typeface="Segoe UI"/>
              </a:rPr>
              <a:t>This is exactly the case for per-patient training (slide 3). The motor encoders supply ground truth for free, so the hand calibrates on its own user instead of depending on a stranger's forearm.</a:t>
            </a:r>
          </a:p>
        </p:txBody>
      </p:sp>
      <p:sp>
        <p:nvSpPr>
          <p:cNvPr id="51" name="Rounded Rectangle 50"/>
          <p:cNvSpPr/>
          <p:nvPr/>
        </p:nvSpPr>
        <p:spPr>
          <a:xfrm>
            <a:off x="7498079" y="4919472"/>
            <a:ext cx="4206240" cy="347472"/>
          </a:xfrm>
          <a:prstGeom prst="roundRect">
            <a:avLst>
              <a:gd name="adj" fmla="val 6000"/>
            </a:avLst>
          </a:prstGeom>
          <a:solidFill>
            <a:srgbClr val="FFFFFF"/>
          </a:solidFill>
          <a:ln w="1270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699248" y="4919472"/>
            <a:ext cx="3840480" cy="347472"/>
          </a:xfrm>
          <a:prstGeom prst="rect">
            <a:avLst/>
          </a:prstGeom>
          <a:noFill/>
        </p:spPr>
        <p:txBody>
          <a:bodyPr wrap="square" lIns="0" rIns="0" tIns="0" bIns="0" anchor="ctr">
            <a:spAutoFit/>
          </a:bodyPr>
          <a:lstStyle/>
          <a:p>
            <a:pPr algn="l">
              <a:lnSpc>
                <a:spcPct val="100000"/>
              </a:lnSpc>
              <a:spcAft>
                <a:spcPts val="400"/>
              </a:spcAft>
            </a:pPr>
            <a:r>
              <a:rPr sz="890" b="1">
                <a:solidFill>
                  <a:srgbClr val="1A2433"/>
                </a:solidFill>
                <a:latin typeface="Segoe UI Semibold"/>
              </a:rPr>
              <a:t>Regression too:  </a:t>
            </a:r>
            <a:r>
              <a:rPr sz="890" b="0">
                <a:solidFill>
                  <a:srgbClr val="5C6B7A"/>
                </a:solidFill>
                <a:latin typeface="Segoe UI"/>
              </a:rPr>
              <a:t>R² 0.85 → 0.03 on an unseen subject (Zenodo).</a:t>
            </a:r>
          </a:p>
        </p:txBody>
      </p:sp>
      <p:sp>
        <p:nvSpPr>
          <p:cNvPr id="53" name="Rectangle 52"/>
          <p:cNvSpPr/>
          <p:nvPr/>
        </p:nvSpPr>
        <p:spPr>
          <a:xfrm>
            <a:off x="502920" y="5358384"/>
            <a:ext cx="11201400" cy="987552"/>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31520" y="5458968"/>
            <a:ext cx="10744200" cy="274320"/>
          </a:xfrm>
          <a:prstGeom prst="rect">
            <a:avLst/>
          </a:prstGeom>
          <a:noFill/>
        </p:spPr>
        <p:txBody>
          <a:bodyPr wrap="square" lIns="0" rIns="0" tIns="0" bIns="0" anchor="t">
            <a:spAutoFit/>
          </a:bodyPr>
          <a:lstStyle/>
          <a:p>
            <a:pPr algn="l">
              <a:lnSpc>
                <a:spcPct val="100000"/>
              </a:lnSpc>
              <a:spcAft>
                <a:spcPts val="400"/>
              </a:spcAft>
            </a:pPr>
            <a:r>
              <a:rPr sz="1120" b="1">
                <a:solidFill>
                  <a:srgbClr val="F2A01E"/>
                </a:solidFill>
                <a:latin typeface="Segoe UI Semibold"/>
              </a:rPr>
              <a:t>What we claim — and what we do not</a:t>
            </a:r>
          </a:p>
        </p:txBody>
      </p:sp>
      <p:sp>
        <p:nvSpPr>
          <p:cNvPr id="55" name="TextBox 54"/>
          <p:cNvSpPr txBox="1"/>
          <p:nvPr/>
        </p:nvSpPr>
        <p:spPr>
          <a:xfrm>
            <a:off x="731520" y="5742432"/>
            <a:ext cx="10744200" cy="512064"/>
          </a:xfrm>
          <a:prstGeom prst="rect">
            <a:avLst/>
          </a:prstGeom>
          <a:noFill/>
        </p:spPr>
        <p:txBody>
          <a:bodyPr wrap="square" lIns="0" rIns="0" tIns="0" bIns="0" anchor="t">
            <a:spAutoFit/>
          </a:bodyPr>
          <a:lstStyle/>
          <a:p>
            <a:pPr algn="l">
              <a:lnSpc>
                <a:spcPct val="112000"/>
              </a:lnSpc>
              <a:spcAft>
                <a:spcPts val="400"/>
              </a:spcAft>
            </a:pPr>
            <a:r>
              <a:rPr sz="940" b="0">
                <a:solidFill>
                  <a:srgbClr val="CFE0F0"/>
                </a:solidFill>
                <a:latin typeface="Segoe UI"/>
              </a:rPr>
              <a:t>We claim a real-time model that learns an individual subject's FMG signal well on published open data, and runs inside the hand's time and power budget. We do not claim a plug-and-play model that works on an unseen arm out of the box — no published FMG model does — and we have not yet collected data from our own patients. The per-patient calibration step is where that happens, and it is the engineering answer to this limit, not a workaround for it.</a:t>
            </a:r>
          </a:p>
        </p:txBody>
      </p:sp>
      <p:sp>
        <p:nvSpPr>
          <p:cNvPr id="56" name="TextBox 55"/>
          <p:cNvSpPr txBox="1"/>
          <p:nvPr/>
        </p:nvSpPr>
        <p:spPr>
          <a:xfrm>
            <a:off x="502920" y="6437376"/>
            <a:ext cx="7315200" cy="274320"/>
          </a:xfrm>
          <a:prstGeom prst="rect">
            <a:avLst/>
          </a:prstGeom>
          <a:noFill/>
        </p:spPr>
        <p:txBody>
          <a:bodyPr wrap="square" lIns="0" rIns="0" tIns="0" bIns="0" anchor="ctr">
            <a:spAutoFit/>
          </a:bodyPr>
          <a:lstStyle/>
          <a:p>
            <a:pPr algn="l">
              <a:lnSpc>
                <a:spcPct val="100000"/>
              </a:lnSpc>
              <a:spcAft>
                <a:spcPts val="400"/>
              </a:spcAft>
            </a:pPr>
            <a:r>
              <a:rPr sz="900" b="0">
                <a:solidFill>
                  <a:srgbClr val="5C6B7A"/>
                </a:solidFill>
                <a:latin typeface="Segoe UI"/>
              </a:rPr>
              <a:t>JoTouch — Technical Brief · Sensing, Control &amp; AI</a:t>
            </a:r>
          </a:p>
        </p:txBody>
      </p:sp>
      <p:sp>
        <p:nvSpPr>
          <p:cNvPr id="57" name="TextBox 56"/>
          <p:cNvSpPr txBox="1"/>
          <p:nvPr/>
        </p:nvSpPr>
        <p:spPr>
          <a:xfrm>
            <a:off x="10241280" y="6437376"/>
            <a:ext cx="1463040" cy="274320"/>
          </a:xfrm>
          <a:prstGeom prst="rect">
            <a:avLst/>
          </a:prstGeom>
          <a:noFill/>
        </p:spPr>
        <p:txBody>
          <a:bodyPr wrap="square" lIns="0" rIns="0" tIns="0" bIns="0" anchor="ctr">
            <a:spAutoFit/>
          </a:bodyPr>
          <a:lstStyle/>
          <a:p>
            <a:pPr algn="r">
              <a:lnSpc>
                <a:spcPct val="100000"/>
              </a:lnSpc>
              <a:spcAft>
                <a:spcPts val="400"/>
              </a:spcAft>
            </a:pPr>
            <a:r>
              <a:rPr sz="900" b="1">
                <a:solidFill>
                  <a:srgbClr val="5C6B7A"/>
                </a:solidFill>
                <a:latin typeface="Segoe UI Semibold"/>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