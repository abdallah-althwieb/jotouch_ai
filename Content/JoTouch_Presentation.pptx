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al Black" panose="020B0A0402010202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Zug5LjdVpvdAm9r9DTZCypJqE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عبدالله الذويب" userId="083c11e844da292c" providerId="LiveId" clId="{6BA86BBC-528E-48E2-A1DF-53952A269DED}"/>
    <pc:docChg chg="modSld sldOrd">
      <pc:chgData name="عبدالله الذويب" userId="083c11e844da292c" providerId="LiveId" clId="{6BA86BBC-528E-48E2-A1DF-53952A269DED}" dt="2026-02-01T19:07:32.714" v="3"/>
      <pc:docMkLst>
        <pc:docMk/>
      </pc:docMkLst>
      <pc:sldChg chg="ord modNotes">
        <pc:chgData name="عبدالله الذويب" userId="083c11e844da292c" providerId="LiveId" clId="{6BA86BBC-528E-48E2-A1DF-53952A269DED}" dt="2026-02-01T19:07:23.307" v="1"/>
        <pc:sldMkLst>
          <pc:docMk/>
          <pc:sldMk cId="0" sldId="263"/>
        </pc:sldMkLst>
      </pc:sldChg>
      <pc:sldChg chg="ord modNotes">
        <pc:chgData name="عبدالله الذويب" userId="083c11e844da292c" providerId="LiveId" clId="{6BA86BBC-528E-48E2-A1DF-53952A269DED}" dt="2026-02-01T19:07:32.714" v="3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8" name="Google Shape;4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5" y="-66145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09447" y="1852378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JoTouch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33400" y="3108959"/>
            <a:ext cx="1128811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Continuous-Control Prosthetic Hand with Sensory Feedback</a:t>
            </a:r>
            <a:endParaRPr sz="2700" b="0" i="0" u="none" strike="noStrike" cap="none">
              <a:solidFill>
                <a:srgbClr val="02C3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6309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KAFD Research &amp; Innovation Fund  |  February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775797" y="3616750"/>
            <a:ext cx="46401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AEEF3"/>
                </a:solidFill>
                <a:latin typeface="Calibri"/>
                <a:ea typeface="Calibri"/>
                <a:cs typeface="Calibri"/>
                <a:sym typeface="Calibri"/>
              </a:rPr>
              <a:t>Jordan-built, region-ready</a:t>
            </a:r>
            <a:endParaRPr sz="2400" b="0" i="0" u="none" strike="noStrike" cap="none">
              <a:solidFill>
                <a:srgbClr val="DAEE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941652" y="1629852"/>
            <a:ext cx="5573948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941653" y="1749117"/>
            <a:ext cx="557394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High Demand, not Obtainable for most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507788" y="1645920"/>
            <a:ext cx="2743200" cy="16459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507788" y="1725854"/>
            <a:ext cx="2743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$15K-50K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507788" y="26060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 of advanced prosthetics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05840" y="36576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371600" y="3703321"/>
            <a:ext cx="9144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Conventional myoelectric control is mostly discrete: select a grip, then execute.</a:t>
            </a:r>
            <a:endParaRPr sz="1800" b="0" i="0" u="none" strike="noStrike" cap="none">
              <a:solidFill>
                <a:srgbClr val="2D3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05840" y="4251939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71600" y="4295894"/>
            <a:ext cx="9144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EMG sensors are affected by sweat, noise, and skin impedance, alongside being expensive. 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05840" y="46836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371600" y="4727555"/>
            <a:ext cx="9144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Meaningful tactile/proprioceptive feedback is still limited in most commercial systems</a:t>
            </a:r>
            <a:endParaRPr sz="1800" b="0" i="0" u="none" strike="noStrike" cap="none">
              <a:solidFill>
                <a:srgbClr val="2D3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20029" y="51408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385789" y="5160151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Complex systems are harder to maintain: a small fault can require expert diagnostics and assembly-level replacement.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Our Solution: JoTouch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85800" y="1371600"/>
            <a:ext cx="5029200" cy="4846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Nervous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14400" y="21031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distributed 'Brain-Spine' architecture using ROS 2 that mimics the biological nervous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14400" y="3291840"/>
            <a:ext cx="4572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→  Force Myography (FMG) sensing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14400" y="3840480"/>
            <a:ext cx="4572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 ML-powered intent prediction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914400" y="4389120"/>
            <a:ext cx="4572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 Real-time sensory feedback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14400" y="4937760"/>
            <a:ext cx="4572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 Modular, light-weight, repairable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035040" y="1554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400800" y="1463040"/>
            <a:ext cx="5029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Natural Control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400800" y="1828800"/>
            <a:ext cx="5029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Grip velocity and aperture are proportional to detected muscle effort</a:t>
            </a:r>
            <a:endParaRPr sz="14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35040" y="25146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“Human” Feel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Temperature and pressure feedback to residual limb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035040" y="34747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Affordable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400800" y="3749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Fraction of commercial prosthetic costs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035040" y="443484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400800" y="43434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Durable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Silicone-protected, modular replaceable parts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035040" y="53949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ROS 2 framework adapts to different limb types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1417" y="1188720"/>
            <a:ext cx="6488860" cy="52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Specifications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85800" y="1371600"/>
            <a:ext cx="53035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85800" y="14630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Performance Targets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9144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Degrees of Freedom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474720" y="201168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Multi-Degree of Freedom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14400" y="2606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Control Latency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474720" y="2606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&lt; 100ms target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914400" y="32004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Intent Accuracy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 90% target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1440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Operating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34747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8+ hours daily 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914400" y="4389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Weight Target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3474720" y="438912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&lt; 700g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72200" y="1371600"/>
            <a:ext cx="53035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6172200" y="14630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System Specifications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896112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Teensy 4.1 + RPi Zero 2 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400800" y="2606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8961120" y="2606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UART / micro-ROS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400800" y="32004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961120" y="3200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2S 18650 Li-ion (7.4V)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400800" y="3794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Sensing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961120" y="3794760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FMG , BMP388 + Temp Input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400800" y="4389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961120" y="4389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ROS 2 + TensorFlow Lite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85800" y="5212080"/>
            <a:ext cx="10789920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Sensory Feedback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Pressure sensors on fingertips → Servo-driven rubber band on residual limb  |  Temperature sensors → Heating pad feedback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Development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038165" y="1698143"/>
            <a:ext cx="8229600" cy="19065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763845" y="151927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763845" y="160019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188720" y="2285999"/>
            <a:ext cx="1835106" cy="356300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280159" y="2377440"/>
            <a:ext cx="16515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Digital Twin &amp; Simulation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1188719" y="3200400"/>
            <a:ext cx="1828169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Establish micro-ROS bridge, build virtual model in RViz/MoveIt, validate algorithms risk-free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84085" y="151927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684085" y="160019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108960" y="2285999"/>
            <a:ext cx="1835106" cy="356300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3200399" y="2377440"/>
            <a:ext cx="16515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Collection &amp; Assembly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108961" y="3200400"/>
            <a:ext cx="182816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Fabricate mechanical structure, integrate FMG sensors, develop data recorder node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604325" y="151927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5604325" y="160019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029200" y="2285999"/>
            <a:ext cx="1835106" cy="356300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120639" y="2377440"/>
            <a:ext cx="16515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Training &amp; Optimization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5029199" y="3200400"/>
            <a:ext cx="1828168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ML models (regression/neural networks), tune PID controllers for fluid motion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524565" y="151927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7524565" y="160019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949440" y="2285999"/>
            <a:ext cx="1835106" cy="356300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040879" y="2377440"/>
            <a:ext cx="165159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Embedded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6949439" y="3200400"/>
            <a:ext cx="174303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Quantize AI model, flash to RP PI with TensorFlow Lite, standalone operation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9444805" y="151927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9444805" y="1609567"/>
            <a:ext cx="54864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869680" y="2285999"/>
            <a:ext cx="1835106" cy="356300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961119" y="2377440"/>
            <a:ext cx="1651595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Clinical Validation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8869681" y="3200400"/>
            <a:ext cx="1835106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latency (&lt;100ms), accuracy (&gt;90%), comfort, and easy to use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Innovations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85800" y="137160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85800" y="137160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1508760" y="1645920"/>
            <a:ext cx="2377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FMG over EMG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914400" y="2377440"/>
            <a:ext cx="29260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Noise-resistant, no gels, reliable long-term use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206240" y="137160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206240" y="137160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434840" y="16002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4434840" y="16459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5029200" y="164592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Regression ML Control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4434840" y="2377440"/>
            <a:ext cx="2926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Continuous proportional control, not discrete gestures (Classifiers)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26679" y="137160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26679" y="137160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955279" y="16002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7955279" y="16459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8549640" y="1645920"/>
            <a:ext cx="23774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Brain-Spine Architecture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955279" y="2377440"/>
            <a:ext cx="2926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Decoupled processing with micro-ROS for safety reflexes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85800" y="393192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85800" y="393192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914400" y="42062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1508760" y="4206240"/>
            <a:ext cx="2377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914400" y="493776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in simulation, deploy safely to hardware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206240" y="393192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206240" y="393192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434840" y="41605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4434840" y="42062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5029200" y="4206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Sensory Feedback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4434840" y="4937760"/>
            <a:ext cx="2926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Temperature + pressure sensing with feedback to the user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726679" y="3931920"/>
            <a:ext cx="3383280" cy="228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726679" y="3931920"/>
            <a:ext cx="91440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7955279" y="41605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7955279" y="42062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8549640" y="4206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Modular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7955279" y="4937760"/>
            <a:ext cx="292608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Replace broken parts. A combination of high-strength polymers and a silicone skin to maintain the safety of the internal components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Market Potential &amp; Scalability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85800" y="1371600"/>
            <a:ext cx="50292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85800" y="1371600"/>
            <a:ext cx="9144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Individual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914400" y="182880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Affordable prosthetics for amputees who can't access expensive commercial solutions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85800" y="2423160"/>
            <a:ext cx="50292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685800" y="2423160"/>
            <a:ext cx="9144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Healthcare Partners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914400" y="28803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Partnerships with healthcare providers for coverage programs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85800" y="3474720"/>
            <a:ext cx="50292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85800" y="3474720"/>
            <a:ext cx="9144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MENA Expansion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914400" y="3931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Huge underserved market in developing regions with limited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85800" y="4526279"/>
            <a:ext cx="5029200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685800" y="4526279"/>
            <a:ext cx="9144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914400" y="461771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Product Variations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914400" y="4983479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ROS 2 framework enables rapid adaptation for different limb types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172200" y="1371600"/>
            <a:ext cx="5303520" cy="47548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6400800" y="15544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Jordan?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6583680" y="22860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Limited local prosthetic development companies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6583680" y="29260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High import costs make foreign solutions unaffordable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6583680" y="35661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Strategic location for MENA market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6583680" y="42062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Growing medical technology ecosystem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6583680" y="4846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First-mover advantage in affordable bionics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6400800" y="54864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Edge: Quality of advanced prosthetics at a fraction of the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Timeline (7 Months)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3200400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480560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5760720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040879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8321040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9601200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0881359" y="1371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57200" y="1920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1: Simulation &amp; Digital Twin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246120" y="2011680"/>
            <a:ext cx="2468879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457200" y="2514600"/>
            <a:ext cx="27432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2: Hardware Assembly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26280" y="2606040"/>
            <a:ext cx="3749039" cy="32004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457200" y="31089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3: Data Collection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806440" y="3200400"/>
            <a:ext cx="2468879" cy="32004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457200" y="3703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4: AI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7086599" y="3794760"/>
            <a:ext cx="2468879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5: Embedded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366760" y="4389120"/>
            <a:ext cx="2468879" cy="3200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457200" y="48920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6: Integration &amp; Testing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646920" y="4983479"/>
            <a:ext cx="2468879" cy="320040"/>
          </a:xfrm>
          <a:prstGeom prst="rect">
            <a:avLst/>
          </a:prstGeom>
          <a:solidFill>
            <a:srgbClr val="21295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Phase 7: Clinical Validation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0927080" y="5577840"/>
            <a:ext cx="1188719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85800" y="56692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Milestones: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685800" y="6035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◆ M2: Working simulation demo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3520440" y="6035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◆ M4: First hardware prototype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355080" y="6035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◆ M5: Trained ML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9189720" y="6035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◆ M7: Clinical-ready prototype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94360" y="877824"/>
            <a:ext cx="5715000" cy="3200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1481" y="246887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914400" y="2423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Proposed Budget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594360" y="87782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 / 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4297680" y="87782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5212080" y="87782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(JOD)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94360" y="1243583"/>
            <a:ext cx="5715000" cy="29260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685800" y="1261871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Processing Units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685800" y="15636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Teensy 4.1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4297680" y="15636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685800" y="1819655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Raspberry Pi Zero 2 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4297680" y="1819655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594360" y="2075688"/>
            <a:ext cx="5715000" cy="29260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685800" y="20939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Motor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685800" y="23957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BLDC Gimbal Motors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4297680" y="23957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5212080" y="23957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685800" y="26517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SimpleFOC Mini Drivers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4297680" y="2651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5212080" y="26517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685800" y="290779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AS5600 Encoders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4297680" y="29077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5212080" y="290779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94360" y="3163824"/>
            <a:ext cx="5715000" cy="29260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685800" y="3182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685800" y="34838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FSR 402 (FMG)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 txBox="1"/>
          <p:nvPr/>
        </p:nvSpPr>
        <p:spPr>
          <a:xfrm>
            <a:off x="4297680" y="34838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 txBox="1"/>
          <p:nvPr/>
        </p:nvSpPr>
        <p:spPr>
          <a:xfrm>
            <a:off x="685800" y="37398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BMP388 Pressure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4297680" y="37398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 txBox="1"/>
          <p:nvPr/>
        </p:nvSpPr>
        <p:spPr>
          <a:xfrm>
            <a:off x="685800" y="39959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DS18B20 Temperature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4297680" y="39959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5212080" y="355701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685800" y="4251960"/>
            <a:ext cx="34747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TCA9548A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4297680" y="4251960"/>
            <a:ext cx="9144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94360" y="4507992"/>
            <a:ext cx="5715000" cy="29260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Power &amp; Misc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685800" y="48280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18650 Cells + BMS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4297680" y="482803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 txBox="1"/>
          <p:nvPr/>
        </p:nvSpPr>
        <p:spPr>
          <a:xfrm>
            <a:off x="685800" y="50840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Voltage Regulators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 txBox="1"/>
          <p:nvPr/>
        </p:nvSpPr>
        <p:spPr>
          <a:xfrm>
            <a:off x="4297680" y="50840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685800" y="53400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Wiring &amp; Connectors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 txBox="1"/>
          <p:nvPr/>
        </p:nvSpPr>
        <p:spPr>
          <a:xfrm>
            <a:off x="4297680" y="53400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94360" y="5596128"/>
            <a:ext cx="5715000" cy="292608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685800" y="56144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Fabrication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685800" y="591616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3D Printing / Materials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4297680" y="59161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685800" y="6172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PCB Fabrication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4297680" y="61722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685800" y="6428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  Silicone Skin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4297680" y="642823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9585655" y="5116068"/>
            <a:ext cx="2286000" cy="18288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9585655" y="520750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Subtotal: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 txBox="1"/>
          <p:nvPr/>
        </p:nvSpPr>
        <p:spPr>
          <a:xfrm>
            <a:off x="10774375" y="5207508"/>
            <a:ext cx="10972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9585655" y="552754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Contingency (15%):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 txBox="1"/>
          <p:nvPr/>
        </p:nvSpPr>
        <p:spPr>
          <a:xfrm>
            <a:off x="10774375" y="5527548"/>
            <a:ext cx="10972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9677095" y="6295644"/>
            <a:ext cx="228600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 txBox="1"/>
          <p:nvPr/>
        </p:nvSpPr>
        <p:spPr>
          <a:xfrm>
            <a:off x="9677095" y="63596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10682935" y="6359652"/>
            <a:ext cx="11887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Budget Distribution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858000" y="2011680"/>
            <a:ext cx="1687068" cy="3657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6858000" y="246888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Motor System: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6858000" y="2834640"/>
            <a:ext cx="1152144" cy="36576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6858000" y="329184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Fabrication: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858000" y="3657600"/>
            <a:ext cx="576072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6858000" y="411480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Sensors: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6858000" y="4480560"/>
            <a:ext cx="411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6858000" y="493776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Power &amp; Misc: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6858000" y="5303520"/>
            <a:ext cx="246888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 txBox="1"/>
          <p:nvPr/>
        </p:nvSpPr>
        <p:spPr>
          <a:xfrm>
            <a:off x="6858000" y="5760720"/>
            <a:ext cx="45720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D3A4A"/>
                </a:solidFill>
                <a:latin typeface="Calibri"/>
                <a:ea typeface="Calibri"/>
                <a:cs typeface="Calibri"/>
                <a:sym typeface="Calibri"/>
              </a:rPr>
              <a:t>Processing: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"/>
          <p:cNvSpPr/>
          <p:nvPr/>
        </p:nvSpPr>
        <p:spPr>
          <a:xfrm>
            <a:off x="161" y="0"/>
            <a:ext cx="1219170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85800" y="548640"/>
            <a:ext cx="109728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823300" y="626765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297425" y="1615515"/>
            <a:ext cx="3028500" cy="428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2294845" y="1668096"/>
            <a:ext cx="1101300" cy="12858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1331263" y="3006590"/>
            <a:ext cx="302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Issa Abdullah — Team Lead</a:t>
            </a:r>
            <a:endParaRPr sz="1600" b="1" i="0" u="none" strike="noStrike" cap="non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581580" y="1611000"/>
            <a:ext cx="3028500" cy="428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545159" y="1663582"/>
            <a:ext cx="1101300" cy="12858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4581578" y="3002027"/>
            <a:ext cx="302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Mohammed Al Khateeb</a:t>
            </a:r>
            <a:endParaRPr sz="1600" b="1" i="0" u="none" strike="noStrike" cap="non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7831894" y="1611000"/>
            <a:ext cx="3028500" cy="428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8829657" y="1663582"/>
            <a:ext cx="1101300" cy="128580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7866076" y="3002027"/>
            <a:ext cx="302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Abdullah Al Thwieb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7865733" y="3804013"/>
            <a:ext cx="2994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 &amp; 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intent decoding (regression)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pipeline, testing &amp; tooling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Embedded/ROS2 software support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4547398" y="3804058"/>
            <a:ext cx="3062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&amp; Benchmarking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Literature tracking &amp; state-of-the-art updates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 + user needs synthesis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benchmarking &amp; evaluation metrics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1331261" y="3782129"/>
            <a:ext cx="29070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Integration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Planning, milestones, and team coordination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ROS2 architecture &amp; integration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Mechanical design &amp; prototyping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1235398" y="6128391"/>
            <a:ext cx="972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Faculty Advisor: Dr. Mohammad Khrisat | Department of Mechatronics Engineering, BAU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685800" y="2011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685800" y="4114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685800" y="5029200"/>
            <a:ext cx="109728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Contact: [issaterawi132@gmail.com] | AlBalqa Applied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685800" y="6309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JoTouch  |  KAFD Research &amp; Innovation Fund  |  February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شاشة عريضة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6" baseType="lpstr">
      <vt:lpstr>Arial</vt:lpstr>
      <vt:lpstr>Calibri</vt:lpstr>
      <vt:lpstr>Arial Black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عبدالله الذويب</cp:lastModifiedBy>
  <cp:revision>1</cp:revision>
  <dcterms:created xsi:type="dcterms:W3CDTF">2013-01-27T09:14:16Z</dcterms:created>
  <dcterms:modified xsi:type="dcterms:W3CDTF">2026-02-01T19:07:33Z</dcterms:modified>
</cp:coreProperties>
</file>