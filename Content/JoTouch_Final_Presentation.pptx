
<file path=[Content_Types].xml><?xml version="1.0" encoding="utf-8"?>
<Types xmlns="http://schemas.openxmlformats.org/package/2006/content-types">
  <Default Extension="fntdata" ContentType="application/x-fontdata"/>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4"/>
  </p:notesMasterIdLst>
  <p:sldIdLst>
    <p:sldId id="256" r:id="rId2"/>
    <p:sldId id="257" r:id="rId3"/>
    <p:sldId id="261" r:id="rId4"/>
    <p:sldId id="262" r:id="rId5"/>
    <p:sldId id="263" r:id="rId6"/>
    <p:sldId id="264" r:id="rId7"/>
    <p:sldId id="279" r:id="rId8"/>
    <p:sldId id="282" r:id="rId9"/>
    <p:sldId id="259" r:id="rId10"/>
    <p:sldId id="276" r:id="rId11"/>
    <p:sldId id="260" r:id="rId12"/>
    <p:sldId id="273" r:id="rId13"/>
    <p:sldId id="265" r:id="rId14"/>
    <p:sldId id="280" r:id="rId15"/>
    <p:sldId id="281" r:id="rId16"/>
    <p:sldId id="274" r:id="rId17"/>
    <p:sldId id="275" r:id="rId18"/>
    <p:sldId id="277" r:id="rId19"/>
    <p:sldId id="278" r:id="rId20"/>
    <p:sldId id="266" r:id="rId21"/>
    <p:sldId id="267" r:id="rId22"/>
    <p:sldId id="272" r:id="rId23"/>
  </p:sldIdLst>
  <p:sldSz cx="18288000" cy="10287000"/>
  <p:notesSz cx="10287000" cy="18288000"/>
  <p:embeddedFontLst>
    <p:embeddedFont>
      <p:font typeface="Archivo Black"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139AEC-C8AD-4973-9510-847158ABB0B0}" v="18" dt="2026-09-03T07:28:45.8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50" d="100"/>
          <a:sy n="50" d="100"/>
        </p:scale>
        <p:origin x="970"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عبدالله الذويب" userId="083c11e844da292c" providerId="LiveId" clId="{6BA86BBC-528E-48E2-A1DF-53952A269DED}"/>
    <pc:docChg chg="undo custSel addSld delSld modSld sldOrd delMainMaster">
      <pc:chgData name="عبدالله الذويب" userId="083c11e844da292c" providerId="LiveId" clId="{6BA86BBC-528E-48E2-A1DF-53952A269DED}" dt="2026-09-03T07:29:02.588" v="193"/>
      <pc:docMkLst>
        <pc:docMk/>
      </pc:docMkLst>
      <pc:sldChg chg="addSp delSp modSp mod">
        <pc:chgData name="عبدالله الذويب" userId="083c11e844da292c" providerId="LiveId" clId="{6BA86BBC-528E-48E2-A1DF-53952A269DED}" dt="2026-09-03T07:29:02.588" v="193"/>
        <pc:sldMkLst>
          <pc:docMk/>
          <pc:sldMk cId="0" sldId="256"/>
        </pc:sldMkLst>
        <pc:spChg chg="add del mod">
          <ac:chgData name="عبدالله الذويب" userId="083c11e844da292c" providerId="LiveId" clId="{6BA86BBC-528E-48E2-A1DF-53952A269DED}" dt="2026-09-03T07:29:02.588" v="193"/>
          <ac:spMkLst>
            <pc:docMk/>
            <pc:sldMk cId="0" sldId="256"/>
            <ac:spMk id="2" creationId="{A657517A-688C-2373-F163-A33566DBAFD5}"/>
          </ac:spMkLst>
        </pc:spChg>
        <pc:spChg chg="del">
          <ac:chgData name="عبدالله الذويب" userId="083c11e844da292c" providerId="LiveId" clId="{6BA86BBC-528E-48E2-A1DF-53952A269DED}" dt="2026-09-03T05:55:06.404" v="1" actId="478"/>
          <ac:spMkLst>
            <pc:docMk/>
            <pc:sldMk cId="0" sldId="256"/>
            <ac:spMk id="8" creationId="{00000000-0000-0000-0000-000000000000}"/>
          </ac:spMkLst>
        </pc:spChg>
        <pc:spChg chg="del">
          <ac:chgData name="عبدالله الذويب" userId="083c11e844da292c" providerId="LiveId" clId="{6BA86BBC-528E-48E2-A1DF-53952A269DED}" dt="2026-09-03T05:54:59.157" v="0" actId="478"/>
          <ac:spMkLst>
            <pc:docMk/>
            <pc:sldMk cId="0" sldId="256"/>
            <ac:spMk id="9" creationId="{00000000-0000-0000-0000-000000000000}"/>
          </ac:spMkLst>
        </pc:spChg>
        <pc:spChg chg="del">
          <ac:chgData name="عبدالله الذويب" userId="083c11e844da292c" providerId="LiveId" clId="{6BA86BBC-528E-48E2-A1DF-53952A269DED}" dt="2026-09-03T05:55:10.923" v="2" actId="478"/>
          <ac:spMkLst>
            <pc:docMk/>
            <pc:sldMk cId="0" sldId="256"/>
            <ac:spMk id="10" creationId="{00000000-0000-0000-0000-000000000000}"/>
          </ac:spMkLst>
        </pc:spChg>
        <pc:spChg chg="del">
          <ac:chgData name="عبدالله الذويب" userId="083c11e844da292c" providerId="LiveId" clId="{6BA86BBC-528E-48E2-A1DF-53952A269DED}" dt="2026-09-03T05:55:14.240" v="3" actId="478"/>
          <ac:spMkLst>
            <pc:docMk/>
            <pc:sldMk cId="0" sldId="256"/>
            <ac:spMk id="11" creationId="{00000000-0000-0000-0000-000000000000}"/>
          </ac:spMkLst>
        </pc:spChg>
        <pc:spChg chg="mod">
          <ac:chgData name="عبدالله الذويب" userId="083c11e844da292c" providerId="LiveId" clId="{6BA86BBC-528E-48E2-A1DF-53952A269DED}" dt="2026-09-03T05:55:23.523" v="38" actId="20577"/>
          <ac:spMkLst>
            <pc:docMk/>
            <pc:sldMk cId="0" sldId="256"/>
            <ac:spMk id="13" creationId="{00000000-0000-0000-0000-000000000000}"/>
          </ac:spMkLst>
        </pc:spChg>
        <pc:spChg chg="mod">
          <ac:chgData name="عبدالله الذويب" userId="083c11e844da292c" providerId="LiveId" clId="{6BA86BBC-528E-48E2-A1DF-53952A269DED}" dt="2026-09-03T07:28:59.658" v="191" actId="20577"/>
          <ac:spMkLst>
            <pc:docMk/>
            <pc:sldMk cId="0" sldId="256"/>
            <ac:spMk id="15" creationId="{00000000-0000-0000-0000-000000000000}"/>
          </ac:spMkLst>
        </pc:spChg>
        <pc:spChg chg="mod">
          <ac:chgData name="عبدالله الذويب" userId="083c11e844da292c" providerId="LiveId" clId="{6BA86BBC-528E-48E2-A1DF-53952A269DED}" dt="2026-09-03T05:55:36.287" v="42" actId="20577"/>
          <ac:spMkLst>
            <pc:docMk/>
            <pc:sldMk cId="0" sldId="256"/>
            <ac:spMk id="16" creationId="{00000000-0000-0000-0000-000000000000}"/>
          </ac:spMkLst>
        </pc:spChg>
      </pc:sldChg>
      <pc:sldChg chg="delSp mod">
        <pc:chgData name="عبدالله الذويب" userId="083c11e844da292c" providerId="LiveId" clId="{6BA86BBC-528E-48E2-A1DF-53952A269DED}" dt="2026-09-03T05:58:55.420" v="61" actId="478"/>
        <pc:sldMkLst>
          <pc:docMk/>
          <pc:sldMk cId="0" sldId="257"/>
        </pc:sldMkLst>
        <pc:spChg chg="del">
          <ac:chgData name="عبدالله الذويب" userId="083c11e844da292c" providerId="LiveId" clId="{6BA86BBC-528E-48E2-A1DF-53952A269DED}" dt="2026-09-03T05:58:55.420" v="61" actId="478"/>
          <ac:spMkLst>
            <pc:docMk/>
            <pc:sldMk cId="0" sldId="257"/>
            <ac:spMk id="27" creationId="{00000000-0000-0000-0000-000000000000}"/>
          </ac:spMkLst>
        </pc:spChg>
        <pc:spChg chg="del">
          <ac:chgData name="عبدالله الذويب" userId="083c11e844da292c" providerId="LiveId" clId="{6BA86BBC-528E-48E2-A1DF-53952A269DED}" dt="2026-09-03T05:58:52.156" v="60" actId="478"/>
          <ac:spMkLst>
            <pc:docMk/>
            <pc:sldMk cId="0" sldId="257"/>
            <ac:spMk id="28" creationId="{00000000-0000-0000-0000-000000000000}"/>
          </ac:spMkLst>
        </pc:spChg>
      </pc:sldChg>
      <pc:sldChg chg="del">
        <pc:chgData name="عبدالله الذويب" userId="083c11e844da292c" providerId="LiveId" clId="{6BA86BBC-528E-48E2-A1DF-53952A269DED}" dt="2026-09-03T05:56:12.240" v="43" actId="47"/>
        <pc:sldMkLst>
          <pc:docMk/>
          <pc:sldMk cId="0" sldId="258"/>
        </pc:sldMkLst>
      </pc:sldChg>
      <pc:sldChg chg="modSp mod ord">
        <pc:chgData name="عبدالله الذويب" userId="083c11e844da292c" providerId="LiveId" clId="{6BA86BBC-528E-48E2-A1DF-53952A269DED}" dt="2026-09-03T06:45:04.286" v="166"/>
        <pc:sldMkLst>
          <pc:docMk/>
          <pc:sldMk cId="0" sldId="259"/>
        </pc:sldMkLst>
        <pc:spChg chg="mod">
          <ac:chgData name="عبدالله الذويب" userId="083c11e844da292c" providerId="LiveId" clId="{6BA86BBC-528E-48E2-A1DF-53952A269DED}" dt="2026-09-03T06:42:46.618" v="131" actId="27636"/>
          <ac:spMkLst>
            <pc:docMk/>
            <pc:sldMk cId="0" sldId="259"/>
            <ac:spMk id="106" creationId="{00000000-0000-0000-0000-000000000000}"/>
          </ac:spMkLst>
        </pc:spChg>
      </pc:sldChg>
      <pc:sldChg chg="add">
        <pc:chgData name="عبدالله الذويب" userId="083c11e844da292c" providerId="LiveId" clId="{6BA86BBC-528E-48E2-A1DF-53952A269DED}" dt="2026-09-03T06:44:52.756" v="164"/>
        <pc:sldMkLst>
          <pc:docMk/>
          <pc:sldMk cId="0" sldId="260"/>
        </pc:sldMkLst>
      </pc:sldChg>
      <pc:sldChg chg="modSp mod">
        <pc:chgData name="عبدالله الذويب" userId="083c11e844da292c" providerId="LiveId" clId="{6BA86BBC-528E-48E2-A1DF-53952A269DED}" dt="2026-09-03T06:00:20.854" v="112" actId="20577"/>
        <pc:sldMkLst>
          <pc:docMk/>
          <pc:sldMk cId="0" sldId="261"/>
        </pc:sldMkLst>
        <pc:spChg chg="mod">
          <ac:chgData name="عبدالله الذويب" userId="083c11e844da292c" providerId="LiveId" clId="{6BA86BBC-528E-48E2-A1DF-53952A269DED}" dt="2026-09-03T05:59:44.223" v="96" actId="20577"/>
          <ac:spMkLst>
            <pc:docMk/>
            <pc:sldMk cId="0" sldId="261"/>
            <ac:spMk id="143" creationId="{00000000-0000-0000-0000-000000000000}"/>
          </ac:spMkLst>
        </pc:spChg>
        <pc:spChg chg="mod">
          <ac:chgData name="عبدالله الذويب" userId="083c11e844da292c" providerId="LiveId" clId="{6BA86BBC-528E-48E2-A1DF-53952A269DED}" dt="2026-09-03T06:00:20.854" v="112" actId="20577"/>
          <ac:spMkLst>
            <pc:docMk/>
            <pc:sldMk cId="0" sldId="261"/>
            <ac:spMk id="145" creationId="{00000000-0000-0000-0000-000000000000}"/>
          </ac:spMkLst>
        </pc:spChg>
      </pc:sldChg>
      <pc:sldChg chg="modSp mod ord">
        <pc:chgData name="عبدالله الذويب" userId="083c11e844da292c" providerId="LiveId" clId="{6BA86BBC-528E-48E2-A1DF-53952A269DED}" dt="2026-09-03T06:46:10.954" v="178" actId="27636"/>
        <pc:sldMkLst>
          <pc:docMk/>
          <pc:sldMk cId="0" sldId="265"/>
        </pc:sldMkLst>
        <pc:spChg chg="mod">
          <ac:chgData name="عبدالله الذويب" userId="083c11e844da292c" providerId="LiveId" clId="{6BA86BBC-528E-48E2-A1DF-53952A269DED}" dt="2026-09-03T06:46:10.954" v="178" actId="27636"/>
          <ac:spMkLst>
            <pc:docMk/>
            <pc:sldMk cId="0" sldId="265"/>
            <ac:spMk id="223" creationId="{00000000-0000-0000-0000-000000000000}"/>
          </ac:spMkLst>
        </pc:spChg>
      </pc:sldChg>
      <pc:sldChg chg="del">
        <pc:chgData name="عبدالله الذويب" userId="083c11e844da292c" providerId="LiveId" clId="{6BA86BBC-528E-48E2-A1DF-53952A269DED}" dt="2026-09-03T05:57:49.061" v="53" actId="47"/>
        <pc:sldMkLst>
          <pc:docMk/>
          <pc:sldMk cId="0" sldId="268"/>
        </pc:sldMkLst>
      </pc:sldChg>
      <pc:sldChg chg="del">
        <pc:chgData name="عبدالله الذويب" userId="083c11e844da292c" providerId="LiveId" clId="{6BA86BBC-528E-48E2-A1DF-53952A269DED}" dt="2026-09-03T05:57:33.374" v="50" actId="47"/>
        <pc:sldMkLst>
          <pc:docMk/>
          <pc:sldMk cId="0" sldId="269"/>
        </pc:sldMkLst>
      </pc:sldChg>
      <pc:sldChg chg="del">
        <pc:chgData name="عبدالله الذويب" userId="083c11e844da292c" providerId="LiveId" clId="{6BA86BBC-528E-48E2-A1DF-53952A269DED}" dt="2026-09-03T05:57:42.537" v="52" actId="47"/>
        <pc:sldMkLst>
          <pc:docMk/>
          <pc:sldMk cId="0" sldId="270"/>
        </pc:sldMkLst>
      </pc:sldChg>
      <pc:sldChg chg="del">
        <pc:chgData name="عبدالله الذويب" userId="083c11e844da292c" providerId="LiveId" clId="{6BA86BBC-528E-48E2-A1DF-53952A269DED}" dt="2026-09-03T05:57:37.197" v="51" actId="47"/>
        <pc:sldMkLst>
          <pc:docMk/>
          <pc:sldMk cId="0" sldId="271"/>
        </pc:sldMkLst>
      </pc:sldChg>
      <pc:sldChg chg="ord">
        <pc:chgData name="عبدالله الذويب" userId="083c11e844da292c" providerId="LiveId" clId="{6BA86BBC-528E-48E2-A1DF-53952A269DED}" dt="2026-09-03T06:01:11.674" v="123"/>
        <pc:sldMkLst>
          <pc:docMk/>
          <pc:sldMk cId="0" sldId="273"/>
        </pc:sldMkLst>
      </pc:sldChg>
      <pc:sldChg chg="ord">
        <pc:chgData name="عبدالله الذويب" userId="083c11e844da292c" providerId="LiveId" clId="{6BA86BBC-528E-48E2-A1DF-53952A269DED}" dt="2026-09-03T05:56:55.663" v="47"/>
        <pc:sldMkLst>
          <pc:docMk/>
          <pc:sldMk cId="0" sldId="274"/>
        </pc:sldMkLst>
      </pc:sldChg>
      <pc:sldChg chg="ord">
        <pc:chgData name="عبدالله الذويب" userId="083c11e844da292c" providerId="LiveId" clId="{6BA86BBC-528E-48E2-A1DF-53952A269DED}" dt="2026-09-03T05:57:03.544" v="49"/>
        <pc:sldMkLst>
          <pc:docMk/>
          <pc:sldMk cId="0" sldId="275"/>
        </pc:sldMkLst>
      </pc:sldChg>
      <pc:sldChg chg="ord">
        <pc:chgData name="عبدالله الذويب" userId="083c11e844da292c" providerId="LiveId" clId="{6BA86BBC-528E-48E2-A1DF-53952A269DED}" dt="2026-09-03T06:45:08.861" v="168"/>
        <pc:sldMkLst>
          <pc:docMk/>
          <pc:sldMk cId="0" sldId="276"/>
        </pc:sldMkLst>
      </pc:sldChg>
      <pc:sldChg chg="ord">
        <pc:chgData name="عبدالله الذويب" userId="083c11e844da292c" providerId="LiveId" clId="{6BA86BBC-528E-48E2-A1DF-53952A269DED}" dt="2026-09-03T06:39:38.685" v="127"/>
        <pc:sldMkLst>
          <pc:docMk/>
          <pc:sldMk cId="0" sldId="277"/>
        </pc:sldMkLst>
      </pc:sldChg>
      <pc:sldChg chg="addSp delSp modSp mod">
        <pc:chgData name="عبدالله الذويب" userId="083c11e844da292c" providerId="LiveId" clId="{6BA86BBC-528E-48E2-A1DF-53952A269DED}" dt="2026-09-03T06:43:19.367" v="157"/>
        <pc:sldMkLst>
          <pc:docMk/>
          <pc:sldMk cId="0" sldId="279"/>
        </pc:sldMkLst>
        <pc:spChg chg="add del mod">
          <ac:chgData name="عبدالله الذويب" userId="083c11e844da292c" providerId="LiveId" clId="{6BA86BBC-528E-48E2-A1DF-53952A269DED}" dt="2026-09-03T06:42:57.145" v="139"/>
          <ac:spMkLst>
            <pc:docMk/>
            <pc:sldMk cId="0" sldId="279"/>
            <ac:spMk id="2" creationId="{9CD0C994-318A-3738-6A51-4B3046FE23D7}"/>
          </ac:spMkLst>
        </pc:spChg>
        <pc:spChg chg="add del mod">
          <ac:chgData name="عبدالله الذويب" userId="083c11e844da292c" providerId="LiveId" clId="{6BA86BBC-528E-48E2-A1DF-53952A269DED}" dt="2026-09-03T06:42:58.354" v="142"/>
          <ac:spMkLst>
            <pc:docMk/>
            <pc:sldMk cId="0" sldId="279"/>
            <ac:spMk id="3" creationId="{C227A4AD-E424-6250-D383-EB4F56ED9DCF}"/>
          </ac:spMkLst>
        </pc:spChg>
        <pc:spChg chg="add del mod">
          <ac:chgData name="عبدالله الذويب" userId="083c11e844da292c" providerId="LiveId" clId="{6BA86BBC-528E-48E2-A1DF-53952A269DED}" dt="2026-09-03T06:42:59.884" v="145"/>
          <ac:spMkLst>
            <pc:docMk/>
            <pc:sldMk cId="0" sldId="279"/>
            <ac:spMk id="4" creationId="{92EDE0F0-F0E8-8EFF-ED66-B5DE67EEE43B}"/>
          </ac:spMkLst>
        </pc:spChg>
        <pc:spChg chg="add del mod">
          <ac:chgData name="عبدالله الذويب" userId="083c11e844da292c" providerId="LiveId" clId="{6BA86BBC-528E-48E2-A1DF-53952A269DED}" dt="2026-09-03T06:43:00.923" v="148"/>
          <ac:spMkLst>
            <pc:docMk/>
            <pc:sldMk cId="0" sldId="279"/>
            <ac:spMk id="5" creationId="{F376BEFA-7EDE-19FA-8311-371AF973C89B}"/>
          </ac:spMkLst>
        </pc:spChg>
        <pc:spChg chg="add del mod">
          <ac:chgData name="عبدالله الذويب" userId="083c11e844da292c" providerId="LiveId" clId="{6BA86BBC-528E-48E2-A1DF-53952A269DED}" dt="2026-09-03T06:43:01.756" v="151"/>
          <ac:spMkLst>
            <pc:docMk/>
            <pc:sldMk cId="0" sldId="279"/>
            <ac:spMk id="6" creationId="{71DA76E9-E8C8-A748-42F9-84B07B799775}"/>
          </ac:spMkLst>
        </pc:spChg>
        <pc:spChg chg="add del mod">
          <ac:chgData name="عبدالله الذويب" userId="083c11e844da292c" providerId="LiveId" clId="{6BA86BBC-528E-48E2-A1DF-53952A269DED}" dt="2026-09-03T06:43:03.063" v="154"/>
          <ac:spMkLst>
            <pc:docMk/>
            <pc:sldMk cId="0" sldId="279"/>
            <ac:spMk id="7" creationId="{6A54D461-BB64-28B6-1898-A8DF13FF73DB}"/>
          </ac:spMkLst>
        </pc:spChg>
        <pc:spChg chg="add del mod">
          <ac:chgData name="عبدالله الذويب" userId="083c11e844da292c" providerId="LiveId" clId="{6BA86BBC-528E-48E2-A1DF-53952A269DED}" dt="2026-09-03T06:43:19.367" v="157"/>
          <ac:spMkLst>
            <pc:docMk/>
            <pc:sldMk cId="0" sldId="279"/>
            <ac:spMk id="8" creationId="{6F2E59CB-26C1-18CF-26E9-07B8D9A77BCB}"/>
          </ac:spMkLst>
        </pc:spChg>
        <pc:spChg chg="mod">
          <ac:chgData name="عبدالله الذويب" userId="083c11e844da292c" providerId="LiveId" clId="{6BA86BBC-528E-48E2-A1DF-53952A269DED}" dt="2026-09-03T06:42:46.775" v="136" actId="27636"/>
          <ac:spMkLst>
            <pc:docMk/>
            <pc:sldMk cId="0" sldId="279"/>
            <ac:spMk id="202" creationId="{00000000-0000-0000-0000-000000000000}"/>
          </ac:spMkLst>
        </pc:spChg>
        <pc:spChg chg="mod">
          <ac:chgData name="عبدالله الذويب" userId="083c11e844da292c" providerId="LiveId" clId="{6BA86BBC-528E-48E2-A1DF-53952A269DED}" dt="2026-09-03T06:00:45.299" v="121" actId="20577"/>
          <ac:spMkLst>
            <pc:docMk/>
            <pc:sldMk cId="0" sldId="279"/>
            <ac:spMk id="204" creationId="{00000000-0000-0000-0000-000000000000}"/>
          </ac:spMkLst>
        </pc:spChg>
      </pc:sldChg>
      <pc:sldChg chg="modSp mod">
        <pc:chgData name="عبدالله الذويب" userId="083c11e844da292c" providerId="LiveId" clId="{6BA86BBC-528E-48E2-A1DF-53952A269DED}" dt="2026-09-03T06:42:46.635" v="133" actId="27636"/>
        <pc:sldMkLst>
          <pc:docMk/>
          <pc:sldMk cId="0" sldId="280"/>
        </pc:sldMkLst>
        <pc:spChg chg="mod">
          <ac:chgData name="عبدالله الذويب" userId="083c11e844da292c" providerId="LiveId" clId="{6BA86BBC-528E-48E2-A1DF-53952A269DED}" dt="2026-09-03T06:42:46.635" v="133" actId="27636"/>
          <ac:spMkLst>
            <pc:docMk/>
            <pc:sldMk cId="0" sldId="280"/>
            <ac:spMk id="305" creationId="{00000000-0000-0000-0000-000000000000}"/>
          </ac:spMkLst>
        </pc:spChg>
        <pc:spChg chg="mod">
          <ac:chgData name="عبدالله الذويب" userId="083c11e844da292c" providerId="LiveId" clId="{6BA86BBC-528E-48E2-A1DF-53952A269DED}" dt="2026-09-03T06:42:46.627" v="132" actId="27636"/>
          <ac:spMkLst>
            <pc:docMk/>
            <pc:sldMk cId="0" sldId="280"/>
            <ac:spMk id="306" creationId="{00000000-0000-0000-0000-000000000000}"/>
          </ac:spMkLst>
        </pc:spChg>
      </pc:sldChg>
      <pc:sldChg chg="modSp mod">
        <pc:chgData name="عبدالله الذويب" userId="083c11e844da292c" providerId="LiveId" clId="{6BA86BBC-528E-48E2-A1DF-53952A269DED}" dt="2026-09-03T06:42:46.643" v="135" actId="27636"/>
        <pc:sldMkLst>
          <pc:docMk/>
          <pc:sldMk cId="0" sldId="281"/>
        </pc:sldMkLst>
        <pc:spChg chg="mod">
          <ac:chgData name="عبدالله الذويب" userId="083c11e844da292c" providerId="LiveId" clId="{6BA86BBC-528E-48E2-A1DF-53952A269DED}" dt="2026-09-03T06:42:46.643" v="134" actId="27636"/>
          <ac:spMkLst>
            <pc:docMk/>
            <pc:sldMk cId="0" sldId="281"/>
            <ac:spMk id="305" creationId="{00000000-0000-0000-0000-000000000000}"/>
          </ac:spMkLst>
        </pc:spChg>
        <pc:spChg chg="mod">
          <ac:chgData name="عبدالله الذويب" userId="083c11e844da292c" providerId="LiveId" clId="{6BA86BBC-528E-48E2-A1DF-53952A269DED}" dt="2026-09-03T06:42:46.643" v="135" actId="27636"/>
          <ac:spMkLst>
            <pc:docMk/>
            <pc:sldMk cId="0" sldId="281"/>
            <ac:spMk id="306" creationId="{00000000-0000-0000-0000-000000000000}"/>
          </ac:spMkLst>
        </pc:spChg>
      </pc:sldChg>
      <pc:sldChg chg="addSp delSp modSp add mod setBg modNotes">
        <pc:chgData name="عبدالله الذويب" userId="083c11e844da292c" providerId="LiveId" clId="{6BA86BBC-528E-48E2-A1DF-53952A269DED}" dt="2026-09-03T06:44:28.778" v="163"/>
        <pc:sldMkLst>
          <pc:docMk/>
          <pc:sldMk cId="0" sldId="282"/>
        </pc:sldMkLst>
        <pc:spChg chg="add del">
          <ac:chgData name="عبدالله الذويب" userId="083c11e844da292c" providerId="LiveId" clId="{6BA86BBC-528E-48E2-A1DF-53952A269DED}" dt="2026-09-03T06:44:20.089" v="162" actId="22"/>
          <ac:spMkLst>
            <pc:docMk/>
            <pc:sldMk cId="0" sldId="282"/>
            <ac:spMk id="3" creationId="{00054CD7-8FFB-3FC1-42D0-F06B230F34F2}"/>
          </ac:spMkLst>
        </pc:spChg>
        <pc:spChg chg="add mod">
          <ac:chgData name="عبدالله الذويب" userId="083c11e844da292c" providerId="LiveId" clId="{6BA86BBC-528E-48E2-A1DF-53952A269DED}" dt="2026-09-03T06:44:28.778" v="163"/>
          <ac:spMkLst>
            <pc:docMk/>
            <pc:sldMk cId="0" sldId="282"/>
            <ac:spMk id="4" creationId="{C2B0B687-B7DC-43CE-EF3F-B3A76CC700BB}"/>
          </ac:spMkLst>
        </pc:spChg>
      </pc:sldChg>
      <pc:sldChg chg="add del">
        <pc:chgData name="عبدالله الذويب" userId="083c11e844da292c" providerId="LiveId" clId="{6BA86BBC-528E-48E2-A1DF-53952A269DED}" dt="2026-09-03T06:43:23.368" v="159"/>
        <pc:sldMkLst>
          <pc:docMk/>
          <pc:sldMk cId="0" sldId="283"/>
        </pc:sldMkLst>
      </pc:sldChg>
      <pc:sldMasterChg chg="del delSldLayout">
        <pc:chgData name="عبدالله الذويب" userId="083c11e844da292c" providerId="LiveId" clId="{6BA86BBC-528E-48E2-A1DF-53952A269DED}" dt="2026-09-03T05:57:37.197" v="51" actId="47"/>
        <pc:sldMasterMkLst>
          <pc:docMk/>
          <pc:sldMasterMk cId="225006091" sldId="2147483650"/>
        </pc:sldMasterMkLst>
        <pc:sldLayoutChg chg="del">
          <pc:chgData name="عبدالله الذويب" userId="083c11e844da292c" providerId="LiveId" clId="{6BA86BBC-528E-48E2-A1DF-53952A269DED}" dt="2026-09-03T05:57:37.197" v="51" actId="47"/>
          <pc:sldLayoutMkLst>
            <pc:docMk/>
            <pc:sldMasterMk cId="225006091" sldId="2147483650"/>
            <pc:sldLayoutMk cId="3359946160"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241BB76E-2C4A-44A3-B395-25E85359394F}"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PlaceHolder 1"/>
          <p:cNvSpPr>
            <a:spLocks noGrp="1" noRot="1" noChangeAspect="1"/>
          </p:cNvSpPr>
          <p:nvPr>
            <p:ph type="sldImg"/>
          </p:nvPr>
        </p:nvSpPr>
        <p:spPr>
          <a:xfrm>
            <a:off x="685800" y="1143000"/>
            <a:ext cx="5486400" cy="3086100"/>
          </a:xfrm>
          <a:prstGeom prst="rect">
            <a:avLst/>
          </a:prstGeom>
          <a:ln w="0">
            <a:noFill/>
          </a:ln>
        </p:spPr>
      </p:sp>
      <p:sp>
        <p:nvSpPr>
          <p:cNvPr id="4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Open. JoTouch — an AI-driven anthropomorphic prosthetic hand, graduation project at Al-Balqa Applied University. Team of three, seven-month build. This is a Phase 1 catch-up: the digital twin is complete and running.</a:t>
            </a:r>
          </a:p>
        </p:txBody>
      </p:sp>
      <p:sp>
        <p:nvSpPr>
          <p:cNvPr id="44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6A69E4F-5CF5-4B8B-9E6A-9963D9B94657}"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PlaceHolder 1"/>
          <p:cNvSpPr>
            <a:spLocks noGrp="1" noRot="1" noChangeAspect="1"/>
          </p:cNvSpPr>
          <p:nvPr>
            <p:ph type="sldImg"/>
          </p:nvPr>
        </p:nvSpPr>
        <p:spPr>
          <a:xfrm>
            <a:off x="685800" y="1143000"/>
            <a:ext cx="5486400" cy="3086100"/>
          </a:xfrm>
          <a:prstGeom prst="rect">
            <a:avLst/>
          </a:prstGeom>
          <a:ln w="0">
            <a:noFill/>
          </a:ln>
        </p:spPr>
      </p:sp>
      <p:sp>
        <p:nvSpPr>
          <p:cNvPr id="4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What JoTouch is in one breath: an anthropomorphic hand driven by AI from forearm muscle signals — Force Myography — running on ROS 2 with custom firmware. Seven-month graduation scope. The loop on the right is the live RViz simulation cycling gestures.</a:t>
            </a:r>
          </a:p>
        </p:txBody>
      </p:sp>
      <p:sp>
        <p:nvSpPr>
          <p:cNvPr id="44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6F39821D-732B-4D2D-858B-4DD8B61F5233}"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PlaceHolder 1"/>
          <p:cNvSpPr>
            <a:spLocks noGrp="1" noRot="1" noChangeAspect="1"/>
          </p:cNvSpPr>
          <p:nvPr>
            <p:ph type="sldImg"/>
          </p:nvPr>
        </p:nvSpPr>
        <p:spPr>
          <a:xfrm>
            <a:off x="685800" y="1143000"/>
            <a:ext cx="5486400" cy="3086100"/>
          </a:xfrm>
          <a:prstGeom prst="rect">
            <a:avLst/>
          </a:prstGeom>
          <a:ln w="0">
            <a:noFill/>
          </a:ln>
        </p:spPr>
      </p:sp>
      <p:sp>
        <p:nvSpPr>
          <p:cNvPr id="4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Section one. This is the half of Phase 1 about the physical machine — the mechanical design, the CAD, and turning that CAD into a simulatable URDF model. All complete.</a:t>
            </a:r>
          </a:p>
        </p:txBody>
      </p:sp>
      <p:sp>
        <p:nvSpPr>
          <p:cNvPr id="45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1FDD0C9-D309-4B17-A704-17BC739B0A6D}"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PlaceHolder 1"/>
          <p:cNvSpPr>
            <a:spLocks noGrp="1" noRot="1" noChangeAspect="1"/>
          </p:cNvSpPr>
          <p:nvPr>
            <p:ph type="sldImg"/>
          </p:nvPr>
        </p:nvSpPr>
        <p:spPr>
          <a:xfrm>
            <a:off x="685800" y="1143000"/>
            <a:ext cx="5486400" cy="3086100"/>
          </a:xfrm>
          <a:prstGeom prst="rect">
            <a:avLst/>
          </a:prstGeom>
          <a:ln w="0">
            <a:noFill/>
          </a:ln>
        </p:spPr>
      </p:sp>
      <p:sp>
        <p:nvSpPr>
          <p:cNvPr id="4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This is the key architectural decision. One motor drives the MCP of each finger; the PIP and DIP joints follow mechanically through a four-bar linkage — anatomical coupling at 90, 100, and 70 degrees at full curl. So three joints per finger move from a single actuator. Five motors instead of fifteen, while keeping a natural curl.</a:t>
            </a:r>
          </a:p>
        </p:txBody>
      </p:sp>
      <p:sp>
        <p:nvSpPr>
          <p:cNvPr id="45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FA47117-E5F3-4994-BEEA-8D9940877DFF}"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 name="PlaceHolder 1"/>
          <p:cNvSpPr>
            <a:spLocks noGrp="1" noRot="1" noChangeAspect="1"/>
          </p:cNvSpPr>
          <p:nvPr>
            <p:ph type="sldImg"/>
          </p:nvPr>
        </p:nvSpPr>
        <p:spPr>
          <a:xfrm>
            <a:off x="685800" y="1143000"/>
            <a:ext cx="5486400" cy="3086100"/>
          </a:xfrm>
          <a:prstGeom prst="rect">
            <a:avLst/>
          </a:prstGeom>
          <a:ln w="0">
            <a:noFill/>
          </a:ln>
        </p:spPr>
      </p:sp>
      <p:sp>
        <p:nvSpPr>
          <p:cNvPr id="4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CAD locks the physical constraints. Total hand mass is 290 grams measured in CAD. Phalange lengths follow a Fibonacci progression — 45, 27, 18 millimeters. Printed in PA12 nylon, with a brass and Delrin gear train running a 400-to-1 reduction per finger. Seven actuated degrees of freedom.</a:t>
            </a:r>
          </a:p>
        </p:txBody>
      </p:sp>
      <p:sp>
        <p:nvSpPr>
          <p:cNvPr id="46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B020EF5-0FCE-4977-BA64-CCB1031FDC9C}"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PlaceHolder 1"/>
          <p:cNvSpPr>
            <a:spLocks noGrp="1" noRot="1" noChangeAspect="1"/>
          </p:cNvSpPr>
          <p:nvPr>
            <p:ph type="sldImg"/>
          </p:nvPr>
        </p:nvSpPr>
        <p:spPr>
          <a:xfrm>
            <a:off x="685800" y="1143000"/>
            <a:ext cx="5486400" cy="3086100"/>
          </a:xfrm>
          <a:prstGeom prst="rect">
            <a:avLst/>
          </a:prstGeom>
          <a:ln w="0">
            <a:noFill/>
          </a:ln>
        </p:spPr>
      </p:sp>
      <p:sp>
        <p:nvSpPr>
          <p:cNvPr id="4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Getting from CAD to a simulatable model. We export from SolidWorks with SW2URDF, then run custom Python post-processing — flipping joint axes, fixing mesh paths, and injecting the mimic joints that encode the coupling. The result: 16 links, 14 joints, and 8 mimic relationships, all driving the digital twin.</a:t>
            </a:r>
          </a:p>
        </p:txBody>
      </p:sp>
      <p:sp>
        <p:nvSpPr>
          <p:cNvPr id="46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508D1A1-0C85-4193-A667-D1A6BFBD865E}"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PlaceHolder 1"/>
          <p:cNvSpPr>
            <a:spLocks noGrp="1" noRot="1" noChangeAspect="1"/>
          </p:cNvSpPr>
          <p:nvPr>
            <p:ph type="sldImg"/>
          </p:nvPr>
        </p:nvSpPr>
        <p:spPr>
          <a:xfrm>
            <a:off x="685800" y="1143000"/>
            <a:ext cx="5486400" cy="3086100"/>
          </a:xfrm>
          <a:prstGeom prst="rect">
            <a:avLst/>
          </a:prstGeom>
          <a:ln w="0">
            <a:noFill/>
          </a:ln>
        </p:spPr>
      </p:sp>
      <p:sp>
        <p:nvSpPr>
          <p:cNvPr id="4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compute is split into a brain and a spine. The Raspberry Pi Zero 2 W is the brain — it runs ML inference. The Teensy 4.1 is the spine — hard real-time motor control at 600 MHz. They talk over micro-ROS on a USB serial link. This split keeps inference latency off the control loop.</a:t>
            </a:r>
          </a:p>
        </p:txBody>
      </p:sp>
      <p:sp>
        <p:nvSpPr>
          <p:cNvPr id="44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5F00893-BBAB-4609-8725-5121E2892F33}"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0" name="Google Shape;15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PlaceHolder 1"/>
          <p:cNvSpPr>
            <a:spLocks noGrp="1" noRot="1" noChangeAspect="1"/>
          </p:cNvSpPr>
          <p:nvPr>
            <p:ph type="sldImg"/>
          </p:nvPr>
        </p:nvSpPr>
        <p:spPr>
          <a:xfrm>
            <a:off x="685800" y="1143000"/>
            <a:ext cx="5486400" cy="3086100"/>
          </a:xfrm>
          <a:prstGeom prst="rect">
            <a:avLst/>
          </a:prstGeom>
          <a:ln w="0">
            <a:noFill/>
          </a:ln>
        </p:spPr>
      </p:sp>
      <p:sp>
        <p:nvSpPr>
          <p:cNvPr id="4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Section two — the software half of Phase 1. Seven ROS 2 packages built from scratch form the pipeline that drives the digital twin, end to end.</a:t>
            </a:r>
          </a:p>
        </p:txBody>
      </p:sp>
      <p:sp>
        <p:nvSpPr>
          <p:cNvPr id="46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C8BAA0CF-ED91-46FE-9008-92878E27EA24}" type="slidenum">
              <a:rPr lang="en-US" sz="1200" b="0" strike="noStrike" spc="-1">
                <a:solidFill>
                  <a:schemeClr val="dk1"/>
                </a:solidFill>
                <a:latin typeface="+mn-lt"/>
                <a:ea typeface="+mn-ea"/>
              </a:rPr>
              <a:t>13</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PlaceHolder 1"/>
          <p:cNvSpPr>
            <a:spLocks noGrp="1" noRot="1" noChangeAspect="1"/>
          </p:cNvSpPr>
          <p:nvPr>
            <p:ph type="sldImg"/>
          </p:nvPr>
        </p:nvSpPr>
        <p:spPr>
          <a:xfrm>
            <a:off x="685800" y="1143000"/>
            <a:ext cx="5486400" cy="3086100"/>
          </a:xfrm>
          <a:prstGeom prst="rect">
            <a:avLst/>
          </a:prstGeom>
          <a:ln w="0">
            <a:noFill/>
          </a:ln>
        </p:spPr>
      </p:sp>
      <p:sp>
        <p:nvSpPr>
          <p:cNvPr id="4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live dataflow. Synthetic FMG at 200 hertz feeds the brain node — currently a dummy linear model. The brain emits 7 joint curls; kinematics expands those to 14 joint angles using the master-slave coupling. From there it splits: the spine simulator stands in for the Teensy, and robot-state-publisher drives RViz. Input, compute, output — color-coded.</a:t>
            </a:r>
          </a:p>
        </p:txBody>
      </p:sp>
      <p:sp>
        <p:nvSpPr>
          <p:cNvPr id="470"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E99EF37-4AE5-4224-A421-6CCD9B2E88E9}" type="slidenum">
              <a:rPr lang="en-US" sz="1200" b="0" strike="noStrike" spc="-1">
                <a:solidFill>
                  <a:schemeClr val="dk1"/>
                </a:solidFill>
                <a:latin typeface="+mn-lt"/>
                <a:ea typeface="+mn-ea"/>
              </a:rPr>
              <a:t>20</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PlaceHolder 1"/>
          <p:cNvSpPr>
            <a:spLocks noGrp="1" noRot="1" noChangeAspect="1"/>
          </p:cNvSpPr>
          <p:nvPr>
            <p:ph type="sldImg"/>
          </p:nvPr>
        </p:nvSpPr>
        <p:spPr>
          <a:xfrm>
            <a:off x="685800" y="1143000"/>
            <a:ext cx="5486400" cy="3086100"/>
          </a:xfrm>
          <a:prstGeom prst="rect">
            <a:avLst/>
          </a:prstGeom>
          <a:ln w="0">
            <a:noFill/>
          </a:ln>
        </p:spPr>
      </p:sp>
      <p:sp>
        <p:nvSpPr>
          <p:cNvPr id="4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The toolchain. ROS 2 Jazzy on the software side, Python for the nodes, C++ on the Teensy through PlatformIO, SimpleFOC for field-oriented motor control, micro-ROS bridging the spine, TensorFlow Lite Micro as the deployment target for the model, and Obsidian holding all the project documentation.</a:t>
            </a:r>
          </a:p>
        </p:txBody>
      </p:sp>
      <p:sp>
        <p:nvSpPr>
          <p:cNvPr id="473"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9A8F7F3-0C21-44C0-978F-AAFB8F2CDDFD}" type="slidenum">
              <a:rPr lang="en-US" sz="1200" b="0" strike="noStrike" spc="-1">
                <a:solidFill>
                  <a:schemeClr val="dk1"/>
                </a:solidFill>
                <a:latin typeface="+mn-lt"/>
                <a:ea typeface="+mn-ea"/>
              </a:rPr>
              <a:t>21</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PlaceHolder 1"/>
          <p:cNvSpPr>
            <a:spLocks noGrp="1" noRot="1" noChangeAspect="1"/>
          </p:cNvSpPr>
          <p:nvPr>
            <p:ph type="sldImg"/>
          </p:nvPr>
        </p:nvSpPr>
        <p:spPr>
          <a:xfrm>
            <a:off x="685800" y="1143000"/>
            <a:ext cx="5486400" cy="3086100"/>
          </a:xfrm>
          <a:prstGeom prst="rect">
            <a:avLst/>
          </a:prstGeom>
          <a:ln w="0">
            <a:noFill/>
          </a:ln>
        </p:spPr>
      </p:sp>
      <p:sp>
        <p:nvSpPr>
          <p:cNvPr id="4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That's Phase 1 — complete and validated. Happy to go deeper on the kinematics, the ROS 2 stack, or the road to hardware. Thank you. Questions?</a:t>
            </a:r>
          </a:p>
        </p:txBody>
      </p:sp>
      <p:sp>
        <p:nvSpPr>
          <p:cNvPr id="488"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95AC650-1DA8-4428-A7E3-C3F5C4A4A571}" type="slidenum">
              <a:rPr lang="en-US" sz="1200" b="0" strike="noStrike" spc="-1">
                <a:solidFill>
                  <a:schemeClr val="dk1"/>
                </a:solidFill>
                <a:latin typeface="+mn-lt"/>
                <a:ea typeface="+mn-ea"/>
              </a:rPr>
              <a:t>22</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12" name="Text 4"/>
          <p:cNvSpPr/>
          <p:nvPr/>
        </p:nvSpPr>
        <p:spPr>
          <a:xfrm>
            <a:off x="1104840" y="3831120"/>
            <a:ext cx="9387360" cy="1702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20000"/>
          </a:bodyPr>
          <a:lstStyle/>
          <a:p>
            <a:pPr defTabSz="914400">
              <a:lnSpc>
                <a:spcPct val="83000"/>
              </a:lnSpc>
              <a:tabLst>
                <a:tab pos="0" algn="l"/>
              </a:tabLst>
            </a:pPr>
            <a:r>
              <a:rPr lang="en-US" sz="15600" b="1" strike="noStrike" spc="-313">
                <a:solidFill>
                  <a:srgbClr val="FFFFFF"/>
                </a:solidFill>
                <a:latin typeface="Archivo Black"/>
                <a:ea typeface="Archivo Black"/>
              </a:rPr>
              <a:t>JoTouch</a:t>
            </a:r>
            <a:endParaRPr lang="en-US" sz="15600" b="0" strike="noStrike" spc="-1">
              <a:solidFill>
                <a:srgbClr val="FFFFFF"/>
              </a:solidFill>
              <a:latin typeface="Arial"/>
            </a:endParaRPr>
          </a:p>
        </p:txBody>
      </p:sp>
      <p:sp>
        <p:nvSpPr>
          <p:cNvPr id="13" name="Text 5"/>
          <p:cNvSpPr/>
          <p:nvPr/>
        </p:nvSpPr>
        <p:spPr>
          <a:xfrm>
            <a:off x="1104840" y="5838480"/>
            <a:ext cx="7455960" cy="982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8888"/>
          </a:bodyPr>
          <a:lstStyle/>
          <a:p>
            <a:pPr defTabSz="914400">
              <a:lnSpc>
                <a:spcPct val="118000"/>
              </a:lnSpc>
              <a:tabLst>
                <a:tab pos="0" algn="l"/>
              </a:tabLst>
            </a:pPr>
            <a:r>
              <a:rPr lang="en-US" sz="3150" b="0" strike="noStrike" spc="-1" dirty="0">
                <a:solidFill>
                  <a:srgbClr val="B8C2CC"/>
                </a:solidFill>
                <a:latin typeface="Archivo"/>
                <a:ea typeface="Archivo"/>
              </a:rPr>
              <a:t>AI-Driven Prosthetic Hand</a:t>
            </a:r>
            <a:endParaRPr lang="en-US" sz="3150" b="0" strike="noStrike" spc="-1" dirty="0">
              <a:solidFill>
                <a:srgbClr val="FFFFFF"/>
              </a:solidFill>
              <a:latin typeface="Arial"/>
            </a:endParaRPr>
          </a:p>
        </p:txBody>
      </p:sp>
      <p:sp>
        <p:nvSpPr>
          <p:cNvPr id="14" name="Shape 6"/>
          <p:cNvSpPr/>
          <p:nvPr/>
        </p:nvSpPr>
        <p:spPr>
          <a:xfrm>
            <a:off x="1104840" y="9096480"/>
            <a:ext cx="1607796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15" name="Text 7"/>
          <p:cNvSpPr/>
          <p:nvPr/>
        </p:nvSpPr>
        <p:spPr>
          <a:xfrm>
            <a:off x="1104840" y="9352080"/>
            <a:ext cx="523008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tabLst>
                <a:tab pos="0" algn="l"/>
              </a:tabLst>
            </a:pPr>
            <a:r>
              <a:rPr lang="en-US" sz="1950" b="0" strike="noStrike" spc="-1" dirty="0">
                <a:solidFill>
                  <a:srgbClr val="5C6977"/>
                </a:solidFill>
                <a:latin typeface="JetBrains Mono"/>
                <a:ea typeface="JetBrains Mono"/>
              </a:rPr>
              <a:t>TEAM: </a:t>
            </a:r>
            <a:r>
              <a:rPr lang="en-US" sz="1950" b="0" strike="noStrike" spc="-1" dirty="0">
                <a:solidFill>
                  <a:srgbClr val="8A97A6"/>
                </a:solidFill>
                <a:latin typeface="JetBrains Mono"/>
                <a:ea typeface="JetBrains Mono"/>
              </a:rPr>
              <a:t>Issa · </a:t>
            </a:r>
            <a:r>
              <a:rPr lang="en-US" sz="1950" spc="-1" dirty="0">
                <a:solidFill>
                  <a:srgbClr val="8A97A6"/>
                </a:solidFill>
                <a:latin typeface="JetBrains Mono"/>
                <a:ea typeface="JetBrains Mono"/>
              </a:rPr>
              <a:t>Mohammad</a:t>
            </a:r>
            <a:r>
              <a:rPr lang="en-US" sz="1950" b="0" strike="noStrike" spc="-1" dirty="0">
                <a:solidFill>
                  <a:srgbClr val="8A97A6"/>
                </a:solidFill>
                <a:latin typeface="JetBrains Mono"/>
                <a:ea typeface="JetBrains Mono"/>
              </a:rPr>
              <a:t> ·Abdallah</a:t>
            </a:r>
            <a:endParaRPr lang="en-US" sz="1950" b="0" strike="noStrike" spc="-1" dirty="0">
              <a:solidFill>
                <a:srgbClr val="FFFFFF"/>
              </a:solidFill>
              <a:latin typeface="Arial"/>
            </a:endParaRPr>
          </a:p>
        </p:txBody>
      </p:sp>
      <p:sp>
        <p:nvSpPr>
          <p:cNvPr id="16" name="Text 8"/>
          <p:cNvSpPr/>
          <p:nvPr/>
        </p:nvSpPr>
        <p:spPr>
          <a:xfrm>
            <a:off x="7138080" y="9352080"/>
            <a:ext cx="523008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0" strike="noStrike" spc="-1" dirty="0">
                <a:solidFill>
                  <a:srgbClr val="5C6977"/>
                </a:solidFill>
                <a:latin typeface="JetBrains Mono"/>
                <a:ea typeface="JetBrains Mono"/>
              </a:rPr>
              <a:t>SUPERVISOR: </a:t>
            </a:r>
            <a:r>
              <a:rPr lang="en-US" sz="1950" b="0" strike="noStrike" spc="-1" dirty="0">
                <a:solidFill>
                  <a:srgbClr val="8A97A6"/>
                </a:solidFill>
                <a:latin typeface="JetBrains Mono"/>
                <a:ea typeface="JetBrains Mono"/>
              </a:rPr>
              <a:t>Dr. Mohammad </a:t>
            </a:r>
            <a:r>
              <a:rPr lang="en-US" sz="1950" b="0" strike="noStrike" spc="-1" dirty="0" err="1">
                <a:solidFill>
                  <a:srgbClr val="8A97A6"/>
                </a:solidFill>
                <a:latin typeface="JetBrains Mono"/>
                <a:ea typeface="JetBrains Mono"/>
              </a:rPr>
              <a:t>Khrisat</a:t>
            </a:r>
            <a:endParaRPr lang="en-US" sz="1950" b="0" strike="noStrike" spc="-1" dirty="0">
              <a:solidFill>
                <a:srgbClr val="FFFFFF"/>
              </a:solidFill>
              <a:latin typeface="Arial"/>
            </a:endParaRPr>
          </a:p>
        </p:txBody>
      </p:sp>
      <p:sp>
        <p:nvSpPr>
          <p:cNvPr id="17" name="Text 9"/>
          <p:cNvSpPr/>
          <p:nvPr/>
        </p:nvSpPr>
        <p:spPr>
          <a:xfrm>
            <a:off x="13171320" y="9352080"/>
            <a:ext cx="441288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0" strike="noStrike" spc="-1">
                <a:solidFill>
                  <a:srgbClr val="5C6977"/>
                </a:solidFill>
                <a:latin typeface="JetBrains Mono"/>
                <a:ea typeface="JetBrains Mono"/>
              </a:rPr>
              <a:t>Al-Balqa Applied University</a:t>
            </a:r>
            <a:endParaRPr lang="en-US" sz="195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18" name="Text 0"/>
          <p:cNvSpPr/>
          <p:nvPr/>
        </p:nvSpPr>
        <p:spPr>
          <a:xfrm>
            <a:off x="1104840" y="876240"/>
            <a:ext cx="188568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562">
                <a:solidFill>
                  <a:srgbClr val="00D4FF"/>
                </a:solidFill>
                <a:latin typeface="JetBrains Mono"/>
                <a:ea typeface="JetBrains Mono"/>
              </a:rPr>
              <a:t>OVERVIEW</a:t>
            </a:r>
            <a:endParaRPr lang="en-US" sz="1870" b="0" strike="noStrike" spc="-1">
              <a:solidFill>
                <a:srgbClr val="FFFFFF"/>
              </a:solidFill>
              <a:latin typeface="Arial"/>
            </a:endParaRPr>
          </a:p>
        </p:txBody>
      </p:sp>
      <p:sp>
        <p:nvSpPr>
          <p:cNvPr id="19" name="Text 1"/>
          <p:cNvSpPr/>
          <p:nvPr/>
        </p:nvSpPr>
        <p:spPr>
          <a:xfrm>
            <a:off x="15882840" y="876240"/>
            <a:ext cx="14299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35" dirty="0">
                <a:solidFill>
                  <a:srgbClr val="5C6977"/>
                </a:solidFill>
                <a:latin typeface="JetBrains Mono"/>
                <a:ea typeface="JetBrains Mono"/>
              </a:rPr>
              <a:t>02 / 22</a:t>
            </a:r>
            <a:endParaRPr lang="en-US" sz="1870" b="0" strike="noStrike" spc="-1" dirty="0">
              <a:solidFill>
                <a:srgbClr val="FFFFFF"/>
              </a:solidFill>
              <a:latin typeface="Arial"/>
            </a:endParaRPr>
          </a:p>
        </p:txBody>
      </p:sp>
      <p:sp>
        <p:nvSpPr>
          <p:cNvPr id="20" name="Text 2"/>
          <p:cNvSpPr/>
          <p:nvPr/>
        </p:nvSpPr>
        <p:spPr>
          <a:xfrm>
            <a:off x="1104840" y="3841920"/>
            <a:ext cx="8296920" cy="628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10000"/>
          </a:bodyPr>
          <a:lstStyle/>
          <a:p>
            <a:pPr defTabSz="914400">
              <a:lnSpc>
                <a:spcPct val="100000"/>
              </a:lnSpc>
              <a:tabLst>
                <a:tab pos="0" algn="l"/>
              </a:tabLst>
            </a:pPr>
            <a:r>
              <a:rPr lang="en-US" sz="4650" b="1" strike="noStrike" spc="-1">
                <a:solidFill>
                  <a:srgbClr val="FFFFFF"/>
                </a:solidFill>
                <a:latin typeface="Archivo Black"/>
                <a:ea typeface="Archivo Black"/>
              </a:rPr>
              <a:t>The What</a:t>
            </a:r>
            <a:endParaRPr lang="en-US" sz="4650" b="0" strike="noStrike" spc="-1">
              <a:solidFill>
                <a:srgbClr val="FFFFFF"/>
              </a:solidFill>
              <a:latin typeface="Arial"/>
            </a:endParaRPr>
          </a:p>
        </p:txBody>
      </p:sp>
      <p:sp>
        <p:nvSpPr>
          <p:cNvPr id="21" name="Shape 3"/>
          <p:cNvSpPr/>
          <p:nvPr/>
        </p:nvSpPr>
        <p:spPr>
          <a:xfrm>
            <a:off x="1104840" y="5059440"/>
            <a:ext cx="132840" cy="13284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2" name="Text 4"/>
          <p:cNvSpPr/>
          <p:nvPr/>
        </p:nvSpPr>
        <p:spPr>
          <a:xfrm>
            <a:off x="1486080" y="4927680"/>
            <a:ext cx="5776200" cy="43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3333"/>
          </a:bodyPr>
          <a:lstStyle/>
          <a:p>
            <a:pPr defTabSz="914400">
              <a:lnSpc>
                <a:spcPct val="100000"/>
              </a:lnSpc>
              <a:tabLst>
                <a:tab pos="0" algn="l"/>
              </a:tabLst>
            </a:pPr>
            <a:r>
              <a:rPr lang="en-US" sz="2850" b="1" strike="noStrike" spc="-1">
                <a:solidFill>
                  <a:srgbClr val="E6EDF3"/>
                </a:solidFill>
                <a:latin typeface="Archivo"/>
                <a:ea typeface="Archivo"/>
              </a:rPr>
              <a:t>Anthropomorphic prosthetic hand</a:t>
            </a:r>
            <a:endParaRPr lang="en-US" sz="2850" b="0" strike="noStrike" spc="-1">
              <a:solidFill>
                <a:srgbClr val="FFFFFF"/>
              </a:solidFill>
              <a:latin typeface="Arial"/>
            </a:endParaRPr>
          </a:p>
        </p:txBody>
      </p:sp>
      <p:sp>
        <p:nvSpPr>
          <p:cNvPr id="23" name="Shape 5"/>
          <p:cNvSpPr/>
          <p:nvPr/>
        </p:nvSpPr>
        <p:spPr>
          <a:xfrm>
            <a:off x="1104840" y="5780160"/>
            <a:ext cx="132840" cy="13284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 name="Text 6"/>
          <p:cNvSpPr/>
          <p:nvPr/>
        </p:nvSpPr>
        <p:spPr>
          <a:xfrm>
            <a:off x="1486080" y="5648400"/>
            <a:ext cx="5200560" cy="43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3333"/>
          </a:bodyPr>
          <a:lstStyle/>
          <a:p>
            <a:pPr defTabSz="914400">
              <a:lnSpc>
                <a:spcPct val="100000"/>
              </a:lnSpc>
              <a:tabLst>
                <a:tab pos="0" algn="l"/>
              </a:tabLst>
            </a:pPr>
            <a:r>
              <a:rPr lang="en-US" sz="2850" b="1" strike="noStrike" spc="-1">
                <a:solidFill>
                  <a:srgbClr val="E6EDF3"/>
                </a:solidFill>
                <a:latin typeface="Archivo"/>
                <a:ea typeface="Archivo"/>
              </a:rPr>
              <a:t>AI-driven via Force Myography</a:t>
            </a:r>
            <a:endParaRPr lang="en-US" sz="2850" b="0" strike="noStrike" spc="-1">
              <a:solidFill>
                <a:srgbClr val="FFFFFF"/>
              </a:solidFill>
              <a:latin typeface="Arial"/>
            </a:endParaRPr>
          </a:p>
        </p:txBody>
      </p:sp>
      <p:sp>
        <p:nvSpPr>
          <p:cNvPr id="25" name="Shape 7"/>
          <p:cNvSpPr/>
          <p:nvPr/>
        </p:nvSpPr>
        <p:spPr>
          <a:xfrm>
            <a:off x="1104840" y="6500880"/>
            <a:ext cx="132840" cy="13284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6" name="Text 8"/>
          <p:cNvSpPr/>
          <p:nvPr/>
        </p:nvSpPr>
        <p:spPr>
          <a:xfrm>
            <a:off x="1486080" y="6369120"/>
            <a:ext cx="4331520" cy="43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6666"/>
          </a:bodyPr>
          <a:lstStyle/>
          <a:p>
            <a:pPr defTabSz="914400">
              <a:lnSpc>
                <a:spcPct val="100000"/>
              </a:lnSpc>
              <a:tabLst>
                <a:tab pos="0" algn="l"/>
              </a:tabLst>
            </a:pPr>
            <a:r>
              <a:rPr lang="en-US" sz="2850" b="1" strike="noStrike" spc="-1">
                <a:solidFill>
                  <a:srgbClr val="E6EDF3"/>
                </a:solidFill>
                <a:latin typeface="Archivo"/>
                <a:ea typeface="Archivo"/>
              </a:rPr>
              <a:t>ROS 2 + custom firmware</a:t>
            </a:r>
            <a:endParaRPr lang="en-US" sz="2850" b="0" strike="noStrike" spc="-1">
              <a:solidFill>
                <a:srgbClr val="FFFFFF"/>
              </a:solidFill>
              <a:latin typeface="Arial"/>
            </a:endParaRPr>
          </a:p>
        </p:txBody>
      </p:sp>
      <p:sp>
        <p:nvSpPr>
          <p:cNvPr id="29" name="Text 11"/>
          <p:cNvSpPr/>
          <p:nvPr/>
        </p:nvSpPr>
        <p:spPr>
          <a:xfrm>
            <a:off x="10077697" y="7980480"/>
            <a:ext cx="855000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43" dirty="0">
                <a:solidFill>
                  <a:srgbClr val="5C6977"/>
                </a:solidFill>
                <a:latin typeface="JetBrains Mono"/>
                <a:ea typeface="JetBrains Mono"/>
              </a:rPr>
              <a:t>↳ RViz · </a:t>
            </a:r>
            <a:r>
              <a:rPr lang="en-US" spc="143" dirty="0">
                <a:solidFill>
                  <a:srgbClr val="5C6977"/>
                </a:solidFill>
                <a:latin typeface="JetBrains Mono"/>
                <a:ea typeface="JetBrains Mono"/>
              </a:rPr>
              <a:t>one</a:t>
            </a:r>
            <a:r>
              <a:rPr lang="en-US" sz="1800" b="0" strike="noStrike" spc="143" dirty="0">
                <a:solidFill>
                  <a:srgbClr val="5C6977"/>
                </a:solidFill>
                <a:latin typeface="JetBrains Mono"/>
                <a:ea typeface="JetBrains Mono"/>
              </a:rPr>
              <a:t> → </a:t>
            </a:r>
            <a:r>
              <a:rPr lang="en-US" spc="143" dirty="0">
                <a:solidFill>
                  <a:srgbClr val="5C6977"/>
                </a:solidFill>
                <a:latin typeface="JetBrains Mono"/>
                <a:ea typeface="JetBrains Mono"/>
              </a:rPr>
              <a:t>two</a:t>
            </a:r>
            <a:r>
              <a:rPr lang="en-US" sz="1800" b="0" strike="noStrike" spc="143" dirty="0">
                <a:solidFill>
                  <a:srgbClr val="5C6977"/>
                </a:solidFill>
                <a:latin typeface="JetBrains Mono"/>
                <a:ea typeface="JetBrains Mono"/>
              </a:rPr>
              <a:t> → </a:t>
            </a:r>
            <a:r>
              <a:rPr lang="en-US" spc="143" dirty="0">
                <a:solidFill>
                  <a:srgbClr val="5C6977"/>
                </a:solidFill>
                <a:latin typeface="JetBrains Mono"/>
                <a:ea typeface="JetBrains Mono"/>
              </a:rPr>
              <a:t>three </a:t>
            </a:r>
            <a:r>
              <a:rPr lang="en-US" sz="1800" b="0" strike="noStrike" spc="143" dirty="0">
                <a:solidFill>
                  <a:srgbClr val="5C6977"/>
                </a:solidFill>
                <a:latin typeface="JetBrains Mono"/>
                <a:ea typeface="JetBrains Mono"/>
              </a:rPr>
              <a:t>→ four → </a:t>
            </a:r>
            <a:r>
              <a:rPr lang="en-US" spc="143" dirty="0">
                <a:solidFill>
                  <a:srgbClr val="5C6977"/>
                </a:solidFill>
                <a:latin typeface="JetBrains Mono"/>
                <a:ea typeface="JetBrains Mono"/>
              </a:rPr>
              <a:t>five</a:t>
            </a:r>
            <a:endParaRPr lang="en-US" sz="1800" b="0" strike="noStrike" spc="-1" dirty="0">
              <a:solidFill>
                <a:srgbClr val="FFFFFF"/>
              </a:solidFill>
              <a:latin typeface="Arial"/>
            </a:endParaRPr>
          </a:p>
        </p:txBody>
      </p:sp>
      <p:pic>
        <p:nvPicPr>
          <p:cNvPr id="4" name="Counting">
            <a:hlinkClick r:id="" action="ppaction://media"/>
            <a:extLst>
              <a:ext uri="{FF2B5EF4-FFF2-40B4-BE49-F238E27FC236}">
                <a16:creationId xmlns:a16="http://schemas.microsoft.com/office/drawing/2014/main" id="{77734ECE-577E-2A17-246D-0075D9189E77}"/>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30036" t="3265" r="17770" b="7326"/>
          <a:stretch>
            <a:fillRect/>
          </a:stretch>
        </p:blipFill>
        <p:spPr>
          <a:xfrm>
            <a:off x="8827128" y="1967040"/>
            <a:ext cx="7286548" cy="58449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93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3"/>
        </a:solidFill>
        <a:effectLst/>
      </p:bgPr>
    </p:bg>
    <p:spTree>
      <p:nvGrpSpPr>
        <p:cNvPr id="1" name=""/>
        <p:cNvGrpSpPr/>
        <p:nvPr/>
      </p:nvGrpSpPr>
      <p:grpSpPr>
        <a:xfrm>
          <a:off x="0" y="0"/>
          <a:ext cx="0" cy="0"/>
          <a:chOff x="0" y="0"/>
          <a:chExt cx="0" cy="0"/>
        </a:xfrm>
      </p:grpSpPr>
      <p:sp>
        <p:nvSpPr>
          <p:cNvPr id="140" name="Shape 0"/>
          <p:cNvSpPr/>
          <p:nvPr/>
        </p:nvSpPr>
        <p:spPr>
          <a:xfrm>
            <a:off x="-1143000" y="5143680"/>
            <a:ext cx="6857640" cy="6857640"/>
          </a:xfrm>
          <a:prstGeom prst="rect">
            <a:avLst/>
          </a:prstGeom>
          <a:gradFill rotWithShape="0">
            <a:gsLst>
              <a:gs pos="0">
                <a:srgbClr val="00D4FF">
                  <a:alpha val="12000"/>
                </a:srgbClr>
              </a:gs>
              <a:gs pos="64000">
                <a:srgbClr val="00D4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1" name="Text 1"/>
          <p:cNvSpPr/>
          <p:nvPr/>
        </p:nvSpPr>
        <p:spPr>
          <a:xfrm>
            <a:off x="1104840" y="2687760"/>
            <a:ext cx="1676880" cy="1180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0277" lnSpcReduction="10000"/>
          </a:bodyPr>
          <a:lstStyle/>
          <a:p>
            <a:pPr defTabSz="914400">
              <a:lnSpc>
                <a:spcPct val="100000"/>
              </a:lnSpc>
              <a:tabLst>
                <a:tab pos="0" algn="l"/>
              </a:tabLst>
            </a:pPr>
            <a:r>
              <a:rPr lang="en-US" sz="9000" b="0" strike="noStrike" spc="-1">
                <a:solidFill>
                  <a:srgbClr val="00D4FF">
                    <a:alpha val="22000"/>
                  </a:srgbClr>
                </a:solidFill>
                <a:latin typeface="Archivo Black"/>
                <a:ea typeface="Archivo Black"/>
              </a:rPr>
              <a:t>01</a:t>
            </a:r>
            <a:endParaRPr lang="en-US" sz="9000" b="0" strike="noStrike" spc="-1">
              <a:solidFill>
                <a:srgbClr val="FFFFFF"/>
              </a:solidFill>
              <a:latin typeface="Arial"/>
            </a:endParaRPr>
          </a:p>
        </p:txBody>
      </p:sp>
      <p:sp>
        <p:nvSpPr>
          <p:cNvPr id="142" name="Text 2"/>
          <p:cNvSpPr/>
          <p:nvPr/>
        </p:nvSpPr>
        <p:spPr>
          <a:xfrm>
            <a:off x="2915280" y="3386160"/>
            <a:ext cx="710964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0" strike="noStrike" spc="582">
                <a:solidFill>
                  <a:srgbClr val="00D4FF"/>
                </a:solidFill>
                <a:latin typeface="JetBrains Mono"/>
                <a:ea typeface="JetBrains Mono"/>
              </a:rPr>
              <a:t>SECTION 01 · PHASE 1 COMPLETE</a:t>
            </a:r>
            <a:endParaRPr lang="en-US" sz="1950" b="0" strike="noStrike" spc="-1">
              <a:solidFill>
                <a:srgbClr val="FFFFFF"/>
              </a:solidFill>
              <a:latin typeface="Arial"/>
            </a:endParaRPr>
          </a:p>
        </p:txBody>
      </p:sp>
      <p:sp>
        <p:nvSpPr>
          <p:cNvPr id="143" name="Text 3"/>
          <p:cNvSpPr/>
          <p:nvPr/>
        </p:nvSpPr>
        <p:spPr>
          <a:xfrm>
            <a:off x="1104840" y="4116600"/>
            <a:ext cx="16560360" cy="2329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93000"/>
              </a:lnSpc>
              <a:tabLst>
                <a:tab pos="0" algn="l"/>
              </a:tabLst>
            </a:pPr>
            <a:r>
              <a:rPr lang="en-US" sz="9600" b="1" spc="-194" dirty="0">
                <a:solidFill>
                  <a:srgbClr val="FFFFFF"/>
                </a:solidFill>
                <a:latin typeface="Archivo Black"/>
              </a:rPr>
              <a:t>Mechanical</a:t>
            </a:r>
            <a:endParaRPr lang="en-US" sz="9600" b="0" strike="noStrike" spc="-1" dirty="0">
              <a:solidFill>
                <a:srgbClr val="FFFFFF"/>
              </a:solidFill>
              <a:latin typeface="Arial"/>
            </a:endParaRPr>
          </a:p>
        </p:txBody>
      </p:sp>
      <p:sp>
        <p:nvSpPr>
          <p:cNvPr id="144" name="Shape 4"/>
          <p:cNvSpPr/>
          <p:nvPr/>
        </p:nvSpPr>
        <p:spPr>
          <a:xfrm>
            <a:off x="1104840" y="6846840"/>
            <a:ext cx="1142640" cy="3780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strike="noStrike" spc="-1">
              <a:solidFill>
                <a:srgbClr val="FFFFFF"/>
              </a:solidFill>
              <a:latin typeface="Arial"/>
            </a:endParaRPr>
          </a:p>
        </p:txBody>
      </p:sp>
      <p:sp>
        <p:nvSpPr>
          <p:cNvPr id="145" name="Text 5"/>
          <p:cNvSpPr/>
          <p:nvPr/>
        </p:nvSpPr>
        <p:spPr>
          <a:xfrm>
            <a:off x="1104840" y="7170480"/>
            <a:ext cx="17685720" cy="466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550" b="0" strike="noStrike" spc="100" dirty="0">
                <a:solidFill>
                  <a:srgbClr val="00D4FF"/>
                </a:solidFill>
                <a:latin typeface="JetBrains Mono"/>
                <a:ea typeface="JetBrains Mono"/>
              </a:rPr>
              <a:t>Mechanical Design · URDF </a:t>
            </a:r>
            <a:endParaRPr lang="en-US" sz="2550" b="0" strike="noStrike" spc="-1" dirty="0">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146" name="Text 0"/>
          <p:cNvSpPr/>
          <p:nvPr/>
        </p:nvSpPr>
        <p:spPr>
          <a:xfrm>
            <a:off x="1104840" y="800280"/>
            <a:ext cx="471456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562">
                <a:solidFill>
                  <a:srgbClr val="00D4FF"/>
                </a:solidFill>
                <a:latin typeface="JetBrains Mono"/>
                <a:ea typeface="JetBrains Mono"/>
              </a:rPr>
              <a:t>PHASE 1 · MECHANICAL</a:t>
            </a:r>
            <a:endParaRPr lang="en-US" sz="1870" b="0" strike="noStrike" spc="-1">
              <a:solidFill>
                <a:srgbClr val="FFFFFF"/>
              </a:solidFill>
              <a:latin typeface="Arial"/>
            </a:endParaRPr>
          </a:p>
        </p:txBody>
      </p:sp>
      <p:sp>
        <p:nvSpPr>
          <p:cNvPr id="147" name="Text 1"/>
          <p:cNvSpPr/>
          <p:nvPr/>
        </p:nvSpPr>
        <p:spPr>
          <a:xfrm>
            <a:off x="15882840" y="800280"/>
            <a:ext cx="14299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35" dirty="0">
                <a:solidFill>
                  <a:srgbClr val="5C6977"/>
                </a:solidFill>
                <a:latin typeface="JetBrains Mono"/>
                <a:ea typeface="JetBrains Mono"/>
              </a:rPr>
              <a:t>04 / 22</a:t>
            </a:r>
            <a:endParaRPr lang="en-US" sz="1870" b="0" strike="noStrike" spc="-1" dirty="0">
              <a:solidFill>
                <a:srgbClr val="FFFFFF"/>
              </a:solidFill>
              <a:latin typeface="Arial"/>
            </a:endParaRPr>
          </a:p>
        </p:txBody>
      </p:sp>
      <p:sp>
        <p:nvSpPr>
          <p:cNvPr id="148" name="Text 2"/>
          <p:cNvSpPr/>
          <p:nvPr/>
        </p:nvSpPr>
        <p:spPr>
          <a:xfrm>
            <a:off x="1104840" y="1346040"/>
            <a:ext cx="17685720" cy="7808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20000"/>
          </a:bodyPr>
          <a:lstStyle/>
          <a:p>
            <a:pPr defTabSz="914400">
              <a:lnSpc>
                <a:spcPct val="100000"/>
              </a:lnSpc>
              <a:tabLst>
                <a:tab pos="0" algn="l"/>
              </a:tabLst>
            </a:pPr>
            <a:r>
              <a:rPr lang="en-US" sz="5850" b="1" strike="noStrike" spc="-1">
                <a:solidFill>
                  <a:srgbClr val="FFFFFF"/>
                </a:solidFill>
                <a:latin typeface="Archivo Black"/>
                <a:ea typeface="Archivo Black"/>
              </a:rPr>
              <a:t>1 Motor </a:t>
            </a:r>
            <a:r>
              <a:rPr lang="en-US" sz="5850" b="1" strike="noStrike" spc="-1">
                <a:solidFill>
                  <a:srgbClr val="00D4FF"/>
                </a:solidFill>
                <a:latin typeface="Archivo Black"/>
                <a:ea typeface="Archivo Black"/>
              </a:rPr>
              <a:t>→ </a:t>
            </a:r>
            <a:r>
              <a:rPr lang="en-US" sz="5850" b="1" strike="noStrike" spc="-1">
                <a:solidFill>
                  <a:srgbClr val="FFFFFF"/>
                </a:solidFill>
                <a:latin typeface="Archivo Black"/>
                <a:ea typeface="Archivo Black"/>
              </a:rPr>
              <a:t>3 Joints </a:t>
            </a:r>
            <a:r>
              <a:rPr lang="en-US" sz="3900" b="1" strike="noStrike" spc="-1">
                <a:solidFill>
                  <a:srgbClr val="5C6977"/>
                </a:solidFill>
                <a:latin typeface="Archivo Black"/>
                <a:ea typeface="Archivo Black"/>
              </a:rPr>
              <a:t>per finger</a:t>
            </a:r>
            <a:endParaRPr lang="en-US" sz="3900" b="0" strike="noStrike" spc="-1">
              <a:solidFill>
                <a:srgbClr val="FFFFFF"/>
              </a:solidFill>
              <a:latin typeface="Arial"/>
            </a:endParaRPr>
          </a:p>
        </p:txBody>
      </p:sp>
      <p:sp>
        <p:nvSpPr>
          <p:cNvPr id="149" name="Text 3"/>
          <p:cNvSpPr/>
          <p:nvPr/>
        </p:nvSpPr>
        <p:spPr>
          <a:xfrm>
            <a:off x="1104840" y="2184480"/>
            <a:ext cx="176857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250" b="0" strike="noStrike" spc="-1">
                <a:solidFill>
                  <a:srgbClr val="8A97A6"/>
                </a:solidFill>
                <a:latin typeface="Archivo"/>
                <a:ea typeface="Archivo"/>
              </a:rPr>
              <a:t>Master–slave kinematics — MCP drives, PIP &amp; DIP follow via four-bar linkage</a:t>
            </a:r>
            <a:endParaRPr lang="en-US" sz="2250" b="0" strike="noStrike" spc="-1">
              <a:solidFill>
                <a:srgbClr val="FFFFFF"/>
              </a:solidFill>
              <a:latin typeface="Arial"/>
            </a:endParaRPr>
          </a:p>
        </p:txBody>
      </p:sp>
      <p:sp>
        <p:nvSpPr>
          <p:cNvPr id="150" name="Shape 4"/>
          <p:cNvSpPr/>
          <p:nvPr/>
        </p:nvSpPr>
        <p:spPr>
          <a:xfrm>
            <a:off x="1104840" y="3884760"/>
            <a:ext cx="1257120" cy="1257120"/>
          </a:xfrm>
          <a:prstGeom prst="rect">
            <a:avLst/>
          </a:prstGeom>
          <a:solidFill>
            <a:srgbClr val="12181F"/>
          </a:solidFill>
          <a:ln w="15875">
            <a:solidFill>
              <a:srgbClr val="00D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1" name="Shape 5"/>
          <p:cNvSpPr/>
          <p:nvPr/>
        </p:nvSpPr>
        <p:spPr>
          <a:xfrm>
            <a:off x="1467000" y="4246560"/>
            <a:ext cx="533160" cy="533160"/>
          </a:xfrm>
          <a:prstGeom prst="ellipse">
            <a:avLst/>
          </a:prstGeom>
          <a:noFill/>
          <a:ln w="23813">
            <a:solidFill>
              <a:srgbClr val="00D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2" name="Shape 6"/>
          <p:cNvSpPr/>
          <p:nvPr/>
        </p:nvSpPr>
        <p:spPr>
          <a:xfrm>
            <a:off x="2505240" y="4351320"/>
            <a:ext cx="323640" cy="323640"/>
          </a:xfrm>
          <a:prstGeom prst="ellipse">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3" name="Shape 7"/>
          <p:cNvSpPr/>
          <p:nvPr/>
        </p:nvSpPr>
        <p:spPr>
          <a:xfrm>
            <a:off x="2971800" y="4370400"/>
            <a:ext cx="6174000" cy="285480"/>
          </a:xfrm>
          <a:prstGeom prst="rect">
            <a:avLst/>
          </a:prstGeom>
          <a:solidFill>
            <a:srgbClr val="1C2730"/>
          </a:solidFill>
          <a:ln w="7937">
            <a:solidFill>
              <a:srgbClr val="00D4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4" name="Shape 8"/>
          <p:cNvSpPr/>
          <p:nvPr/>
        </p:nvSpPr>
        <p:spPr>
          <a:xfrm>
            <a:off x="9308160" y="4370400"/>
            <a:ext cx="285480" cy="285480"/>
          </a:xfrm>
          <a:prstGeom prst="ellipse">
            <a:avLst/>
          </a:prstGeom>
          <a:solidFill>
            <a:srgbClr val="0F1419"/>
          </a:solidFill>
          <a:ln w="23813">
            <a:solidFill>
              <a:srgbClr val="00D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5" name="Shape 9"/>
          <p:cNvSpPr/>
          <p:nvPr/>
        </p:nvSpPr>
        <p:spPr>
          <a:xfrm>
            <a:off x="9756000" y="4370400"/>
            <a:ext cx="3833640" cy="285480"/>
          </a:xfrm>
          <a:prstGeom prst="rect">
            <a:avLst/>
          </a:prstGeom>
          <a:solidFill>
            <a:srgbClr val="1C2730"/>
          </a:solidFill>
          <a:ln w="7937">
            <a:solidFill>
              <a:srgbClr val="00D4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6" name="Shape 10"/>
          <p:cNvSpPr/>
          <p:nvPr/>
        </p:nvSpPr>
        <p:spPr>
          <a:xfrm>
            <a:off x="13752000" y="4370400"/>
            <a:ext cx="285480" cy="285480"/>
          </a:xfrm>
          <a:prstGeom prst="ellipse">
            <a:avLst/>
          </a:prstGeom>
          <a:solidFill>
            <a:srgbClr val="0F1419"/>
          </a:solidFill>
          <a:ln w="23813">
            <a:solidFill>
              <a:srgbClr val="00D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7" name="Shape 11"/>
          <p:cNvSpPr/>
          <p:nvPr/>
        </p:nvSpPr>
        <p:spPr>
          <a:xfrm>
            <a:off x="14199480" y="4370400"/>
            <a:ext cx="2602080" cy="285480"/>
          </a:xfrm>
          <a:prstGeom prst="rect">
            <a:avLst/>
          </a:prstGeom>
          <a:solidFill>
            <a:srgbClr val="1C2730"/>
          </a:solidFill>
          <a:ln w="7937">
            <a:solidFill>
              <a:srgbClr val="00D4FF">
                <a:alpha val="4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8" name="Shape 12"/>
          <p:cNvSpPr/>
          <p:nvPr/>
        </p:nvSpPr>
        <p:spPr>
          <a:xfrm rot="2700000">
            <a:off x="16906680" y="4427280"/>
            <a:ext cx="171000" cy="17100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9" name="Text 13"/>
          <p:cNvSpPr/>
          <p:nvPr/>
        </p:nvSpPr>
        <p:spPr>
          <a:xfrm>
            <a:off x="1066680" y="5351400"/>
            <a:ext cx="1333080" cy="632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30000"/>
              </a:lnSpc>
              <a:tabLst>
                <a:tab pos="0" algn="l"/>
              </a:tabLst>
            </a:pPr>
            <a:r>
              <a:rPr lang="en-US" sz="1800" b="0" strike="noStrike" spc="-1">
                <a:solidFill>
                  <a:srgbClr val="00D4FF"/>
                </a:solidFill>
                <a:latin typeface="JetBrains Mono"/>
                <a:ea typeface="JetBrains Mono"/>
              </a:rPr>
              <a:t>F1404 BLDC</a:t>
            </a:r>
            <a:endParaRPr lang="en-US" sz="1800" b="0" strike="noStrike" spc="-1">
              <a:solidFill>
                <a:srgbClr val="FFFFFF"/>
              </a:solidFill>
              <a:latin typeface="Arial"/>
            </a:endParaRPr>
          </a:p>
        </p:txBody>
      </p:sp>
      <p:sp>
        <p:nvSpPr>
          <p:cNvPr id="160" name="Text 14"/>
          <p:cNvSpPr/>
          <p:nvPr/>
        </p:nvSpPr>
        <p:spPr>
          <a:xfrm>
            <a:off x="2324160" y="5351400"/>
            <a:ext cx="68544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00000"/>
              </a:lnSpc>
              <a:tabLst>
                <a:tab pos="0" algn="l"/>
              </a:tabLst>
            </a:pPr>
            <a:r>
              <a:rPr lang="en-US" sz="1950" b="1" strike="noStrike" spc="-1">
                <a:solidFill>
                  <a:srgbClr val="FFFFFF"/>
                </a:solidFill>
                <a:latin typeface="JetBrains Mono"/>
                <a:ea typeface="JetBrains Mono"/>
              </a:rPr>
              <a:t>MCP</a:t>
            </a:r>
            <a:endParaRPr lang="en-US" sz="1950" b="0" strike="noStrike" spc="-1">
              <a:solidFill>
                <a:srgbClr val="FFFFFF"/>
              </a:solidFill>
              <a:latin typeface="Arial"/>
            </a:endParaRPr>
          </a:p>
        </p:txBody>
      </p:sp>
      <p:sp>
        <p:nvSpPr>
          <p:cNvPr id="161" name="Text 15"/>
          <p:cNvSpPr/>
          <p:nvPr/>
        </p:nvSpPr>
        <p:spPr>
          <a:xfrm>
            <a:off x="2324160" y="5734080"/>
            <a:ext cx="68544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00000"/>
              </a:lnSpc>
              <a:tabLst>
                <a:tab pos="0" algn="l"/>
              </a:tabLst>
            </a:pPr>
            <a:r>
              <a:rPr lang="en-US" sz="1800" b="0" strike="noStrike" spc="-1">
                <a:solidFill>
                  <a:srgbClr val="00D4FF"/>
                </a:solidFill>
                <a:latin typeface="JetBrains Mono"/>
                <a:ea typeface="JetBrains Mono"/>
              </a:rPr>
              <a:t>90°</a:t>
            </a:r>
            <a:endParaRPr lang="en-US" sz="1800" b="0" strike="noStrike" spc="-1">
              <a:solidFill>
                <a:srgbClr val="FFFFFF"/>
              </a:solidFill>
              <a:latin typeface="Arial"/>
            </a:endParaRPr>
          </a:p>
        </p:txBody>
      </p:sp>
      <p:sp>
        <p:nvSpPr>
          <p:cNvPr id="162" name="Text 16"/>
          <p:cNvSpPr/>
          <p:nvPr/>
        </p:nvSpPr>
        <p:spPr>
          <a:xfrm>
            <a:off x="2878920" y="5351400"/>
            <a:ext cx="6366960" cy="632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30000"/>
              </a:lnSpc>
              <a:tabLst>
                <a:tab pos="0" algn="l"/>
              </a:tabLst>
            </a:pPr>
            <a:r>
              <a:rPr lang="en-US" sz="1800" b="0" strike="noStrike" spc="-1">
                <a:solidFill>
                  <a:srgbClr val="8A97A6"/>
                </a:solidFill>
                <a:latin typeface="JetBrains Mono"/>
                <a:ea typeface="JetBrains Mono"/>
              </a:rPr>
              <a:t>45 mm </a:t>
            </a:r>
            <a:r>
              <a:rPr lang="en-US" sz="1800" b="0" strike="noStrike" spc="-1">
                <a:solidFill>
                  <a:srgbClr val="5C6977"/>
                </a:solidFill>
                <a:latin typeface="JetBrains Mono"/>
                <a:ea typeface="JetBrains Mono"/>
              </a:rPr>
              <a:t>proximal</a:t>
            </a:r>
            <a:endParaRPr lang="en-US" sz="1800" b="0" strike="noStrike" spc="-1">
              <a:solidFill>
                <a:srgbClr val="FFFFFF"/>
              </a:solidFill>
              <a:latin typeface="Arial"/>
            </a:endParaRPr>
          </a:p>
        </p:txBody>
      </p:sp>
      <p:sp>
        <p:nvSpPr>
          <p:cNvPr id="163" name="Text 17"/>
          <p:cNvSpPr/>
          <p:nvPr/>
        </p:nvSpPr>
        <p:spPr>
          <a:xfrm>
            <a:off x="9115560" y="5351400"/>
            <a:ext cx="68544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00000"/>
              </a:lnSpc>
              <a:tabLst>
                <a:tab pos="0" algn="l"/>
              </a:tabLst>
            </a:pPr>
            <a:r>
              <a:rPr lang="en-US" sz="1950" b="1" strike="noStrike" spc="-1">
                <a:solidFill>
                  <a:srgbClr val="FFFFFF"/>
                </a:solidFill>
                <a:latin typeface="JetBrains Mono"/>
                <a:ea typeface="JetBrains Mono"/>
              </a:rPr>
              <a:t>PIP</a:t>
            </a:r>
            <a:endParaRPr lang="en-US" sz="1950" b="0" strike="noStrike" spc="-1">
              <a:solidFill>
                <a:srgbClr val="FFFFFF"/>
              </a:solidFill>
              <a:latin typeface="Arial"/>
            </a:endParaRPr>
          </a:p>
        </p:txBody>
      </p:sp>
      <p:sp>
        <p:nvSpPr>
          <p:cNvPr id="164" name="Text 18"/>
          <p:cNvSpPr/>
          <p:nvPr/>
        </p:nvSpPr>
        <p:spPr>
          <a:xfrm>
            <a:off x="9115560" y="5734080"/>
            <a:ext cx="68544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00000"/>
              </a:lnSpc>
              <a:tabLst>
                <a:tab pos="0" algn="l"/>
              </a:tabLst>
            </a:pPr>
            <a:r>
              <a:rPr lang="en-US" sz="1800" b="0" strike="noStrike" spc="-1">
                <a:solidFill>
                  <a:srgbClr val="00D4FF"/>
                </a:solidFill>
                <a:latin typeface="JetBrains Mono"/>
                <a:ea typeface="JetBrains Mono"/>
              </a:rPr>
              <a:t>100°</a:t>
            </a:r>
            <a:endParaRPr lang="en-US" sz="1800" b="0" strike="noStrike" spc="-1">
              <a:solidFill>
                <a:srgbClr val="FFFFFF"/>
              </a:solidFill>
              <a:latin typeface="Arial"/>
            </a:endParaRPr>
          </a:p>
        </p:txBody>
      </p:sp>
      <p:sp>
        <p:nvSpPr>
          <p:cNvPr id="165" name="Text 19"/>
          <p:cNvSpPr/>
          <p:nvPr/>
        </p:nvSpPr>
        <p:spPr>
          <a:xfrm>
            <a:off x="9705960" y="5351400"/>
            <a:ext cx="3947400" cy="632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30000"/>
              </a:lnSpc>
              <a:tabLst>
                <a:tab pos="0" algn="l"/>
              </a:tabLst>
            </a:pPr>
            <a:r>
              <a:rPr lang="en-US" sz="1800" b="0" strike="noStrike" spc="-1">
                <a:solidFill>
                  <a:srgbClr val="8A97A6"/>
                </a:solidFill>
                <a:latin typeface="JetBrains Mono"/>
                <a:ea typeface="JetBrains Mono"/>
              </a:rPr>
              <a:t>27 mm </a:t>
            </a:r>
            <a:r>
              <a:rPr lang="en-US" sz="1800" b="0" strike="noStrike" spc="-1">
                <a:solidFill>
                  <a:srgbClr val="5C6977"/>
                </a:solidFill>
                <a:latin typeface="JetBrains Mono"/>
                <a:ea typeface="JetBrains Mono"/>
              </a:rPr>
              <a:t>middle</a:t>
            </a:r>
            <a:endParaRPr lang="en-US" sz="1800" b="0" strike="noStrike" spc="-1">
              <a:solidFill>
                <a:srgbClr val="FFFFFF"/>
              </a:solidFill>
              <a:latin typeface="Arial"/>
            </a:endParaRPr>
          </a:p>
        </p:txBody>
      </p:sp>
      <p:sp>
        <p:nvSpPr>
          <p:cNvPr id="166" name="Text 20"/>
          <p:cNvSpPr/>
          <p:nvPr/>
        </p:nvSpPr>
        <p:spPr>
          <a:xfrm>
            <a:off x="13557960" y="5351400"/>
            <a:ext cx="68544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00000"/>
              </a:lnSpc>
              <a:tabLst>
                <a:tab pos="0" algn="l"/>
              </a:tabLst>
            </a:pPr>
            <a:r>
              <a:rPr lang="en-US" sz="1950" b="1" strike="noStrike" spc="-1">
                <a:solidFill>
                  <a:srgbClr val="FFFFFF"/>
                </a:solidFill>
                <a:latin typeface="JetBrains Mono"/>
                <a:ea typeface="JetBrains Mono"/>
              </a:rPr>
              <a:t>DIP</a:t>
            </a:r>
            <a:endParaRPr lang="en-US" sz="1950" b="0" strike="noStrike" spc="-1">
              <a:solidFill>
                <a:srgbClr val="FFFFFF"/>
              </a:solidFill>
              <a:latin typeface="Arial"/>
            </a:endParaRPr>
          </a:p>
        </p:txBody>
      </p:sp>
      <p:sp>
        <p:nvSpPr>
          <p:cNvPr id="167" name="Text 21"/>
          <p:cNvSpPr/>
          <p:nvPr/>
        </p:nvSpPr>
        <p:spPr>
          <a:xfrm>
            <a:off x="13557960" y="5734080"/>
            <a:ext cx="68544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00000"/>
              </a:lnSpc>
              <a:tabLst>
                <a:tab pos="0" algn="l"/>
              </a:tabLst>
            </a:pPr>
            <a:r>
              <a:rPr lang="en-US" sz="1800" b="0" strike="noStrike" spc="-1">
                <a:solidFill>
                  <a:srgbClr val="00D4FF"/>
                </a:solidFill>
                <a:latin typeface="JetBrains Mono"/>
                <a:ea typeface="JetBrains Mono"/>
              </a:rPr>
              <a:t>70°</a:t>
            </a:r>
            <a:endParaRPr lang="en-US" sz="1800" b="0" strike="noStrike" spc="-1">
              <a:solidFill>
                <a:srgbClr val="FFFFFF"/>
              </a:solidFill>
              <a:latin typeface="Arial"/>
            </a:endParaRPr>
          </a:p>
        </p:txBody>
      </p:sp>
      <p:sp>
        <p:nvSpPr>
          <p:cNvPr id="168" name="Text 22"/>
          <p:cNvSpPr/>
          <p:nvPr/>
        </p:nvSpPr>
        <p:spPr>
          <a:xfrm>
            <a:off x="14166720" y="5351400"/>
            <a:ext cx="2673720" cy="632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30000"/>
              </a:lnSpc>
              <a:tabLst>
                <a:tab pos="0" algn="l"/>
              </a:tabLst>
            </a:pPr>
            <a:r>
              <a:rPr lang="en-US" sz="1800" b="0" strike="noStrike" spc="-1">
                <a:solidFill>
                  <a:srgbClr val="8A97A6"/>
                </a:solidFill>
                <a:latin typeface="JetBrains Mono"/>
                <a:ea typeface="JetBrains Mono"/>
              </a:rPr>
              <a:t>18 mm </a:t>
            </a:r>
            <a:r>
              <a:rPr lang="en-US" sz="1800" b="0" strike="noStrike" spc="-1">
                <a:solidFill>
                  <a:srgbClr val="5C6977"/>
                </a:solidFill>
                <a:latin typeface="JetBrains Mono"/>
                <a:ea typeface="JetBrains Mono"/>
              </a:rPr>
              <a:t>distal</a:t>
            </a:r>
            <a:endParaRPr lang="en-US" sz="1800" b="0" strike="noStrike" spc="-1">
              <a:solidFill>
                <a:srgbClr val="FFFFFF"/>
              </a:solidFill>
              <a:latin typeface="Arial"/>
            </a:endParaRPr>
          </a:p>
        </p:txBody>
      </p:sp>
      <p:sp>
        <p:nvSpPr>
          <p:cNvPr id="169" name="Shape 23"/>
          <p:cNvSpPr/>
          <p:nvPr/>
        </p:nvSpPr>
        <p:spPr>
          <a:xfrm>
            <a:off x="1104840" y="6559560"/>
            <a:ext cx="5001840" cy="15480"/>
          </a:xfrm>
          <a:prstGeom prst="rect">
            <a:avLst/>
          </a:prstGeom>
          <a:solidFill>
            <a:srgbClr val="00D4FF">
              <a:alpha val="45000"/>
            </a:srgbClr>
          </a:solidFill>
          <a:ln w="0">
            <a:noFill/>
          </a:ln>
        </p:spPr>
        <p:style>
          <a:lnRef idx="0">
            <a:scrgbClr r="0" g="0" b="0"/>
          </a:lnRef>
          <a:fillRef idx="0">
            <a:scrgbClr r="0" g="0" b="0"/>
          </a:fillRef>
          <a:effectRef idx="0">
            <a:scrgbClr r="0" g="0" b="0"/>
          </a:effectRef>
          <a:fontRef idx="minor"/>
        </p:style>
        <p:txBody>
          <a:bodyPr lIns="90000" tIns="-29160" rIns="90000" bIns="-29160" anchor="t">
            <a:noAutofit/>
          </a:bodyPr>
          <a:lstStyle/>
          <a:p>
            <a:endParaRPr lang="en-US" sz="1800" b="0" strike="noStrike" spc="-1">
              <a:solidFill>
                <a:srgbClr val="FFFFFF"/>
              </a:solidFill>
              <a:latin typeface="Arial"/>
            </a:endParaRPr>
          </a:p>
        </p:txBody>
      </p:sp>
      <p:sp>
        <p:nvSpPr>
          <p:cNvPr id="170" name="Text 24"/>
          <p:cNvSpPr/>
          <p:nvPr/>
        </p:nvSpPr>
        <p:spPr>
          <a:xfrm>
            <a:off x="6278400" y="6416640"/>
            <a:ext cx="6303600" cy="339480"/>
          </a:xfrm>
          <a:prstGeom prst="rect">
            <a:avLst/>
          </a:prstGeom>
          <a:noFill/>
          <a:ln w="0">
            <a:noFill/>
          </a:ln>
        </p:spPr>
        <p:style>
          <a:lnRef idx="0">
            <a:scrgbClr r="0" g="0" b="0"/>
          </a:lnRef>
          <a:fillRef idx="0">
            <a:scrgbClr r="0" g="0" b="0"/>
          </a:fillRef>
          <a:effectRef idx="0">
            <a:scrgbClr r="0" g="0" b="0"/>
          </a:effectRef>
          <a:fontRef idx="minor"/>
        </p:style>
        <p:txBody>
          <a:bodyPr wrap="none" lIns="25560" tIns="25560" rIns="25560" bIns="25560" anchor="t">
            <a:normAutofit/>
          </a:bodyPr>
          <a:lstStyle/>
          <a:p>
            <a:pPr defTabSz="914400">
              <a:lnSpc>
                <a:spcPct val="100000"/>
              </a:lnSpc>
              <a:tabLst>
                <a:tab pos="0" algn="l"/>
              </a:tabLst>
            </a:pPr>
            <a:r>
              <a:rPr lang="en-US" sz="1800" b="0" strike="noStrike" spc="106">
                <a:solidFill>
                  <a:srgbClr val="00D4FF"/>
                </a:solidFill>
                <a:latin typeface="JetBrains Mono"/>
                <a:ea typeface="JetBrains Mono"/>
              </a:rPr>
              <a:t>FOUR-BAR LINKAGE · ANATOMICAL COUPLING</a:t>
            </a:r>
            <a:endParaRPr lang="en-US" sz="1800" b="0" strike="noStrike" spc="-1">
              <a:solidFill>
                <a:srgbClr val="FFFFFF"/>
              </a:solidFill>
              <a:latin typeface="Arial"/>
            </a:endParaRPr>
          </a:p>
        </p:txBody>
      </p:sp>
      <p:sp>
        <p:nvSpPr>
          <p:cNvPr id="171" name="Shape 25"/>
          <p:cNvSpPr/>
          <p:nvPr/>
        </p:nvSpPr>
        <p:spPr>
          <a:xfrm>
            <a:off x="12180960" y="6559560"/>
            <a:ext cx="5001840" cy="15480"/>
          </a:xfrm>
          <a:prstGeom prst="rect">
            <a:avLst/>
          </a:prstGeom>
          <a:solidFill>
            <a:srgbClr val="00D4FF">
              <a:alpha val="45000"/>
            </a:srgbClr>
          </a:solidFill>
          <a:ln w="0">
            <a:noFill/>
          </a:ln>
        </p:spPr>
        <p:style>
          <a:lnRef idx="0">
            <a:scrgbClr r="0" g="0" b="0"/>
          </a:lnRef>
          <a:fillRef idx="0">
            <a:scrgbClr r="0" g="0" b="0"/>
          </a:fillRef>
          <a:effectRef idx="0">
            <a:scrgbClr r="0" g="0" b="0"/>
          </a:effectRef>
          <a:fontRef idx="minor"/>
        </p:style>
        <p:txBody>
          <a:bodyPr lIns="90000" tIns="-29160" rIns="90000" bIns="-29160" anchor="t">
            <a:noAutofit/>
          </a:bodyPr>
          <a:lstStyle/>
          <a:p>
            <a:endParaRPr lang="en-US" sz="1800" b="0" strike="noStrike" spc="-1">
              <a:solidFill>
                <a:srgbClr val="FFFFFF"/>
              </a:solidFill>
              <a:latin typeface="Arial"/>
            </a:endParaRPr>
          </a:p>
        </p:txBody>
      </p:sp>
      <p:sp>
        <p:nvSpPr>
          <p:cNvPr id="172" name="Shape 26"/>
          <p:cNvSpPr/>
          <p:nvPr/>
        </p:nvSpPr>
        <p:spPr>
          <a:xfrm>
            <a:off x="1104840" y="8024760"/>
            <a:ext cx="1607796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173" name="Text 27"/>
          <p:cNvSpPr/>
          <p:nvPr/>
        </p:nvSpPr>
        <p:spPr>
          <a:xfrm>
            <a:off x="9798840" y="8318520"/>
            <a:ext cx="5101200" cy="1339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r" defTabSz="914400">
              <a:lnSpc>
                <a:spcPct val="100000"/>
              </a:lnSpc>
              <a:tabLst>
                <a:tab pos="0" algn="l"/>
              </a:tabLst>
            </a:pPr>
            <a:r>
              <a:rPr lang="en-US" sz="1950" b="0" strike="noStrike" spc="-1">
                <a:solidFill>
                  <a:srgbClr val="8A97A6"/>
                </a:solidFill>
                <a:latin typeface="JetBrains Mono"/>
                <a:ea typeface="JetBrains Mono"/>
              </a:rPr>
              <a:t>ONE motor per finger drives the MCP — PIP &amp; DIP follow. No per-joint actuators.</a:t>
            </a:r>
            <a:endParaRPr lang="en-US" sz="1950" b="0" strike="noStrike" spc="-1">
              <a:solidFill>
                <a:srgbClr val="FFFFFF"/>
              </a:solidFill>
              <a:latin typeface="Arial"/>
            </a:endParaRPr>
          </a:p>
        </p:txBody>
      </p:sp>
      <p:sp>
        <p:nvSpPr>
          <p:cNvPr id="174" name="Text 28"/>
          <p:cNvSpPr/>
          <p:nvPr/>
        </p:nvSpPr>
        <p:spPr>
          <a:xfrm>
            <a:off x="15243480" y="8396280"/>
            <a:ext cx="685800" cy="860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20000"/>
          </a:bodyPr>
          <a:lstStyle/>
          <a:p>
            <a:pPr defTabSz="914400">
              <a:lnSpc>
                <a:spcPct val="90000"/>
              </a:lnSpc>
              <a:tabLst>
                <a:tab pos="0" algn="l"/>
              </a:tabLst>
            </a:pPr>
            <a:r>
              <a:rPr lang="en-US" sz="7200" b="0" strike="noStrike" spc="-1">
                <a:solidFill>
                  <a:srgbClr val="00D4FF"/>
                </a:solidFill>
                <a:latin typeface="Archivo Black"/>
                <a:ea typeface="Archivo Black"/>
              </a:rPr>
              <a:t>5</a:t>
            </a:r>
            <a:endParaRPr lang="en-US" sz="7200" b="0" strike="noStrike" spc="-1">
              <a:solidFill>
                <a:srgbClr val="FFFFFF"/>
              </a:solidFill>
              <a:latin typeface="Arial"/>
            </a:endParaRPr>
          </a:p>
        </p:txBody>
      </p:sp>
      <p:sp>
        <p:nvSpPr>
          <p:cNvPr id="175" name="Text 29"/>
          <p:cNvSpPr/>
          <p:nvPr/>
        </p:nvSpPr>
        <p:spPr>
          <a:xfrm>
            <a:off x="16062840" y="8843760"/>
            <a:ext cx="1195920" cy="736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100" b="0" strike="noStrike" spc="-1">
                <a:solidFill>
                  <a:srgbClr val="5C6977"/>
                </a:solidFill>
                <a:latin typeface="JetBrains Mono"/>
                <a:ea typeface="JetBrains Mono"/>
              </a:rPr>
              <a:t>motors, </a:t>
            </a:r>
            <a:r>
              <a:rPr lang="en-US" sz="2100" b="0" strike="sngStrike" spc="-1">
                <a:solidFill>
                  <a:srgbClr val="5C6977"/>
                </a:solidFill>
                <a:latin typeface="JetBrains Mono"/>
                <a:ea typeface="JetBrains Mono"/>
              </a:rPr>
              <a:t>not 15</a:t>
            </a:r>
            <a:endParaRPr lang="en-US" sz="2100" b="0" strike="noStrike" spc="-1">
              <a:solidFill>
                <a:srgbClr val="FFFFFF"/>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176" name="Text 0"/>
          <p:cNvSpPr/>
          <p:nvPr/>
        </p:nvSpPr>
        <p:spPr>
          <a:xfrm>
            <a:off x="1104840" y="876240"/>
            <a:ext cx="471456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562">
                <a:solidFill>
                  <a:srgbClr val="00D4FF"/>
                </a:solidFill>
                <a:latin typeface="JetBrains Mono"/>
                <a:ea typeface="JetBrains Mono"/>
              </a:rPr>
              <a:t>PHASE 1 · MECHANICAL</a:t>
            </a:r>
            <a:endParaRPr lang="en-US" sz="1870" b="0" strike="noStrike" spc="-1">
              <a:solidFill>
                <a:srgbClr val="FFFFFF"/>
              </a:solidFill>
              <a:latin typeface="Arial"/>
            </a:endParaRPr>
          </a:p>
        </p:txBody>
      </p:sp>
      <p:sp>
        <p:nvSpPr>
          <p:cNvPr id="177" name="Text 1"/>
          <p:cNvSpPr/>
          <p:nvPr/>
        </p:nvSpPr>
        <p:spPr>
          <a:xfrm>
            <a:off x="15882840" y="876240"/>
            <a:ext cx="14299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35" dirty="0">
                <a:solidFill>
                  <a:srgbClr val="5C6977"/>
                </a:solidFill>
                <a:latin typeface="JetBrains Mono"/>
                <a:ea typeface="JetBrains Mono"/>
              </a:rPr>
              <a:t>05 / 22</a:t>
            </a:r>
            <a:endParaRPr lang="en-US" sz="1870" b="0" strike="noStrike" spc="-1" dirty="0">
              <a:solidFill>
                <a:srgbClr val="FFFFFF"/>
              </a:solidFill>
              <a:latin typeface="Arial"/>
            </a:endParaRPr>
          </a:p>
        </p:txBody>
      </p:sp>
      <p:sp>
        <p:nvSpPr>
          <p:cNvPr id="178" name="Text 2"/>
          <p:cNvSpPr/>
          <p:nvPr/>
        </p:nvSpPr>
        <p:spPr>
          <a:xfrm>
            <a:off x="1104840" y="1517760"/>
            <a:ext cx="17685720" cy="628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10000"/>
          </a:bodyPr>
          <a:lstStyle/>
          <a:p>
            <a:pPr defTabSz="914400">
              <a:lnSpc>
                <a:spcPct val="100000"/>
              </a:lnSpc>
              <a:tabLst>
                <a:tab pos="0" algn="l"/>
              </a:tabLst>
            </a:pPr>
            <a:r>
              <a:rPr lang="en-US" sz="4650" b="1" strike="noStrike" spc="-1">
                <a:solidFill>
                  <a:srgbClr val="FFFFFF"/>
                </a:solidFill>
                <a:latin typeface="Archivo Black"/>
                <a:ea typeface="Archivo Black"/>
              </a:rPr>
              <a:t>CAD &amp; Constraints</a:t>
            </a:r>
            <a:endParaRPr lang="en-US" sz="4650" b="0" strike="noStrike" spc="-1">
              <a:solidFill>
                <a:srgbClr val="FFFFFF"/>
              </a:solidFill>
              <a:latin typeface="Arial"/>
            </a:endParaRPr>
          </a:p>
        </p:txBody>
      </p:sp>
      <p:sp>
        <p:nvSpPr>
          <p:cNvPr id="179" name="Shape 3"/>
          <p:cNvSpPr/>
          <p:nvPr/>
        </p:nvSpPr>
        <p:spPr>
          <a:xfrm>
            <a:off x="1104840" y="4624560"/>
            <a:ext cx="81529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180" name="Text 4"/>
          <p:cNvSpPr/>
          <p:nvPr/>
        </p:nvSpPr>
        <p:spPr>
          <a:xfrm>
            <a:off x="1104840" y="4019400"/>
            <a:ext cx="1608120" cy="371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400" b="0" strike="noStrike" spc="-1">
                <a:solidFill>
                  <a:srgbClr val="8A97A6"/>
                </a:solidFill>
                <a:latin typeface="Archivo"/>
                <a:ea typeface="Archivo"/>
              </a:rPr>
              <a:t>Total mass</a:t>
            </a:r>
            <a:endParaRPr lang="en-US" sz="2400" b="0" strike="noStrike" spc="-1">
              <a:solidFill>
                <a:srgbClr val="FFFFFF"/>
              </a:solidFill>
              <a:latin typeface="Arial"/>
            </a:endParaRPr>
          </a:p>
        </p:txBody>
      </p:sp>
      <p:sp>
        <p:nvSpPr>
          <p:cNvPr id="181" name="Text 5"/>
          <p:cNvSpPr/>
          <p:nvPr/>
        </p:nvSpPr>
        <p:spPr>
          <a:xfrm>
            <a:off x="8114760" y="3948120"/>
            <a:ext cx="1219320" cy="466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3000" b="0" strike="noStrike" spc="-1">
                <a:solidFill>
                  <a:srgbClr val="FFFFFF"/>
                </a:solidFill>
                <a:latin typeface="Archivo Black"/>
                <a:ea typeface="Archivo Black"/>
              </a:rPr>
              <a:t>290 g</a:t>
            </a:r>
            <a:endParaRPr lang="en-US" sz="3000" b="0" strike="noStrike" spc="-1">
              <a:solidFill>
                <a:srgbClr val="FFFFFF"/>
              </a:solidFill>
              <a:latin typeface="Arial"/>
            </a:endParaRPr>
          </a:p>
        </p:txBody>
      </p:sp>
      <p:sp>
        <p:nvSpPr>
          <p:cNvPr id="182" name="Shape 6"/>
          <p:cNvSpPr/>
          <p:nvPr/>
        </p:nvSpPr>
        <p:spPr>
          <a:xfrm>
            <a:off x="1104840" y="5556240"/>
            <a:ext cx="81529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183" name="Text 7"/>
          <p:cNvSpPr/>
          <p:nvPr/>
        </p:nvSpPr>
        <p:spPr>
          <a:xfrm>
            <a:off x="1104840" y="4951440"/>
            <a:ext cx="3348000" cy="371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400" b="0" strike="noStrike" spc="-1">
                <a:solidFill>
                  <a:srgbClr val="8A97A6"/>
                </a:solidFill>
                <a:latin typeface="Archivo"/>
                <a:ea typeface="Archivo"/>
              </a:rPr>
              <a:t>Phalanges (Fibonacci)</a:t>
            </a:r>
            <a:endParaRPr lang="en-US" sz="2400" b="0" strike="noStrike" spc="-1">
              <a:solidFill>
                <a:srgbClr val="FFFFFF"/>
              </a:solidFill>
              <a:latin typeface="Arial"/>
            </a:endParaRPr>
          </a:p>
        </p:txBody>
      </p:sp>
      <p:sp>
        <p:nvSpPr>
          <p:cNvPr id="184" name="Text 8"/>
          <p:cNvSpPr/>
          <p:nvPr/>
        </p:nvSpPr>
        <p:spPr>
          <a:xfrm>
            <a:off x="6354000" y="4879800"/>
            <a:ext cx="3194280" cy="466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3000" b="0" strike="noStrike" spc="-1">
                <a:solidFill>
                  <a:srgbClr val="FFFFFF"/>
                </a:solidFill>
                <a:latin typeface="Archivo Black"/>
                <a:ea typeface="Archivo Black"/>
              </a:rPr>
              <a:t>45 / 27 / 18 </a:t>
            </a:r>
            <a:r>
              <a:rPr lang="en-US" sz="2100" b="0" strike="noStrike" spc="-1">
                <a:solidFill>
                  <a:srgbClr val="00D4FF"/>
                </a:solidFill>
                <a:latin typeface="Archivo Black"/>
                <a:ea typeface="Archivo Black"/>
              </a:rPr>
              <a:t>mm</a:t>
            </a:r>
            <a:endParaRPr lang="en-US" sz="2100" b="0" strike="noStrike" spc="-1">
              <a:solidFill>
                <a:srgbClr val="FFFFFF"/>
              </a:solidFill>
              <a:latin typeface="Arial"/>
            </a:endParaRPr>
          </a:p>
        </p:txBody>
      </p:sp>
      <p:sp>
        <p:nvSpPr>
          <p:cNvPr id="185" name="Shape 9"/>
          <p:cNvSpPr/>
          <p:nvPr/>
        </p:nvSpPr>
        <p:spPr>
          <a:xfrm>
            <a:off x="1104840" y="6488280"/>
            <a:ext cx="81529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186" name="Text 10"/>
          <p:cNvSpPr/>
          <p:nvPr/>
        </p:nvSpPr>
        <p:spPr>
          <a:xfrm>
            <a:off x="1104840" y="5883120"/>
            <a:ext cx="1923120" cy="371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400" b="0" strike="noStrike" spc="-1">
                <a:solidFill>
                  <a:srgbClr val="8A97A6"/>
                </a:solidFill>
                <a:latin typeface="Archivo"/>
                <a:ea typeface="Archivo"/>
              </a:rPr>
              <a:t>Construction</a:t>
            </a:r>
            <a:endParaRPr lang="en-US" sz="2400" b="0" strike="noStrike" spc="-1">
              <a:solidFill>
                <a:srgbClr val="FFFFFF"/>
              </a:solidFill>
              <a:latin typeface="Arial"/>
            </a:endParaRPr>
          </a:p>
        </p:txBody>
      </p:sp>
      <p:sp>
        <p:nvSpPr>
          <p:cNvPr id="187" name="Text 11"/>
          <p:cNvSpPr/>
          <p:nvPr/>
        </p:nvSpPr>
        <p:spPr>
          <a:xfrm>
            <a:off x="6962040" y="5811840"/>
            <a:ext cx="2525760" cy="466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3000" b="0" strike="noStrike" spc="-1">
                <a:solidFill>
                  <a:srgbClr val="FFFFFF"/>
                </a:solidFill>
                <a:latin typeface="Archivo Black"/>
                <a:ea typeface="Archivo Black"/>
              </a:rPr>
              <a:t>PA12 nylon</a:t>
            </a:r>
            <a:endParaRPr lang="en-US" sz="3000" b="0" strike="noStrike" spc="-1">
              <a:solidFill>
                <a:srgbClr val="FFFFFF"/>
              </a:solidFill>
              <a:latin typeface="Arial"/>
            </a:endParaRPr>
          </a:p>
        </p:txBody>
      </p:sp>
      <p:sp>
        <p:nvSpPr>
          <p:cNvPr id="188" name="Shape 12"/>
          <p:cNvSpPr/>
          <p:nvPr/>
        </p:nvSpPr>
        <p:spPr>
          <a:xfrm>
            <a:off x="1104840" y="7419960"/>
            <a:ext cx="81529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189" name="Text 13"/>
          <p:cNvSpPr/>
          <p:nvPr/>
        </p:nvSpPr>
        <p:spPr>
          <a:xfrm>
            <a:off x="1104840" y="6815160"/>
            <a:ext cx="1469160" cy="371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400" b="0" strike="noStrike" spc="-1">
                <a:solidFill>
                  <a:srgbClr val="8A97A6"/>
                </a:solidFill>
                <a:latin typeface="Archivo"/>
                <a:ea typeface="Archivo"/>
              </a:rPr>
              <a:t>Gear train</a:t>
            </a:r>
            <a:endParaRPr lang="en-US" sz="2400" b="0" strike="noStrike" spc="-1">
              <a:solidFill>
                <a:srgbClr val="FFFFFF"/>
              </a:solidFill>
              <a:latin typeface="Arial"/>
            </a:endParaRPr>
          </a:p>
        </p:txBody>
      </p:sp>
      <p:sp>
        <p:nvSpPr>
          <p:cNvPr id="190" name="Text 14"/>
          <p:cNvSpPr/>
          <p:nvPr/>
        </p:nvSpPr>
        <p:spPr>
          <a:xfrm>
            <a:off x="6651720" y="6743880"/>
            <a:ext cx="2867040" cy="466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3000" b="0" strike="noStrike" spc="-1">
                <a:solidFill>
                  <a:srgbClr val="FFFFFF"/>
                </a:solidFill>
                <a:latin typeface="Archivo Black"/>
                <a:ea typeface="Archivo Black"/>
              </a:rPr>
              <a:t>brass + POM</a:t>
            </a:r>
            <a:endParaRPr lang="en-US" sz="3000" b="0" strike="noStrike" spc="-1">
              <a:solidFill>
                <a:srgbClr val="FFFFFF"/>
              </a:solidFill>
              <a:latin typeface="Arial"/>
            </a:endParaRPr>
          </a:p>
        </p:txBody>
      </p:sp>
      <p:sp>
        <p:nvSpPr>
          <p:cNvPr id="191" name="Text 15"/>
          <p:cNvSpPr/>
          <p:nvPr/>
        </p:nvSpPr>
        <p:spPr>
          <a:xfrm>
            <a:off x="1104840" y="7746840"/>
            <a:ext cx="2610360" cy="371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400" b="0" strike="noStrike" spc="-1">
                <a:solidFill>
                  <a:srgbClr val="8A97A6"/>
                </a:solidFill>
                <a:latin typeface="Archivo"/>
                <a:ea typeface="Archivo"/>
              </a:rPr>
              <a:t>Reduction / finger</a:t>
            </a:r>
            <a:endParaRPr lang="en-US" sz="2400" b="0" strike="noStrike" spc="-1">
              <a:solidFill>
                <a:srgbClr val="FFFFFF"/>
              </a:solidFill>
              <a:latin typeface="Arial"/>
            </a:endParaRPr>
          </a:p>
        </p:txBody>
      </p:sp>
      <p:sp>
        <p:nvSpPr>
          <p:cNvPr id="192" name="Text 16"/>
          <p:cNvSpPr/>
          <p:nvPr/>
        </p:nvSpPr>
        <p:spPr>
          <a:xfrm>
            <a:off x="7861320" y="7675560"/>
            <a:ext cx="1536480" cy="466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3000" b="0" strike="noStrike" spc="-1">
                <a:solidFill>
                  <a:srgbClr val="00D4FF"/>
                </a:solidFill>
                <a:latin typeface="Archivo Black"/>
                <a:ea typeface="Archivo Black"/>
              </a:rPr>
              <a:t>400 : 1</a:t>
            </a:r>
            <a:endParaRPr lang="en-US" sz="3000" b="0" strike="noStrike" spc="-1">
              <a:solidFill>
                <a:srgbClr val="FFFFFF"/>
              </a:solidFill>
              <a:latin typeface="Arial"/>
            </a:endParaRPr>
          </a:p>
        </p:txBody>
      </p:sp>
      <p:pic>
        <p:nvPicPr>
          <p:cNvPr id="3" name="Picture 2">
            <a:extLst>
              <a:ext uri="{FF2B5EF4-FFF2-40B4-BE49-F238E27FC236}">
                <a16:creationId xmlns:a16="http://schemas.microsoft.com/office/drawing/2014/main" id="{58765B69-C9FD-FC58-056F-66CF124F98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9892" y="1585225"/>
            <a:ext cx="6112868" cy="5658190"/>
          </a:xfrm>
          <a:prstGeom prst="rect">
            <a:avLst/>
          </a:prstGeom>
        </p:spPr>
      </p:pic>
      <p:pic>
        <p:nvPicPr>
          <p:cNvPr id="7" name="Picture 6">
            <a:extLst>
              <a:ext uri="{FF2B5EF4-FFF2-40B4-BE49-F238E27FC236}">
                <a16:creationId xmlns:a16="http://schemas.microsoft.com/office/drawing/2014/main" id="{B9767681-1356-50A5-3D99-714F1B4121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1050" y="7675560"/>
            <a:ext cx="7190552" cy="19567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193" name="Text 0"/>
          <p:cNvSpPr/>
          <p:nvPr/>
        </p:nvSpPr>
        <p:spPr>
          <a:xfrm>
            <a:off x="1104840" y="876240"/>
            <a:ext cx="471456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562">
                <a:solidFill>
                  <a:srgbClr val="00D4FF"/>
                </a:solidFill>
                <a:latin typeface="JetBrains Mono"/>
                <a:ea typeface="JetBrains Mono"/>
              </a:rPr>
              <a:t>PHASE 1 · MECHANICAL</a:t>
            </a:r>
            <a:endParaRPr lang="en-US" sz="1870" b="0" strike="noStrike" spc="-1">
              <a:solidFill>
                <a:srgbClr val="FFFFFF"/>
              </a:solidFill>
              <a:latin typeface="Arial"/>
            </a:endParaRPr>
          </a:p>
        </p:txBody>
      </p:sp>
      <p:sp>
        <p:nvSpPr>
          <p:cNvPr id="194" name="Text 1"/>
          <p:cNvSpPr/>
          <p:nvPr/>
        </p:nvSpPr>
        <p:spPr>
          <a:xfrm>
            <a:off x="15882840" y="876240"/>
            <a:ext cx="14299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35" dirty="0">
                <a:solidFill>
                  <a:srgbClr val="5C6977"/>
                </a:solidFill>
                <a:latin typeface="JetBrains Mono"/>
                <a:ea typeface="JetBrains Mono"/>
              </a:rPr>
              <a:t>06 / 22</a:t>
            </a:r>
            <a:endParaRPr lang="en-US" sz="1870" b="0" strike="noStrike" spc="-1" dirty="0">
              <a:solidFill>
                <a:srgbClr val="FFFFFF"/>
              </a:solidFill>
              <a:latin typeface="Arial"/>
            </a:endParaRPr>
          </a:p>
        </p:txBody>
      </p:sp>
      <p:sp>
        <p:nvSpPr>
          <p:cNvPr id="195" name="Text 2"/>
          <p:cNvSpPr/>
          <p:nvPr/>
        </p:nvSpPr>
        <p:spPr>
          <a:xfrm>
            <a:off x="1104840" y="1517760"/>
            <a:ext cx="17685720" cy="628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10000"/>
          </a:bodyPr>
          <a:lstStyle/>
          <a:p>
            <a:pPr defTabSz="914400">
              <a:lnSpc>
                <a:spcPct val="100000"/>
              </a:lnSpc>
              <a:tabLst>
                <a:tab pos="0" algn="l"/>
              </a:tabLst>
            </a:pPr>
            <a:r>
              <a:rPr lang="en-US" sz="4650" b="1" strike="noStrike" spc="-1">
                <a:solidFill>
                  <a:srgbClr val="FFFFFF"/>
                </a:solidFill>
                <a:latin typeface="Archivo Black"/>
                <a:ea typeface="Archivo Black"/>
              </a:rPr>
              <a:t>CAD to URDF</a:t>
            </a:r>
            <a:endParaRPr lang="en-US" sz="4650" b="0" strike="noStrike" spc="-1">
              <a:solidFill>
                <a:srgbClr val="FFFFFF"/>
              </a:solidFill>
              <a:latin typeface="Arial"/>
            </a:endParaRPr>
          </a:p>
        </p:txBody>
      </p:sp>
      <p:sp>
        <p:nvSpPr>
          <p:cNvPr id="196" name="Shape 3"/>
          <p:cNvSpPr/>
          <p:nvPr/>
        </p:nvSpPr>
        <p:spPr>
          <a:xfrm>
            <a:off x="1104840" y="2413080"/>
            <a:ext cx="4787640" cy="142380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97" name="Text 4"/>
          <p:cNvSpPr/>
          <p:nvPr/>
        </p:nvSpPr>
        <p:spPr>
          <a:xfrm>
            <a:off x="1436760" y="2706840"/>
            <a:ext cx="45363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250">
                <a:solidFill>
                  <a:srgbClr val="5C6977"/>
                </a:solidFill>
                <a:latin typeface="JetBrains Mono"/>
                <a:ea typeface="JetBrains Mono"/>
              </a:rPr>
              <a:t>SOURCE</a:t>
            </a:r>
            <a:endParaRPr lang="en-US" sz="1800" b="0" strike="noStrike" spc="-1">
              <a:solidFill>
                <a:srgbClr val="FFFFFF"/>
              </a:solidFill>
              <a:latin typeface="Arial"/>
            </a:endParaRPr>
          </a:p>
        </p:txBody>
      </p:sp>
      <p:sp>
        <p:nvSpPr>
          <p:cNvPr id="198" name="Text 5"/>
          <p:cNvSpPr/>
          <p:nvPr/>
        </p:nvSpPr>
        <p:spPr>
          <a:xfrm>
            <a:off x="1436760" y="3122640"/>
            <a:ext cx="4536360" cy="442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850" b="0" strike="noStrike" spc="-1">
                <a:solidFill>
                  <a:srgbClr val="FFFFFF"/>
                </a:solidFill>
                <a:latin typeface="Archivo Black"/>
                <a:ea typeface="Archivo Black"/>
              </a:rPr>
              <a:t>SolidWorks</a:t>
            </a:r>
            <a:endParaRPr lang="en-US" sz="2850" b="0" strike="noStrike" spc="-1">
              <a:solidFill>
                <a:srgbClr val="FFFFFF"/>
              </a:solidFill>
              <a:latin typeface="Arial"/>
            </a:endParaRPr>
          </a:p>
        </p:txBody>
      </p:sp>
      <p:sp>
        <p:nvSpPr>
          <p:cNvPr id="199" name="Text 6"/>
          <p:cNvSpPr/>
          <p:nvPr/>
        </p:nvSpPr>
        <p:spPr>
          <a:xfrm>
            <a:off x="5854680" y="2413080"/>
            <a:ext cx="933120" cy="14616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ctr">
            <a:normAutofit/>
          </a:bodyPr>
          <a:lstStyle/>
          <a:p>
            <a:pPr algn="ctr" defTabSz="914400">
              <a:lnSpc>
                <a:spcPct val="100000"/>
              </a:lnSpc>
              <a:tabLst>
                <a:tab pos="0" algn="l"/>
              </a:tabLst>
            </a:pPr>
            <a:r>
              <a:rPr lang="en-US" sz="3000" b="0" strike="noStrike" spc="-1">
                <a:solidFill>
                  <a:srgbClr val="00D4FF"/>
                </a:solidFill>
                <a:latin typeface="Archivo"/>
                <a:ea typeface="Archivo"/>
              </a:rPr>
              <a:t>→</a:t>
            </a:r>
            <a:endParaRPr lang="en-US" sz="3000" b="0" strike="noStrike" spc="-1">
              <a:solidFill>
                <a:srgbClr val="FFFFFF"/>
              </a:solidFill>
              <a:latin typeface="Arial"/>
            </a:endParaRPr>
          </a:p>
        </p:txBody>
      </p:sp>
      <p:sp>
        <p:nvSpPr>
          <p:cNvPr id="200" name="Shape 7"/>
          <p:cNvSpPr/>
          <p:nvPr/>
        </p:nvSpPr>
        <p:spPr>
          <a:xfrm>
            <a:off x="6750000" y="2413080"/>
            <a:ext cx="4787640" cy="142380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1" name="Text 8"/>
          <p:cNvSpPr/>
          <p:nvPr/>
        </p:nvSpPr>
        <p:spPr>
          <a:xfrm>
            <a:off x="7081920" y="2706840"/>
            <a:ext cx="45363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250">
                <a:solidFill>
                  <a:srgbClr val="5C6977"/>
                </a:solidFill>
                <a:latin typeface="JetBrains Mono"/>
                <a:ea typeface="JetBrains Mono"/>
              </a:rPr>
              <a:t>EXPORT + SCRIPT</a:t>
            </a:r>
            <a:endParaRPr lang="en-US" sz="1800" b="0" strike="noStrike" spc="-1">
              <a:solidFill>
                <a:srgbClr val="FFFFFF"/>
              </a:solidFill>
              <a:latin typeface="Arial"/>
            </a:endParaRPr>
          </a:p>
        </p:txBody>
      </p:sp>
      <p:sp>
        <p:nvSpPr>
          <p:cNvPr id="202" name="Text 9"/>
          <p:cNvSpPr/>
          <p:nvPr/>
        </p:nvSpPr>
        <p:spPr>
          <a:xfrm>
            <a:off x="7081920" y="3122640"/>
            <a:ext cx="4536360" cy="442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850" b="0" strike="noStrike" spc="-1">
                <a:solidFill>
                  <a:srgbClr val="FFFFFF"/>
                </a:solidFill>
                <a:latin typeface="Archivo Black"/>
                <a:ea typeface="Archivo Black"/>
              </a:rPr>
              <a:t>SW2URDF</a:t>
            </a:r>
            <a:endParaRPr lang="en-US" sz="2850" b="0" strike="noStrike" spc="-1">
              <a:solidFill>
                <a:srgbClr val="FFFFFF"/>
              </a:solidFill>
              <a:latin typeface="Arial"/>
            </a:endParaRPr>
          </a:p>
        </p:txBody>
      </p:sp>
      <p:sp>
        <p:nvSpPr>
          <p:cNvPr id="203" name="Text 10"/>
          <p:cNvSpPr/>
          <p:nvPr/>
        </p:nvSpPr>
        <p:spPr>
          <a:xfrm>
            <a:off x="11499840" y="2413080"/>
            <a:ext cx="933120" cy="14616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ctr">
            <a:normAutofit/>
          </a:bodyPr>
          <a:lstStyle/>
          <a:p>
            <a:pPr algn="ctr" defTabSz="914400">
              <a:lnSpc>
                <a:spcPct val="100000"/>
              </a:lnSpc>
              <a:tabLst>
                <a:tab pos="0" algn="l"/>
              </a:tabLst>
            </a:pPr>
            <a:r>
              <a:rPr lang="en-US" sz="3000" b="0" strike="noStrike" spc="-1">
                <a:solidFill>
                  <a:srgbClr val="00D4FF"/>
                </a:solidFill>
                <a:latin typeface="Archivo"/>
                <a:ea typeface="Archivo"/>
              </a:rPr>
              <a:t>→</a:t>
            </a:r>
            <a:endParaRPr lang="en-US" sz="3000" b="0" strike="noStrike" spc="-1">
              <a:solidFill>
                <a:srgbClr val="FFFFFF"/>
              </a:solidFill>
              <a:latin typeface="Arial"/>
            </a:endParaRPr>
          </a:p>
        </p:txBody>
      </p:sp>
      <p:sp>
        <p:nvSpPr>
          <p:cNvPr id="204" name="Shape 11"/>
          <p:cNvSpPr/>
          <p:nvPr/>
        </p:nvSpPr>
        <p:spPr>
          <a:xfrm>
            <a:off x="12395160" y="2413080"/>
            <a:ext cx="4787640" cy="1423800"/>
          </a:xfrm>
          <a:prstGeom prst="rect">
            <a:avLst/>
          </a:prstGeom>
          <a:solidFill>
            <a:srgbClr val="1218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5" name="Shape 12"/>
          <p:cNvSpPr/>
          <p:nvPr/>
        </p:nvSpPr>
        <p:spPr>
          <a:xfrm>
            <a:off x="12395160" y="3828960"/>
            <a:ext cx="478764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06" name="Shape 13"/>
          <p:cNvSpPr/>
          <p:nvPr/>
        </p:nvSpPr>
        <p:spPr>
          <a:xfrm>
            <a:off x="12395160" y="2413080"/>
            <a:ext cx="4787640" cy="2340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21240" rIns="90000" bIns="-21240" anchor="t">
            <a:noAutofit/>
          </a:bodyPr>
          <a:lstStyle/>
          <a:p>
            <a:endParaRPr lang="en-US" sz="1800" b="0" strike="noStrike" spc="-1">
              <a:solidFill>
                <a:srgbClr val="FFFFFF"/>
              </a:solidFill>
              <a:latin typeface="Arial"/>
            </a:endParaRPr>
          </a:p>
        </p:txBody>
      </p:sp>
      <p:sp>
        <p:nvSpPr>
          <p:cNvPr id="207" name="Shape 14"/>
          <p:cNvSpPr/>
          <p:nvPr/>
        </p:nvSpPr>
        <p:spPr>
          <a:xfrm>
            <a:off x="12395160" y="2413080"/>
            <a:ext cx="9000" cy="14238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8" name="Shape 15"/>
          <p:cNvSpPr/>
          <p:nvPr/>
        </p:nvSpPr>
        <p:spPr>
          <a:xfrm>
            <a:off x="17175240" y="2413080"/>
            <a:ext cx="9000" cy="14238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9" name="Text 16"/>
          <p:cNvSpPr/>
          <p:nvPr/>
        </p:nvSpPr>
        <p:spPr>
          <a:xfrm>
            <a:off x="12727080" y="2722680"/>
            <a:ext cx="45363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250">
                <a:solidFill>
                  <a:srgbClr val="00D4FF"/>
                </a:solidFill>
                <a:latin typeface="JetBrains Mono"/>
                <a:ea typeface="JetBrains Mono"/>
              </a:rPr>
              <a:t>SIMULATION</a:t>
            </a:r>
            <a:endParaRPr lang="en-US" sz="1800" b="0" strike="noStrike" spc="-1">
              <a:solidFill>
                <a:srgbClr val="FFFFFF"/>
              </a:solidFill>
              <a:latin typeface="Arial"/>
            </a:endParaRPr>
          </a:p>
        </p:txBody>
      </p:sp>
      <p:sp>
        <p:nvSpPr>
          <p:cNvPr id="210" name="Text 17"/>
          <p:cNvSpPr/>
          <p:nvPr/>
        </p:nvSpPr>
        <p:spPr>
          <a:xfrm>
            <a:off x="12727080" y="3138480"/>
            <a:ext cx="4536360" cy="442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850" b="0" strike="noStrike" spc="-1">
                <a:solidFill>
                  <a:srgbClr val="FFFFFF"/>
                </a:solidFill>
                <a:latin typeface="Archivo Black"/>
                <a:ea typeface="Archivo Black"/>
              </a:rPr>
              <a:t>ROS 2 · RViz</a:t>
            </a:r>
            <a:endParaRPr lang="en-US" sz="2850" b="0" strike="noStrike" spc="-1">
              <a:solidFill>
                <a:srgbClr val="FFFFFF"/>
              </a:solidFill>
              <a:latin typeface="Arial"/>
            </a:endParaRPr>
          </a:p>
        </p:txBody>
      </p:sp>
      <p:sp>
        <p:nvSpPr>
          <p:cNvPr id="211" name="Shape 18"/>
          <p:cNvSpPr/>
          <p:nvPr/>
        </p:nvSpPr>
        <p:spPr>
          <a:xfrm>
            <a:off x="12992040" y="5226840"/>
            <a:ext cx="23400" cy="89928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12" name="Text 19"/>
          <p:cNvSpPr/>
          <p:nvPr/>
        </p:nvSpPr>
        <p:spPr>
          <a:xfrm>
            <a:off x="13282560" y="5226840"/>
            <a:ext cx="4290120" cy="586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20000"/>
          </a:bodyPr>
          <a:lstStyle/>
          <a:p>
            <a:pPr defTabSz="914400">
              <a:lnSpc>
                <a:spcPct val="90000"/>
              </a:lnSpc>
              <a:tabLst>
                <a:tab pos="0" algn="l"/>
              </a:tabLst>
            </a:pPr>
            <a:r>
              <a:rPr lang="en-US" sz="4800" b="0" strike="noStrike" spc="-1">
                <a:solidFill>
                  <a:srgbClr val="FFFFFF"/>
                </a:solidFill>
                <a:latin typeface="Archivo Black"/>
                <a:ea typeface="Archivo Black"/>
              </a:rPr>
              <a:t>16</a:t>
            </a:r>
            <a:endParaRPr lang="en-US" sz="4800" b="0" strike="noStrike" spc="-1">
              <a:solidFill>
                <a:srgbClr val="FFFFFF"/>
              </a:solidFill>
              <a:latin typeface="Arial"/>
            </a:endParaRPr>
          </a:p>
        </p:txBody>
      </p:sp>
      <p:sp>
        <p:nvSpPr>
          <p:cNvPr id="213" name="Text 20"/>
          <p:cNvSpPr/>
          <p:nvPr/>
        </p:nvSpPr>
        <p:spPr>
          <a:xfrm>
            <a:off x="13282560" y="5832720"/>
            <a:ext cx="4290120" cy="331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89999" lnSpcReduction="10000"/>
          </a:bodyPr>
          <a:lstStyle/>
          <a:p>
            <a:pPr defTabSz="914400">
              <a:lnSpc>
                <a:spcPct val="100000"/>
              </a:lnSpc>
              <a:tabLst>
                <a:tab pos="0" algn="l"/>
              </a:tabLst>
            </a:pPr>
            <a:r>
              <a:rPr lang="en-US" sz="2100" b="0" strike="noStrike" spc="-1">
                <a:solidFill>
                  <a:srgbClr val="8A97A6"/>
                </a:solidFill>
                <a:latin typeface="Archivo"/>
                <a:ea typeface="Archivo"/>
              </a:rPr>
              <a:t>links</a:t>
            </a:r>
            <a:endParaRPr lang="en-US" sz="2100" b="0" strike="noStrike" spc="-1">
              <a:solidFill>
                <a:srgbClr val="FFFFFF"/>
              </a:solidFill>
              <a:latin typeface="Arial"/>
            </a:endParaRPr>
          </a:p>
        </p:txBody>
      </p:sp>
      <p:sp>
        <p:nvSpPr>
          <p:cNvPr id="214" name="Shape 21"/>
          <p:cNvSpPr/>
          <p:nvPr/>
        </p:nvSpPr>
        <p:spPr>
          <a:xfrm>
            <a:off x="12992040" y="6412320"/>
            <a:ext cx="23400" cy="89928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15" name="Text 22"/>
          <p:cNvSpPr/>
          <p:nvPr/>
        </p:nvSpPr>
        <p:spPr>
          <a:xfrm>
            <a:off x="13282560" y="6412320"/>
            <a:ext cx="4290120" cy="586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20000"/>
          </a:bodyPr>
          <a:lstStyle/>
          <a:p>
            <a:pPr defTabSz="914400">
              <a:lnSpc>
                <a:spcPct val="90000"/>
              </a:lnSpc>
              <a:tabLst>
                <a:tab pos="0" algn="l"/>
              </a:tabLst>
            </a:pPr>
            <a:r>
              <a:rPr lang="en-US" sz="4800" b="0" strike="noStrike" spc="-1">
                <a:solidFill>
                  <a:srgbClr val="FFFFFF"/>
                </a:solidFill>
                <a:latin typeface="Archivo Black"/>
                <a:ea typeface="Archivo Black"/>
              </a:rPr>
              <a:t>14</a:t>
            </a:r>
            <a:endParaRPr lang="en-US" sz="4800" b="0" strike="noStrike" spc="-1">
              <a:solidFill>
                <a:srgbClr val="FFFFFF"/>
              </a:solidFill>
              <a:latin typeface="Arial"/>
            </a:endParaRPr>
          </a:p>
        </p:txBody>
      </p:sp>
      <p:sp>
        <p:nvSpPr>
          <p:cNvPr id="216" name="Text 23"/>
          <p:cNvSpPr/>
          <p:nvPr/>
        </p:nvSpPr>
        <p:spPr>
          <a:xfrm>
            <a:off x="13282560" y="7018200"/>
            <a:ext cx="4290120" cy="331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89999" lnSpcReduction="10000"/>
          </a:bodyPr>
          <a:lstStyle/>
          <a:p>
            <a:pPr defTabSz="914400">
              <a:lnSpc>
                <a:spcPct val="100000"/>
              </a:lnSpc>
              <a:tabLst>
                <a:tab pos="0" algn="l"/>
              </a:tabLst>
            </a:pPr>
            <a:r>
              <a:rPr lang="en-US" sz="2100" b="0" strike="noStrike" spc="-1">
                <a:solidFill>
                  <a:srgbClr val="8A97A6"/>
                </a:solidFill>
                <a:latin typeface="Archivo"/>
                <a:ea typeface="Archivo"/>
              </a:rPr>
              <a:t>joints</a:t>
            </a:r>
            <a:endParaRPr lang="en-US" sz="2100" b="0" strike="noStrike" spc="-1">
              <a:solidFill>
                <a:srgbClr val="FFFFFF"/>
              </a:solidFill>
              <a:latin typeface="Arial"/>
            </a:endParaRPr>
          </a:p>
        </p:txBody>
      </p:sp>
      <p:sp>
        <p:nvSpPr>
          <p:cNvPr id="217" name="Shape 24"/>
          <p:cNvSpPr/>
          <p:nvPr/>
        </p:nvSpPr>
        <p:spPr>
          <a:xfrm>
            <a:off x="12992040" y="7597440"/>
            <a:ext cx="23400" cy="89928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18" name="Text 25"/>
          <p:cNvSpPr/>
          <p:nvPr/>
        </p:nvSpPr>
        <p:spPr>
          <a:xfrm>
            <a:off x="13282560" y="7597440"/>
            <a:ext cx="4290120" cy="586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20000"/>
          </a:bodyPr>
          <a:lstStyle/>
          <a:p>
            <a:pPr defTabSz="914400">
              <a:lnSpc>
                <a:spcPct val="90000"/>
              </a:lnSpc>
              <a:tabLst>
                <a:tab pos="0" algn="l"/>
              </a:tabLst>
            </a:pPr>
            <a:r>
              <a:rPr lang="en-US" sz="4800" b="0" strike="noStrike" spc="-1">
                <a:solidFill>
                  <a:srgbClr val="00D4FF"/>
                </a:solidFill>
                <a:latin typeface="Archivo Black"/>
                <a:ea typeface="Archivo Black"/>
              </a:rPr>
              <a:t>8</a:t>
            </a:r>
            <a:endParaRPr lang="en-US" sz="4800" b="0" strike="noStrike" spc="-1">
              <a:solidFill>
                <a:srgbClr val="FFFFFF"/>
              </a:solidFill>
              <a:latin typeface="Arial"/>
            </a:endParaRPr>
          </a:p>
        </p:txBody>
      </p:sp>
      <p:sp>
        <p:nvSpPr>
          <p:cNvPr id="219" name="Text 26"/>
          <p:cNvSpPr/>
          <p:nvPr/>
        </p:nvSpPr>
        <p:spPr>
          <a:xfrm>
            <a:off x="13282560" y="8203320"/>
            <a:ext cx="4290120" cy="331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89999" lnSpcReduction="10000"/>
          </a:bodyPr>
          <a:lstStyle/>
          <a:p>
            <a:pPr defTabSz="914400">
              <a:lnSpc>
                <a:spcPct val="100000"/>
              </a:lnSpc>
              <a:tabLst>
                <a:tab pos="0" algn="l"/>
              </a:tabLst>
            </a:pPr>
            <a:r>
              <a:rPr lang="en-US" sz="2100" b="0" strike="noStrike" spc="-1">
                <a:solidFill>
                  <a:srgbClr val="8A97A6"/>
                </a:solidFill>
                <a:latin typeface="Archivo"/>
                <a:ea typeface="Archivo"/>
              </a:rPr>
              <a:t>mimic relationships</a:t>
            </a:r>
            <a:endParaRPr lang="en-US" sz="2100" b="0" strike="noStrike" spc="-1">
              <a:solidFill>
                <a:srgbClr val="FFFFFF"/>
              </a:solidFill>
              <a:latin typeface="Arial"/>
            </a:endParaRPr>
          </a:p>
        </p:txBody>
      </p:sp>
      <p:pic>
        <p:nvPicPr>
          <p:cNvPr id="7" name="Picture 6">
            <a:extLst>
              <a:ext uri="{FF2B5EF4-FFF2-40B4-BE49-F238E27FC236}">
                <a16:creationId xmlns:a16="http://schemas.microsoft.com/office/drawing/2014/main" id="{2803BF54-3774-A5E7-E3D0-326D8CD22BCF}"/>
              </a:ext>
            </a:extLst>
          </p:cNvPr>
          <p:cNvPicPr>
            <a:picLocks noChangeAspect="1"/>
          </p:cNvPicPr>
          <p:nvPr/>
        </p:nvPicPr>
        <p:blipFill>
          <a:blip r:embed="rId3">
            <a:extLst>
              <a:ext uri="{28A0092B-C50C-407E-A947-70E740481C1C}">
                <a14:useLocalDpi xmlns:a14="http://schemas.microsoft.com/office/drawing/2010/main" val="0"/>
              </a:ext>
            </a:extLst>
          </a:blip>
          <a:srcRect l="6897" r="5143"/>
          <a:stretch>
            <a:fillRect/>
          </a:stretch>
        </p:blipFill>
        <p:spPr>
          <a:xfrm>
            <a:off x="978027" y="5071709"/>
            <a:ext cx="4968186" cy="4360034"/>
          </a:xfrm>
          <a:prstGeom prst="rect">
            <a:avLst/>
          </a:prstGeom>
        </p:spPr>
      </p:pic>
      <p:pic>
        <p:nvPicPr>
          <p:cNvPr id="9" name="Picture 8">
            <a:extLst>
              <a:ext uri="{FF2B5EF4-FFF2-40B4-BE49-F238E27FC236}">
                <a16:creationId xmlns:a16="http://schemas.microsoft.com/office/drawing/2014/main" id="{32998394-A8B8-F482-ABF1-D5EA92F60D78}"/>
              </a:ext>
            </a:extLst>
          </p:cNvPr>
          <p:cNvPicPr>
            <a:picLocks noChangeAspect="1"/>
          </p:cNvPicPr>
          <p:nvPr/>
        </p:nvPicPr>
        <p:blipFill>
          <a:blip r:embed="rId4">
            <a:extLst>
              <a:ext uri="{28A0092B-C50C-407E-A947-70E740481C1C}">
                <a14:useLocalDpi xmlns:a14="http://schemas.microsoft.com/office/drawing/2010/main" val="0"/>
              </a:ext>
            </a:extLst>
          </a:blip>
          <a:srcRect l="7586" t="8884" r="6469"/>
          <a:stretch>
            <a:fillRect/>
          </a:stretch>
        </p:blipFill>
        <p:spPr>
          <a:xfrm>
            <a:off x="6805306" y="5071709"/>
            <a:ext cx="5327640" cy="43600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3"/>
        </a:solidFill>
        <a:effectLst/>
      </p:bgPr>
    </p:bg>
    <p:spTree>
      <p:nvGrpSpPr>
        <p:cNvPr id="1" name=""/>
        <p:cNvGrpSpPr/>
        <p:nvPr/>
      </p:nvGrpSpPr>
      <p:grpSpPr>
        <a:xfrm>
          <a:off x="0" y="0"/>
          <a:ext cx="0" cy="0"/>
          <a:chOff x="0" y="0"/>
          <a:chExt cx="0" cy="0"/>
        </a:xfrm>
      </p:grpSpPr>
      <p:sp>
        <p:nvSpPr>
          <p:cNvPr id="201" name="Shape 0"/>
          <p:cNvSpPr/>
          <p:nvPr/>
        </p:nvSpPr>
        <p:spPr>
          <a:xfrm>
            <a:off x="-1143000" y="5143680"/>
            <a:ext cx="6857640" cy="6857640"/>
          </a:xfrm>
          <a:prstGeom prst="rect">
            <a:avLst/>
          </a:prstGeom>
          <a:gradFill rotWithShape="0">
            <a:gsLst>
              <a:gs pos="0">
                <a:srgbClr val="00D4FF">
                  <a:alpha val="12000"/>
                </a:srgbClr>
              </a:gs>
              <a:gs pos="64000">
                <a:srgbClr val="00D4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dirty="0"/>
          </a:p>
        </p:txBody>
      </p:sp>
      <p:sp>
        <p:nvSpPr>
          <p:cNvPr id="202" name="Text 1"/>
          <p:cNvSpPr/>
          <p:nvPr/>
        </p:nvSpPr>
        <p:spPr>
          <a:xfrm>
            <a:off x="1104840" y="2687760"/>
            <a:ext cx="1676880" cy="1180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2500" lnSpcReduction="20000"/>
          </a:bodyPr>
          <a:lstStyle/>
          <a:p>
            <a:pPr defTabSz="914400">
              <a:lnSpc>
                <a:spcPct val="100000"/>
              </a:lnSpc>
              <a:tabLst>
                <a:tab pos="0" algn="l"/>
              </a:tabLst>
            </a:pPr>
            <a:r>
              <a:rPr lang="en-US" sz="9000" b="0" strike="noStrike" spc="-1">
                <a:solidFill>
                  <a:srgbClr val="00D4FF">
                    <a:alpha val="22000"/>
                  </a:srgbClr>
                </a:solidFill>
                <a:latin typeface="Archivo Black"/>
                <a:ea typeface="Archivo Black"/>
              </a:rPr>
              <a:t>02</a:t>
            </a:r>
            <a:endParaRPr lang="en-US" sz="9000" b="0" strike="noStrike" spc="-1">
              <a:solidFill>
                <a:srgbClr val="FFFFFF"/>
              </a:solidFill>
              <a:latin typeface="Arial"/>
            </a:endParaRPr>
          </a:p>
        </p:txBody>
      </p:sp>
      <p:sp>
        <p:nvSpPr>
          <p:cNvPr id="203" name="Text 2"/>
          <p:cNvSpPr/>
          <p:nvPr/>
        </p:nvSpPr>
        <p:spPr>
          <a:xfrm>
            <a:off x="2915280" y="3386160"/>
            <a:ext cx="710964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0" strike="noStrike" spc="582">
                <a:solidFill>
                  <a:srgbClr val="00D4FF"/>
                </a:solidFill>
                <a:latin typeface="JetBrains Mono"/>
                <a:ea typeface="JetBrains Mono"/>
              </a:rPr>
              <a:t>SECTION 02 · HARDWARE</a:t>
            </a:r>
            <a:endParaRPr lang="en-US" sz="1950" b="0" strike="noStrike" spc="-1">
              <a:solidFill>
                <a:srgbClr val="FFFFFF"/>
              </a:solidFill>
              <a:latin typeface="Arial"/>
            </a:endParaRPr>
          </a:p>
        </p:txBody>
      </p:sp>
      <p:sp>
        <p:nvSpPr>
          <p:cNvPr id="204" name="Text 3"/>
          <p:cNvSpPr/>
          <p:nvPr/>
        </p:nvSpPr>
        <p:spPr>
          <a:xfrm>
            <a:off x="1104840" y="4116600"/>
            <a:ext cx="16560360" cy="2329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93000"/>
              </a:lnSpc>
              <a:tabLst>
                <a:tab pos="0" algn="l"/>
              </a:tabLst>
            </a:pPr>
            <a:r>
              <a:rPr lang="en-US" sz="9600" b="1" strike="noStrike" spc="-194" dirty="0">
                <a:solidFill>
                  <a:srgbClr val="FFFFFF"/>
                </a:solidFill>
                <a:latin typeface="Archivo Black"/>
                <a:ea typeface="Archivo Black"/>
              </a:rPr>
              <a:t>Electrical </a:t>
            </a:r>
            <a:endParaRPr lang="en-US" sz="9600" b="0" strike="noStrike" spc="-1" dirty="0">
              <a:solidFill>
                <a:srgbClr val="FFFFFF"/>
              </a:solidFill>
              <a:latin typeface="Arial"/>
            </a:endParaRPr>
          </a:p>
        </p:txBody>
      </p:sp>
      <p:sp>
        <p:nvSpPr>
          <p:cNvPr id="205" name="Shape 4"/>
          <p:cNvSpPr/>
          <p:nvPr/>
        </p:nvSpPr>
        <p:spPr>
          <a:xfrm>
            <a:off x="1104840" y="6846840"/>
            <a:ext cx="1142640" cy="3780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6" name="Text 5"/>
          <p:cNvSpPr/>
          <p:nvPr/>
        </p:nvSpPr>
        <p:spPr>
          <a:xfrm>
            <a:off x="1104840" y="7170480"/>
            <a:ext cx="17685720" cy="466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550" b="0" strike="noStrike" spc="100">
                <a:solidFill>
                  <a:srgbClr val="00D4FF"/>
                </a:solidFill>
                <a:latin typeface="JetBrains Mono"/>
                <a:ea typeface="JetBrains Mono"/>
              </a:rPr>
              <a:t>Split compute · 8-channel FMG sensor array</a:t>
            </a:r>
            <a:endParaRPr lang="en-US" sz="2550" b="0" strike="noStrike" spc="-1">
              <a:solidFill>
                <a:srgbClr val="FFFFFF"/>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Shape 143"/>
        <p:cNvGrpSpPr/>
        <p:nvPr/>
      </p:nvGrpSpPr>
      <p:grpSpPr>
        <a:xfrm>
          <a:off x="0" y="0"/>
          <a:ext cx="0" cy="0"/>
          <a:chOff x="0" y="0"/>
          <a:chExt cx="0" cy="0"/>
        </a:xfrm>
      </p:grpSpPr>
      <p:sp>
        <p:nvSpPr>
          <p:cNvPr id="144" name="Google Shape;144;p4"/>
          <p:cNvSpPr/>
          <p:nvPr/>
        </p:nvSpPr>
        <p:spPr>
          <a:xfrm>
            <a:off x="1" y="0"/>
            <a:ext cx="18287543" cy="10287000"/>
          </a:xfrm>
          <a:prstGeom prst="rect">
            <a:avLst/>
          </a:prstGeom>
          <a:solidFill>
            <a:srgbClr val="0F1419"/>
          </a:solidFill>
          <a:ln>
            <a:noFill/>
          </a:ln>
          <a:effectLst>
            <a:outerShdw blurRad="40000" dist="23000" dir="5400000" rotWithShape="0">
              <a:srgbClr val="000000">
                <a:alpha val="34509"/>
              </a:srgbClr>
            </a:outerShdw>
          </a:effectLst>
        </p:spPr>
        <p:txBody>
          <a:bodyPr spcFirstLastPara="1" wrap="square" lIns="137138" tIns="68550" rIns="137138" bIns="68550" anchor="ctr" anchorCtr="0">
            <a:noAutofit/>
          </a:bodyPr>
          <a:lstStyle/>
          <a:p>
            <a:pPr algn="ctr">
              <a:buClr>
                <a:srgbClr val="000000"/>
              </a:buClr>
              <a:buSzPts val="1800"/>
            </a:pPr>
            <a:endParaRPr sz="2700" dirty="0">
              <a:solidFill>
                <a:schemeClr val="lt1"/>
              </a:solidFill>
              <a:latin typeface="Archivo"/>
              <a:ea typeface="Archivo"/>
              <a:cs typeface="Archivo"/>
              <a:sym typeface="Calibri"/>
            </a:endParaRPr>
          </a:p>
        </p:txBody>
      </p:sp>
      <p:sp>
        <p:nvSpPr>
          <p:cNvPr id="145" name="Google Shape;145;p4"/>
          <p:cNvSpPr/>
          <p:nvPr/>
        </p:nvSpPr>
        <p:spPr>
          <a:xfrm>
            <a:off x="1028700" y="822960"/>
            <a:ext cx="164592" cy="822960"/>
          </a:xfrm>
          <a:prstGeom prst="rect">
            <a:avLst/>
          </a:prstGeom>
          <a:solidFill>
            <a:srgbClr val="00D4FF"/>
          </a:solidFill>
          <a:ln>
            <a:noFill/>
          </a:ln>
          <a:effectLst>
            <a:outerShdw blurRad="40000" dist="23000" dir="5400000" rotWithShape="0">
              <a:srgbClr val="000000">
                <a:alpha val="34509"/>
              </a:srgbClr>
            </a:outerShdw>
          </a:effectLst>
        </p:spPr>
        <p:txBody>
          <a:bodyPr spcFirstLastPara="1" wrap="square" lIns="137138" tIns="68550" rIns="137138" bIns="68550" anchor="ctr" anchorCtr="0">
            <a:noAutofit/>
          </a:bodyPr>
          <a:lstStyle/>
          <a:p>
            <a:pPr algn="ctr">
              <a:buClr>
                <a:srgbClr val="000000"/>
              </a:buClr>
              <a:buSzPts val="1800"/>
            </a:pPr>
            <a:endParaRPr sz="2700">
              <a:solidFill>
                <a:schemeClr val="lt1"/>
              </a:solidFill>
              <a:latin typeface="Archivo"/>
              <a:ea typeface="Archivo"/>
              <a:cs typeface="Archivo"/>
              <a:sym typeface="Calibri"/>
            </a:endParaRPr>
          </a:p>
        </p:txBody>
      </p:sp>
      <p:sp>
        <p:nvSpPr>
          <p:cNvPr id="146" name="Google Shape;146;p4"/>
          <p:cNvSpPr txBox="1"/>
          <p:nvPr/>
        </p:nvSpPr>
        <p:spPr>
          <a:xfrm>
            <a:off x="1371600" y="685801"/>
            <a:ext cx="13716000" cy="969436"/>
          </a:xfrm>
          <a:prstGeom prst="rect">
            <a:avLst/>
          </a:prstGeom>
          <a:noFill/>
          <a:ln>
            <a:noFill/>
          </a:ln>
        </p:spPr>
        <p:txBody>
          <a:bodyPr spcFirstLastPara="1" wrap="square" lIns="137138" tIns="68550" rIns="137138" bIns="68550" anchor="t" anchorCtr="0">
            <a:spAutoFit/>
          </a:bodyPr>
          <a:lstStyle/>
          <a:p>
            <a:pPr>
              <a:buClr>
                <a:srgbClr val="000000"/>
              </a:buClr>
              <a:buSzPts val="3600"/>
            </a:pPr>
            <a:r>
              <a:rPr lang="en-US" sz="5400" b="1">
                <a:solidFill>
                  <a:srgbClr val="FFFFFF"/>
                </a:solidFill>
                <a:latin typeface="Archivo Black"/>
                <a:ea typeface="Archivo Black"/>
                <a:cs typeface="Archivo Black"/>
                <a:sym typeface="Calibri"/>
              </a:rPr>
              <a:t>System Architecture</a:t>
            </a:r>
            <a:endParaRPr sz="2100">
              <a:solidFill>
                <a:srgbClr val="FFFFFF"/>
              </a:solidFill>
              <a:latin typeface="Archivo Black"/>
              <a:ea typeface="Archivo Black"/>
              <a:cs typeface="Archivo Black"/>
              <a:sym typeface="Arial"/>
            </a:endParaRPr>
          </a:p>
        </p:txBody>
      </p:sp>
      <p:sp>
        <p:nvSpPr>
          <p:cNvPr id="900" name="Figure panel"/>
          <p:cNvSpPr/>
          <p:nvPr/>
        </p:nvSpPr>
        <p:spPr>
          <a:xfrm>
            <a:off x="4075958" y="1581912"/>
            <a:ext cx="10135626" cy="8288796"/>
          </a:xfrm>
          <a:prstGeom prst="roundRect">
            <a:avLst>
              <a:gd name="adj" fmla="val 2200"/>
            </a:avLst>
          </a:prstGeom>
          <a:solidFill>
            <a:srgbClr val="FFFFFF"/>
          </a:solidFill>
          <a:ln w="12700">
            <a:solidFill>
              <a:srgbClr val="1C2730"/>
            </a:solidFill>
          </a:ln>
        </p:spPr>
        <p:txBody>
          <a:bodyPr/>
          <a:lstStyle/>
          <a:p>
            <a:endParaRPr/>
          </a:p>
        </p:txBody>
      </p:sp>
      <p:pic>
        <p:nvPicPr>
          <p:cNvPr id="147" name="Google Shape;147;p4"/>
          <p:cNvPicPr preferRelativeResize="0"/>
          <p:nvPr/>
        </p:nvPicPr>
        <p:blipFill rotWithShape="1">
          <a:blip r:embed="rId3">
            <a:alphaModFix/>
          </a:blip>
          <a:srcRect/>
          <a:stretch/>
        </p:blipFill>
        <p:spPr>
          <a:xfrm>
            <a:off x="4277126" y="1783080"/>
            <a:ext cx="9733290" cy="7886460"/>
          </a:xfrm>
          <a:prstGeom prst="rect">
            <a:avLst/>
          </a:prstGeom>
          <a:noFill/>
          <a:ln>
            <a:noFill/>
          </a:ln>
        </p:spPr>
      </p:pic>
      <p:sp>
        <p:nvSpPr>
          <p:cNvPr id="901" name="Text 1"/>
          <p:cNvSpPr/>
          <p:nvPr/>
        </p:nvSpPr>
        <p:spPr>
          <a:xfrm>
            <a:off x="15882840" y="800280"/>
            <a:ext cx="1429920" cy="355320"/>
          </a:xfrm>
          <a:prstGeom prst="rect">
            <a:avLst/>
          </a:prstGeom>
          <a:noFill/>
          <a:ln w="0">
            <a:noFill/>
          </a:ln>
        </p:spPr>
        <p:txBody>
          <a:bodyPr lIns="25560" tIns="25560" rIns="25560" bIns="25560" anchor="t">
            <a:normAutofit/>
          </a:bodyPr>
          <a:lstStyle/>
          <a:p>
            <a:pPr defTabSz="914400">
              <a:lnSpc>
                <a:spcPct val="100000"/>
              </a:lnSpc>
            </a:pPr>
            <a:r>
              <a:rPr lang="en-US" sz="1870" b="0" strike="noStrike" spc="335">
                <a:solidFill>
                  <a:srgbClr val="5C6977"/>
                </a:solidFill>
                <a:latin typeface="JetBrains Mono"/>
                <a:ea typeface="JetBrains Mono"/>
              </a:rPr>
              <a:t>08 / 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80" name="Text 0"/>
          <p:cNvSpPr/>
          <p:nvPr/>
        </p:nvSpPr>
        <p:spPr>
          <a:xfrm>
            <a:off x="1104840" y="876240"/>
            <a:ext cx="28285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562">
                <a:solidFill>
                  <a:srgbClr val="00D4FF"/>
                </a:solidFill>
                <a:latin typeface="JetBrains Mono"/>
                <a:ea typeface="JetBrains Mono"/>
              </a:rPr>
              <a:t>ARCHITECTURE</a:t>
            </a:r>
            <a:endParaRPr lang="en-US" sz="1870" b="0" strike="noStrike" spc="-1">
              <a:solidFill>
                <a:srgbClr val="FFFFFF"/>
              </a:solidFill>
              <a:latin typeface="Arial"/>
            </a:endParaRPr>
          </a:p>
        </p:txBody>
      </p:sp>
      <p:sp>
        <p:nvSpPr>
          <p:cNvPr id="81" name="Text 1"/>
          <p:cNvSpPr/>
          <p:nvPr/>
        </p:nvSpPr>
        <p:spPr>
          <a:xfrm>
            <a:off x="15882840" y="876240"/>
            <a:ext cx="14299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35" dirty="0">
                <a:solidFill>
                  <a:srgbClr val="5C6977"/>
                </a:solidFill>
                <a:latin typeface="JetBrains Mono"/>
                <a:ea typeface="JetBrains Mono"/>
              </a:rPr>
              <a:t>09 / 22</a:t>
            </a:r>
            <a:endParaRPr lang="en-US" sz="1870" b="0" strike="noStrike" spc="-1" dirty="0">
              <a:solidFill>
                <a:srgbClr val="FFFFFF"/>
              </a:solidFill>
              <a:latin typeface="Arial"/>
            </a:endParaRPr>
          </a:p>
        </p:txBody>
      </p:sp>
      <p:sp>
        <p:nvSpPr>
          <p:cNvPr id="82" name="Text 2"/>
          <p:cNvSpPr/>
          <p:nvPr/>
        </p:nvSpPr>
        <p:spPr>
          <a:xfrm>
            <a:off x="1104840" y="1517760"/>
            <a:ext cx="17685720" cy="628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10000"/>
          </a:bodyPr>
          <a:lstStyle/>
          <a:p>
            <a:pPr defTabSz="914400">
              <a:lnSpc>
                <a:spcPct val="100000"/>
              </a:lnSpc>
              <a:tabLst>
                <a:tab pos="0" algn="l"/>
              </a:tabLst>
            </a:pPr>
            <a:r>
              <a:rPr lang="en-US" sz="4650" b="1" strike="noStrike" spc="-1">
                <a:solidFill>
                  <a:srgbClr val="FFFFFF"/>
                </a:solidFill>
                <a:latin typeface="Archivo Black"/>
                <a:ea typeface="Archivo Black"/>
              </a:rPr>
              <a:t>Brain &amp; Spine</a:t>
            </a:r>
            <a:endParaRPr lang="en-US" sz="4650" b="0" strike="noStrike" spc="-1">
              <a:solidFill>
                <a:srgbClr val="FFFFFF"/>
              </a:solidFill>
              <a:latin typeface="Arial"/>
            </a:endParaRPr>
          </a:p>
        </p:txBody>
      </p:sp>
      <p:sp>
        <p:nvSpPr>
          <p:cNvPr id="83" name="Text 3"/>
          <p:cNvSpPr/>
          <p:nvPr/>
        </p:nvSpPr>
        <p:spPr>
          <a:xfrm>
            <a:off x="1104840" y="2241720"/>
            <a:ext cx="176857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250" b="0" strike="noStrike" spc="-1">
                <a:solidFill>
                  <a:srgbClr val="8A97A6"/>
                </a:solidFill>
                <a:latin typeface="Archivo"/>
                <a:ea typeface="Archivo"/>
              </a:rPr>
              <a:t>Split compute · ROS 2 Jazzy on Ubuntu 24.04</a:t>
            </a:r>
            <a:endParaRPr lang="en-US" sz="2250" b="0" strike="noStrike" spc="-1">
              <a:solidFill>
                <a:srgbClr val="FFFFFF"/>
              </a:solidFill>
              <a:latin typeface="Arial"/>
            </a:endParaRPr>
          </a:p>
        </p:txBody>
      </p:sp>
      <p:sp>
        <p:nvSpPr>
          <p:cNvPr id="84" name="Shape 4"/>
          <p:cNvSpPr/>
          <p:nvPr/>
        </p:nvSpPr>
        <p:spPr>
          <a:xfrm>
            <a:off x="2571840" y="4268160"/>
            <a:ext cx="5143320" cy="4023360"/>
          </a:xfrm>
          <a:prstGeom prst="rect">
            <a:avLst/>
          </a:prstGeom>
          <a:solidFill>
            <a:srgbClr val="1218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5" name="Shape 5"/>
          <p:cNvSpPr/>
          <p:nvPr/>
        </p:nvSpPr>
        <p:spPr>
          <a:xfrm>
            <a:off x="2571840" y="8283960"/>
            <a:ext cx="51433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86" name="Shape 6"/>
          <p:cNvSpPr/>
          <p:nvPr/>
        </p:nvSpPr>
        <p:spPr>
          <a:xfrm>
            <a:off x="2571840" y="4268160"/>
            <a:ext cx="5143320" cy="2340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21240" rIns="90000" bIns="-21240" anchor="t">
            <a:noAutofit/>
          </a:bodyPr>
          <a:lstStyle/>
          <a:p>
            <a:endParaRPr lang="en-US" sz="1800" b="0" strike="noStrike" spc="-1">
              <a:solidFill>
                <a:srgbClr val="FFFFFF"/>
              </a:solidFill>
              <a:latin typeface="Arial"/>
            </a:endParaRPr>
          </a:p>
        </p:txBody>
      </p:sp>
      <p:sp>
        <p:nvSpPr>
          <p:cNvPr id="87" name="Shape 7"/>
          <p:cNvSpPr/>
          <p:nvPr/>
        </p:nvSpPr>
        <p:spPr>
          <a:xfrm>
            <a:off x="2571840" y="4268160"/>
            <a:ext cx="9000" cy="402336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8" name="Shape 8"/>
          <p:cNvSpPr/>
          <p:nvPr/>
        </p:nvSpPr>
        <p:spPr>
          <a:xfrm>
            <a:off x="7707240" y="4268160"/>
            <a:ext cx="9000" cy="402336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9" name="Text 9"/>
          <p:cNvSpPr/>
          <p:nvPr/>
        </p:nvSpPr>
        <p:spPr>
          <a:xfrm>
            <a:off x="2998800" y="4730400"/>
            <a:ext cx="47181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395">
                <a:solidFill>
                  <a:srgbClr val="00D4FF"/>
                </a:solidFill>
                <a:latin typeface="JetBrains Mono"/>
                <a:ea typeface="JetBrains Mono"/>
              </a:rPr>
              <a:t>BRAIN</a:t>
            </a:r>
            <a:endParaRPr lang="en-US" sz="1800" b="0" strike="noStrike" spc="-1">
              <a:solidFill>
                <a:srgbClr val="FFFFFF"/>
              </a:solidFill>
              <a:latin typeface="Arial"/>
            </a:endParaRPr>
          </a:p>
        </p:txBody>
      </p:sp>
      <p:sp>
        <p:nvSpPr>
          <p:cNvPr id="90" name="Text 10"/>
          <p:cNvSpPr/>
          <p:nvPr/>
        </p:nvSpPr>
        <p:spPr>
          <a:xfrm>
            <a:off x="2998800" y="5203440"/>
            <a:ext cx="4417920" cy="875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87222" lnSpcReduction="10000"/>
          </a:bodyPr>
          <a:lstStyle/>
          <a:p>
            <a:pPr defTabSz="914400">
              <a:lnSpc>
                <a:spcPct val="100000"/>
              </a:lnSpc>
              <a:tabLst>
                <a:tab pos="0" algn="l"/>
              </a:tabLst>
            </a:pPr>
            <a:r>
              <a:rPr lang="en-US" sz="3300" b="0" strike="noStrike" spc="-1">
                <a:solidFill>
                  <a:srgbClr val="FFFFFF"/>
                </a:solidFill>
                <a:latin typeface="Archivo Black"/>
                <a:ea typeface="Archivo Black"/>
              </a:rPr>
              <a:t>Raspberry Pi Zero 2 W</a:t>
            </a:r>
            <a:endParaRPr lang="en-US" sz="3300" b="0" strike="noStrike" spc="-1">
              <a:solidFill>
                <a:srgbClr val="FFFFFF"/>
              </a:solidFill>
              <a:latin typeface="Arial"/>
            </a:endParaRPr>
          </a:p>
        </p:txBody>
      </p:sp>
      <p:sp>
        <p:nvSpPr>
          <p:cNvPr id="91" name="Text 11"/>
          <p:cNvSpPr/>
          <p:nvPr/>
        </p:nvSpPr>
        <p:spPr>
          <a:xfrm>
            <a:off x="2998800" y="6270120"/>
            <a:ext cx="4718160" cy="371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400" b="1" strike="noStrike" spc="-1">
                <a:solidFill>
                  <a:srgbClr val="E6EDF3"/>
                </a:solidFill>
                <a:latin typeface="Archivo"/>
                <a:ea typeface="Archivo"/>
              </a:rPr>
              <a:t>ML inference</a:t>
            </a:r>
            <a:endParaRPr lang="en-US" sz="2400" b="0" strike="noStrike" spc="-1">
              <a:solidFill>
                <a:srgbClr val="FFFFFF"/>
              </a:solidFill>
              <a:latin typeface="Arial"/>
            </a:endParaRPr>
          </a:p>
        </p:txBody>
      </p:sp>
      <p:sp>
        <p:nvSpPr>
          <p:cNvPr id="92" name="Shape 12"/>
          <p:cNvSpPr/>
          <p:nvPr/>
        </p:nvSpPr>
        <p:spPr>
          <a:xfrm>
            <a:off x="2998800" y="6851160"/>
            <a:ext cx="4289040" cy="9000"/>
          </a:xfrm>
          <a:prstGeom prst="rect">
            <a:avLst/>
          </a:prstGeom>
          <a:solidFill>
            <a:srgbClr val="FFFFFF">
              <a:alpha val="8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93" name="Text 13"/>
          <p:cNvSpPr/>
          <p:nvPr/>
        </p:nvSpPr>
        <p:spPr>
          <a:xfrm>
            <a:off x="2998800" y="7068600"/>
            <a:ext cx="4417920" cy="8150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70000"/>
              </a:lnSpc>
              <a:tabLst>
                <a:tab pos="0" algn="l"/>
              </a:tabLst>
            </a:pPr>
            <a:r>
              <a:rPr lang="en-US" sz="1800" b="0" strike="noStrike" spc="-1">
                <a:solidFill>
                  <a:srgbClr val="8A97A6"/>
                </a:solidFill>
                <a:latin typeface="JetBrains Mono"/>
                <a:ea typeface="JetBrains Mono"/>
              </a:rPr>
              <a:t>TensorFlow Lite</a:t>
            </a:r>
            <a:endParaRPr lang="en-US" sz="1800" b="0" strike="noStrike" spc="-1">
              <a:solidFill>
                <a:srgbClr val="FFFFFF"/>
              </a:solidFill>
              <a:latin typeface="Arial"/>
            </a:endParaRPr>
          </a:p>
          <a:p>
            <a:pPr defTabSz="914400">
              <a:lnSpc>
                <a:spcPct val="170000"/>
              </a:lnSpc>
              <a:tabLst>
                <a:tab pos="0" algn="l"/>
              </a:tabLst>
            </a:pPr>
            <a:endParaRPr lang="en-US" sz="1800" b="0" strike="noStrike" spc="-1">
              <a:solidFill>
                <a:srgbClr val="FFFFFF"/>
              </a:solidFill>
              <a:latin typeface="Arial"/>
            </a:endParaRPr>
          </a:p>
        </p:txBody>
      </p:sp>
      <p:sp>
        <p:nvSpPr>
          <p:cNvPr id="94" name="Text 14"/>
          <p:cNvSpPr/>
          <p:nvPr/>
        </p:nvSpPr>
        <p:spPr>
          <a:xfrm>
            <a:off x="8374680" y="5655600"/>
            <a:ext cx="153828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00000"/>
              </a:lnSpc>
              <a:tabLst>
                <a:tab pos="0" algn="l"/>
              </a:tabLst>
            </a:pPr>
            <a:r>
              <a:rPr lang="en-US" sz="1800" b="0" strike="noStrike" spc="143">
                <a:solidFill>
                  <a:srgbClr val="00D4FF"/>
                </a:solidFill>
                <a:latin typeface="JetBrains Mono"/>
                <a:ea typeface="JetBrains Mono"/>
              </a:rPr>
              <a:t>micro-ROS</a:t>
            </a:r>
            <a:endParaRPr lang="en-US" sz="1800" b="0" strike="noStrike" spc="-1">
              <a:solidFill>
                <a:srgbClr val="FFFFFF"/>
              </a:solidFill>
              <a:latin typeface="Arial"/>
            </a:endParaRPr>
          </a:p>
        </p:txBody>
      </p:sp>
      <p:sp>
        <p:nvSpPr>
          <p:cNvPr id="95" name="Text 15"/>
          <p:cNvSpPr/>
          <p:nvPr/>
        </p:nvSpPr>
        <p:spPr>
          <a:xfrm>
            <a:off x="7719120" y="6109560"/>
            <a:ext cx="2849400" cy="379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ctr">
            <a:normAutofit lnSpcReduction="10000"/>
          </a:bodyPr>
          <a:lstStyle/>
          <a:p>
            <a:pPr algn="ctr" defTabSz="914400">
              <a:lnSpc>
                <a:spcPct val="100000"/>
              </a:lnSpc>
              <a:tabLst>
                <a:tab pos="0" algn="l"/>
              </a:tabLst>
            </a:pPr>
            <a:r>
              <a:rPr lang="en-US" sz="2250" b="0" strike="noStrike" spc="-151">
                <a:solidFill>
                  <a:srgbClr val="00D4FF"/>
                </a:solidFill>
                <a:latin typeface="Archivo"/>
                <a:ea typeface="Archivo"/>
              </a:rPr>
              <a:t>◂ ──────── ▸</a:t>
            </a:r>
            <a:endParaRPr lang="en-US" sz="2250" b="0" strike="noStrike" spc="-1">
              <a:solidFill>
                <a:srgbClr val="FFFFFF"/>
              </a:solidFill>
              <a:latin typeface="Arial"/>
            </a:endParaRPr>
          </a:p>
        </p:txBody>
      </p:sp>
      <p:sp>
        <p:nvSpPr>
          <p:cNvPr id="96" name="Text 16"/>
          <p:cNvSpPr/>
          <p:nvPr/>
        </p:nvSpPr>
        <p:spPr>
          <a:xfrm>
            <a:off x="8314560" y="6603120"/>
            <a:ext cx="165852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algn="ctr" defTabSz="914400">
              <a:lnSpc>
                <a:spcPct val="100000"/>
              </a:lnSpc>
              <a:tabLst>
                <a:tab pos="0" algn="l"/>
              </a:tabLst>
            </a:pPr>
            <a:r>
              <a:rPr lang="en-US" sz="1800" b="0" strike="noStrike" spc="106">
                <a:solidFill>
                  <a:srgbClr val="5C6977"/>
                </a:solidFill>
                <a:latin typeface="JetBrains Mono"/>
                <a:ea typeface="JetBrains Mono"/>
              </a:rPr>
              <a:t>USB serial</a:t>
            </a:r>
            <a:endParaRPr lang="en-US" sz="1800" b="0" strike="noStrike" spc="-1">
              <a:solidFill>
                <a:srgbClr val="FFFFFF"/>
              </a:solidFill>
              <a:latin typeface="Arial"/>
            </a:endParaRPr>
          </a:p>
        </p:txBody>
      </p:sp>
      <p:sp>
        <p:nvSpPr>
          <p:cNvPr id="97" name="Shape 17"/>
          <p:cNvSpPr/>
          <p:nvPr/>
        </p:nvSpPr>
        <p:spPr>
          <a:xfrm>
            <a:off x="10572840" y="4478040"/>
            <a:ext cx="5143320" cy="3604320"/>
          </a:xfrm>
          <a:prstGeom prst="rect">
            <a:avLst/>
          </a:prstGeom>
          <a:solidFill>
            <a:srgbClr val="1218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8" name="Shape 18"/>
          <p:cNvSpPr/>
          <p:nvPr/>
        </p:nvSpPr>
        <p:spPr>
          <a:xfrm>
            <a:off x="10572840" y="8074440"/>
            <a:ext cx="51433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99" name="Shape 19"/>
          <p:cNvSpPr/>
          <p:nvPr/>
        </p:nvSpPr>
        <p:spPr>
          <a:xfrm>
            <a:off x="10572840" y="4478040"/>
            <a:ext cx="5143320" cy="2340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21240" rIns="90000" bIns="-21240" anchor="t">
            <a:noAutofit/>
          </a:bodyPr>
          <a:lstStyle/>
          <a:p>
            <a:endParaRPr lang="en-US" sz="1800" b="0" strike="noStrike" spc="-1">
              <a:solidFill>
                <a:srgbClr val="FFFFFF"/>
              </a:solidFill>
              <a:latin typeface="Arial"/>
            </a:endParaRPr>
          </a:p>
        </p:txBody>
      </p:sp>
      <p:sp>
        <p:nvSpPr>
          <p:cNvPr id="100" name="Shape 20"/>
          <p:cNvSpPr/>
          <p:nvPr/>
        </p:nvSpPr>
        <p:spPr>
          <a:xfrm>
            <a:off x="10572840" y="4478040"/>
            <a:ext cx="9000" cy="360432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1" name="Shape 21"/>
          <p:cNvSpPr/>
          <p:nvPr/>
        </p:nvSpPr>
        <p:spPr>
          <a:xfrm>
            <a:off x="15708240" y="4478040"/>
            <a:ext cx="9000" cy="360432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2" name="Text 22"/>
          <p:cNvSpPr/>
          <p:nvPr/>
        </p:nvSpPr>
        <p:spPr>
          <a:xfrm>
            <a:off x="10999800" y="4939920"/>
            <a:ext cx="47181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395">
                <a:solidFill>
                  <a:srgbClr val="00D4FF"/>
                </a:solidFill>
                <a:latin typeface="JetBrains Mono"/>
                <a:ea typeface="JetBrains Mono"/>
              </a:rPr>
              <a:t>SPINE</a:t>
            </a:r>
            <a:endParaRPr lang="en-US" sz="1800" b="0" strike="noStrike" spc="-1">
              <a:solidFill>
                <a:srgbClr val="FFFFFF"/>
              </a:solidFill>
              <a:latin typeface="Arial"/>
            </a:endParaRPr>
          </a:p>
        </p:txBody>
      </p:sp>
      <p:sp>
        <p:nvSpPr>
          <p:cNvPr id="103" name="Text 23"/>
          <p:cNvSpPr/>
          <p:nvPr/>
        </p:nvSpPr>
        <p:spPr>
          <a:xfrm>
            <a:off x="10999800" y="5412960"/>
            <a:ext cx="4718160" cy="4568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88611" lnSpcReduction="10000"/>
          </a:bodyPr>
          <a:lstStyle/>
          <a:p>
            <a:pPr defTabSz="914400">
              <a:lnSpc>
                <a:spcPct val="100000"/>
              </a:lnSpc>
              <a:tabLst>
                <a:tab pos="0" algn="l"/>
              </a:tabLst>
            </a:pPr>
            <a:r>
              <a:rPr lang="en-US" sz="3300" b="0" strike="noStrike" spc="-1">
                <a:solidFill>
                  <a:srgbClr val="FFFFFF"/>
                </a:solidFill>
                <a:latin typeface="Archivo Black"/>
                <a:ea typeface="Archivo Black"/>
              </a:rPr>
              <a:t>Teensy 4.1</a:t>
            </a:r>
            <a:endParaRPr lang="en-US" sz="3300" b="0" strike="noStrike" spc="-1">
              <a:solidFill>
                <a:srgbClr val="FFFFFF"/>
              </a:solidFill>
              <a:latin typeface="Arial"/>
            </a:endParaRPr>
          </a:p>
        </p:txBody>
      </p:sp>
      <p:sp>
        <p:nvSpPr>
          <p:cNvPr id="104" name="Text 24"/>
          <p:cNvSpPr/>
          <p:nvPr/>
        </p:nvSpPr>
        <p:spPr>
          <a:xfrm>
            <a:off x="10999800" y="6060600"/>
            <a:ext cx="4718160" cy="371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400" b="1" strike="noStrike" spc="-1">
                <a:solidFill>
                  <a:srgbClr val="E6EDF3"/>
                </a:solidFill>
                <a:latin typeface="Archivo"/>
                <a:ea typeface="Archivo"/>
              </a:rPr>
              <a:t>Real-time motor control</a:t>
            </a:r>
            <a:endParaRPr lang="en-US" sz="2400" b="0" strike="noStrike" spc="-1">
              <a:solidFill>
                <a:srgbClr val="FFFFFF"/>
              </a:solidFill>
              <a:latin typeface="Arial"/>
            </a:endParaRPr>
          </a:p>
        </p:txBody>
      </p:sp>
      <p:sp>
        <p:nvSpPr>
          <p:cNvPr id="105" name="Shape 25"/>
          <p:cNvSpPr/>
          <p:nvPr/>
        </p:nvSpPr>
        <p:spPr>
          <a:xfrm>
            <a:off x="10999800" y="6641640"/>
            <a:ext cx="4289040" cy="9000"/>
          </a:xfrm>
          <a:prstGeom prst="rect">
            <a:avLst/>
          </a:prstGeom>
          <a:solidFill>
            <a:srgbClr val="FFFFFF">
              <a:alpha val="8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106" name="Text 26"/>
          <p:cNvSpPr/>
          <p:nvPr/>
        </p:nvSpPr>
        <p:spPr>
          <a:xfrm>
            <a:off x="10999800" y="6859080"/>
            <a:ext cx="4417920" cy="8150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88611"/>
          </a:bodyPr>
          <a:lstStyle/>
          <a:p>
            <a:pPr defTabSz="914400">
              <a:lnSpc>
                <a:spcPct val="170000"/>
              </a:lnSpc>
              <a:tabLst>
                <a:tab pos="0" algn="l"/>
              </a:tabLst>
            </a:pPr>
            <a:r>
              <a:rPr lang="en-US" sz="1800" b="0" strike="noStrike" spc="-1">
                <a:solidFill>
                  <a:srgbClr val="8A97A6"/>
                </a:solidFill>
                <a:latin typeface="JetBrains Mono"/>
                <a:ea typeface="JetBrains Mono"/>
              </a:rPr>
              <a:t>600 MHz · ample headroom SimpleFOC · closed loop</a:t>
            </a:r>
            <a:endParaRPr lang="en-US" sz="1800" b="0" strike="noStrike" spc="-1">
              <a:solidFill>
                <a:srgbClr val="FFFFF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Oval 1"/>
          <p:cNvSpPr/>
          <p:nvPr/>
        </p:nvSpPr>
        <p:spPr>
          <a:xfrm>
            <a:off x="754380" y="603504"/>
            <a:ext cx="411480" cy="4114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576072"/>
            <a:ext cx="150876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875" b="1">
                <a:solidFill>
                  <a:srgbClr val="00D4FF"/>
                </a:solidFill>
                <a:latin typeface="JetBrains Mono"/>
              </a:rPr>
              <a:t>04 · CODING THE TEENSY &amp; RASPBERRY PI</a:t>
            </a:r>
          </a:p>
        </p:txBody>
      </p:sp>
      <p:sp>
        <p:nvSpPr>
          <p:cNvPr id="4" name="TextBox 3"/>
          <p:cNvSpPr txBox="1"/>
          <p:nvPr/>
        </p:nvSpPr>
        <p:spPr>
          <a:xfrm>
            <a:off x="754380" y="1069848"/>
            <a:ext cx="15087600" cy="822960"/>
          </a:xfrm>
          <a:prstGeom prst="rect">
            <a:avLst/>
          </a:prstGeom>
          <a:noFill/>
        </p:spPr>
        <p:txBody>
          <a:bodyPr wrap="square" lIns="0" tIns="0" rIns="0" bIns="0" anchor="t">
            <a:spAutoFit/>
          </a:bodyPr>
          <a:lstStyle/>
          <a:p>
            <a:pPr algn="l">
              <a:lnSpc>
                <a:spcPct val="100000"/>
              </a:lnSpc>
              <a:spcBef>
                <a:spcPts val="0"/>
              </a:spcBef>
              <a:spcAft>
                <a:spcPts val="600"/>
              </a:spcAft>
            </a:pPr>
            <a:r>
              <a:rPr sz="4050" b="1">
                <a:solidFill>
                  <a:srgbClr val="FFFFFF"/>
                </a:solidFill>
                <a:latin typeface="Archivo"/>
              </a:rPr>
              <a:t>Two controllers, one real-time loop</a:t>
            </a:r>
          </a:p>
        </p:txBody>
      </p:sp>
      <p:sp>
        <p:nvSpPr>
          <p:cNvPr id="5" name="Rounded Rectangle 4"/>
          <p:cNvSpPr/>
          <p:nvPr/>
        </p:nvSpPr>
        <p:spPr>
          <a:xfrm>
            <a:off x="14676120" y="658368"/>
            <a:ext cx="2880360" cy="411480"/>
          </a:xfrm>
          <a:prstGeom prst="roundRect">
            <a:avLst>
              <a:gd name="adj" fmla="val 50000"/>
            </a:avLst>
          </a:prstGeom>
          <a:noFill/>
          <a:ln w="2286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4840710" y="802386"/>
            <a:ext cx="137160" cy="13716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0" y="658368"/>
            <a:ext cx="24003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50" b="1">
                <a:solidFill>
                  <a:srgbClr val="00D4FF"/>
                </a:solidFill>
                <a:latin typeface="JetBrains Mono"/>
              </a:rPr>
              <a:t>IN PROGRESS</a:t>
            </a:r>
          </a:p>
        </p:txBody>
      </p:sp>
      <p:sp>
        <p:nvSpPr>
          <p:cNvPr id="8" name="Rounded Rectangle 7"/>
          <p:cNvSpPr/>
          <p:nvPr/>
        </p:nvSpPr>
        <p:spPr>
          <a:xfrm>
            <a:off x="754380" y="2331720"/>
            <a:ext cx="8229600" cy="4183380"/>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4380" y="2331720"/>
            <a:ext cx="8229600" cy="685800"/>
          </a:xfrm>
          <a:prstGeom prst="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331720"/>
            <a:ext cx="7680960" cy="685800"/>
          </a:xfrm>
          <a:prstGeom prst="rect">
            <a:avLst/>
          </a:prstGeom>
          <a:noFill/>
        </p:spPr>
        <p:txBody>
          <a:bodyPr wrap="square" lIns="0" tIns="0" rIns="0" bIns="0" anchor="ctr">
            <a:spAutoFit/>
          </a:bodyPr>
          <a:lstStyle/>
          <a:p>
            <a:pPr algn="l">
              <a:lnSpc>
                <a:spcPct val="100000"/>
              </a:lnSpc>
              <a:spcBef>
                <a:spcPts val="0"/>
              </a:spcBef>
              <a:spcAft>
                <a:spcPts val="600"/>
              </a:spcAft>
            </a:pPr>
            <a:r>
              <a:rPr sz="2025" b="1">
                <a:solidFill>
                  <a:srgbClr val="0F1419"/>
                </a:solidFill>
                <a:latin typeface="Archivo"/>
              </a:rPr>
              <a:t>Teensy 4.1   </a:t>
            </a:r>
            <a:r>
              <a:rPr sz="1575" b="0">
                <a:solidFill>
                  <a:srgbClr val="0F1419"/>
                </a:solidFill>
                <a:latin typeface="Archivo"/>
              </a:rPr>
              <a:t>real-time control (C++)</a:t>
            </a:r>
          </a:p>
        </p:txBody>
      </p:sp>
      <p:sp>
        <p:nvSpPr>
          <p:cNvPr id="11" name="Oval 10"/>
          <p:cNvSpPr/>
          <p:nvPr/>
        </p:nvSpPr>
        <p:spPr>
          <a:xfrm>
            <a:off x="1069848" y="3401568"/>
            <a:ext cx="192024" cy="192024"/>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99032" y="3278124"/>
            <a:ext cx="72694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Reads the sensors</a:t>
            </a:r>
          </a:p>
        </p:txBody>
      </p:sp>
      <p:sp>
        <p:nvSpPr>
          <p:cNvPr id="13" name="TextBox 12"/>
          <p:cNvSpPr txBox="1"/>
          <p:nvPr/>
        </p:nvSpPr>
        <p:spPr>
          <a:xfrm>
            <a:off x="1399032" y="3662172"/>
            <a:ext cx="7406640" cy="411480"/>
          </a:xfrm>
          <a:prstGeom prst="rect">
            <a:avLst/>
          </a:prstGeom>
          <a:noFill/>
        </p:spPr>
        <p:txBody>
          <a:bodyPr wrap="square" lIns="0" tIns="0" rIns="0" bIns="0" anchor="t">
            <a:spAutoFit/>
          </a:bodyPr>
          <a:lstStyle/>
          <a:p>
            <a:pPr algn="l">
              <a:lnSpc>
                <a:spcPct val="100000"/>
              </a:lnSpc>
              <a:spcBef>
                <a:spcPts val="0"/>
              </a:spcBef>
              <a:spcAft>
                <a:spcPts val="600"/>
              </a:spcAft>
            </a:pPr>
            <a:r>
              <a:rPr sz="1410" b="0">
                <a:solidFill>
                  <a:srgbClr val="B8C2CC"/>
                </a:solidFill>
                <a:latin typeface="Archivo"/>
              </a:rPr>
              <a:t>captures the muscle signal</a:t>
            </a:r>
          </a:p>
        </p:txBody>
      </p:sp>
      <p:sp>
        <p:nvSpPr>
          <p:cNvPr id="14" name="Oval 13"/>
          <p:cNvSpPr/>
          <p:nvPr/>
        </p:nvSpPr>
        <p:spPr>
          <a:xfrm>
            <a:off x="1069848" y="4183380"/>
            <a:ext cx="192024" cy="192024"/>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99032" y="4059936"/>
            <a:ext cx="72694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Runs the on-board mapping</a:t>
            </a:r>
          </a:p>
        </p:txBody>
      </p:sp>
      <p:sp>
        <p:nvSpPr>
          <p:cNvPr id="16" name="TextBox 15"/>
          <p:cNvSpPr txBox="1"/>
          <p:nvPr/>
        </p:nvSpPr>
        <p:spPr>
          <a:xfrm>
            <a:off x="1399032" y="4443984"/>
            <a:ext cx="7406640" cy="411480"/>
          </a:xfrm>
          <a:prstGeom prst="rect">
            <a:avLst/>
          </a:prstGeom>
          <a:noFill/>
        </p:spPr>
        <p:txBody>
          <a:bodyPr wrap="square" lIns="0" tIns="0" rIns="0" bIns="0" anchor="t">
            <a:spAutoFit/>
          </a:bodyPr>
          <a:lstStyle/>
          <a:p>
            <a:pPr algn="l">
              <a:lnSpc>
                <a:spcPct val="100000"/>
              </a:lnSpc>
              <a:spcBef>
                <a:spcPts val="0"/>
              </a:spcBef>
              <a:spcAft>
                <a:spcPts val="600"/>
              </a:spcAft>
            </a:pPr>
            <a:r>
              <a:rPr sz="1410" b="0">
                <a:solidFill>
                  <a:srgbClr val="B8C2CC"/>
                </a:solidFill>
                <a:latin typeface="Archivo"/>
              </a:rPr>
              <a:t>base weights from our data, updated per patient</a:t>
            </a:r>
          </a:p>
        </p:txBody>
      </p:sp>
      <p:sp>
        <p:nvSpPr>
          <p:cNvPr id="17" name="Oval 16"/>
          <p:cNvSpPr/>
          <p:nvPr/>
        </p:nvSpPr>
        <p:spPr>
          <a:xfrm>
            <a:off x="1069848" y="4965190"/>
            <a:ext cx="192024" cy="192024"/>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99032" y="4841748"/>
            <a:ext cx="72694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Drives the motors</a:t>
            </a:r>
          </a:p>
        </p:txBody>
      </p:sp>
      <p:sp>
        <p:nvSpPr>
          <p:cNvPr id="19" name="TextBox 18"/>
          <p:cNvSpPr txBox="1"/>
          <p:nvPr/>
        </p:nvSpPr>
        <p:spPr>
          <a:xfrm>
            <a:off x="1399032" y="5225794"/>
            <a:ext cx="7406640" cy="411480"/>
          </a:xfrm>
          <a:prstGeom prst="rect">
            <a:avLst/>
          </a:prstGeom>
          <a:noFill/>
        </p:spPr>
        <p:txBody>
          <a:bodyPr wrap="square" lIns="0" tIns="0" rIns="0" bIns="0" anchor="t">
            <a:spAutoFit/>
          </a:bodyPr>
          <a:lstStyle/>
          <a:p>
            <a:pPr algn="l">
              <a:lnSpc>
                <a:spcPct val="100000"/>
              </a:lnSpc>
              <a:spcBef>
                <a:spcPts val="0"/>
              </a:spcBef>
              <a:spcAft>
                <a:spcPts val="600"/>
              </a:spcAft>
            </a:pPr>
            <a:r>
              <a:rPr sz="1410" b="0">
                <a:solidFill>
                  <a:srgbClr val="B8C2CC"/>
                </a:solidFill>
                <a:latin typeface="Archivo"/>
              </a:rPr>
              <a:t>moves the joints smoothly + proportional</a:t>
            </a:r>
          </a:p>
        </p:txBody>
      </p:sp>
      <p:sp>
        <p:nvSpPr>
          <p:cNvPr id="20" name="Oval 19"/>
          <p:cNvSpPr/>
          <p:nvPr/>
        </p:nvSpPr>
        <p:spPr>
          <a:xfrm>
            <a:off x="1069848" y="5747002"/>
            <a:ext cx="192024" cy="192024"/>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99032" y="5623558"/>
            <a:ext cx="72694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Reads the encoders</a:t>
            </a:r>
          </a:p>
        </p:txBody>
      </p:sp>
      <p:sp>
        <p:nvSpPr>
          <p:cNvPr id="22" name="TextBox 21"/>
          <p:cNvSpPr txBox="1"/>
          <p:nvPr/>
        </p:nvSpPr>
        <p:spPr>
          <a:xfrm>
            <a:off x="1399032" y="6007608"/>
            <a:ext cx="7406640" cy="411480"/>
          </a:xfrm>
          <a:prstGeom prst="rect">
            <a:avLst/>
          </a:prstGeom>
          <a:noFill/>
        </p:spPr>
        <p:txBody>
          <a:bodyPr wrap="square" lIns="0" tIns="0" rIns="0" bIns="0" anchor="t">
            <a:spAutoFit/>
          </a:bodyPr>
          <a:lstStyle/>
          <a:p>
            <a:pPr algn="l">
              <a:lnSpc>
                <a:spcPct val="100000"/>
              </a:lnSpc>
              <a:spcBef>
                <a:spcPts val="0"/>
              </a:spcBef>
              <a:spcAft>
                <a:spcPts val="600"/>
              </a:spcAft>
            </a:pPr>
            <a:r>
              <a:rPr sz="1410" b="0">
                <a:solidFill>
                  <a:srgbClr val="B8C2CC"/>
                </a:solidFill>
                <a:latin typeface="Archivo"/>
              </a:rPr>
              <a:t>feeds back true motion for control &amp; training</a:t>
            </a:r>
          </a:p>
        </p:txBody>
      </p:sp>
      <p:sp>
        <p:nvSpPr>
          <p:cNvPr id="23" name="Rounded Rectangle 22"/>
          <p:cNvSpPr/>
          <p:nvPr/>
        </p:nvSpPr>
        <p:spPr>
          <a:xfrm>
            <a:off x="9326880" y="2331720"/>
            <a:ext cx="8229600" cy="4183380"/>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326880" y="2331720"/>
            <a:ext cx="8229600" cy="685800"/>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69780" y="2331720"/>
            <a:ext cx="7680960" cy="685800"/>
          </a:xfrm>
          <a:prstGeom prst="rect">
            <a:avLst/>
          </a:prstGeom>
          <a:noFill/>
        </p:spPr>
        <p:txBody>
          <a:bodyPr wrap="square" lIns="0" tIns="0" rIns="0" bIns="0" anchor="ctr">
            <a:spAutoFit/>
          </a:bodyPr>
          <a:lstStyle/>
          <a:p>
            <a:pPr algn="l">
              <a:lnSpc>
                <a:spcPct val="100000"/>
              </a:lnSpc>
              <a:spcBef>
                <a:spcPts val="0"/>
              </a:spcBef>
              <a:spcAft>
                <a:spcPts val="600"/>
              </a:spcAft>
            </a:pPr>
            <a:r>
              <a:rPr sz="2025" b="1">
                <a:solidFill>
                  <a:srgbClr val="0F1419"/>
                </a:solidFill>
                <a:latin typeface="Archivo"/>
              </a:rPr>
              <a:t>Raspberry Pi   </a:t>
            </a:r>
            <a:r>
              <a:rPr sz="1575" b="0">
                <a:solidFill>
                  <a:srgbClr val="0F1419"/>
                </a:solidFill>
                <a:latin typeface="Archivo"/>
              </a:rPr>
              <a:t>AI prediction (Python)</a:t>
            </a:r>
          </a:p>
        </p:txBody>
      </p:sp>
      <p:sp>
        <p:nvSpPr>
          <p:cNvPr id="26" name="Oval 25"/>
          <p:cNvSpPr/>
          <p:nvPr/>
        </p:nvSpPr>
        <p:spPr>
          <a:xfrm>
            <a:off x="9642348" y="3401568"/>
            <a:ext cx="192024" cy="192024"/>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71532" y="3278124"/>
            <a:ext cx="72694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Runs the AI model</a:t>
            </a:r>
          </a:p>
        </p:txBody>
      </p:sp>
      <p:sp>
        <p:nvSpPr>
          <p:cNvPr id="28" name="TextBox 27"/>
          <p:cNvSpPr txBox="1"/>
          <p:nvPr/>
        </p:nvSpPr>
        <p:spPr>
          <a:xfrm>
            <a:off x="9971532" y="3662172"/>
            <a:ext cx="7406640" cy="411480"/>
          </a:xfrm>
          <a:prstGeom prst="rect">
            <a:avLst/>
          </a:prstGeom>
          <a:noFill/>
        </p:spPr>
        <p:txBody>
          <a:bodyPr wrap="square" lIns="0" tIns="0" rIns="0" bIns="0" anchor="t">
            <a:spAutoFit/>
          </a:bodyPr>
          <a:lstStyle/>
          <a:p>
            <a:pPr algn="l">
              <a:lnSpc>
                <a:spcPct val="100000"/>
              </a:lnSpc>
              <a:spcBef>
                <a:spcPts val="0"/>
              </a:spcBef>
              <a:spcAft>
                <a:spcPts val="600"/>
              </a:spcAft>
            </a:pPr>
            <a:r>
              <a:rPr sz="1410" b="0">
                <a:solidFill>
                  <a:srgbClr val="B8C2CC"/>
                </a:solidFill>
                <a:latin typeface="Archivo"/>
              </a:rPr>
              <a:t>classifies gesture + regresses joint angles</a:t>
            </a:r>
          </a:p>
        </p:txBody>
      </p:sp>
      <p:sp>
        <p:nvSpPr>
          <p:cNvPr id="29" name="Oval 28"/>
          <p:cNvSpPr/>
          <p:nvPr/>
        </p:nvSpPr>
        <p:spPr>
          <a:xfrm>
            <a:off x="9642348" y="4183380"/>
            <a:ext cx="192024" cy="192024"/>
          </a:xfrm>
          <a:prstGeom prst="ellipse">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71532" y="4059936"/>
            <a:ext cx="72694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Sends commands when confident</a:t>
            </a:r>
          </a:p>
        </p:txBody>
      </p:sp>
      <p:sp>
        <p:nvSpPr>
          <p:cNvPr id="31" name="TextBox 30"/>
          <p:cNvSpPr txBox="1"/>
          <p:nvPr/>
        </p:nvSpPr>
        <p:spPr>
          <a:xfrm>
            <a:off x="9971532" y="4443984"/>
            <a:ext cx="7406640" cy="411480"/>
          </a:xfrm>
          <a:prstGeom prst="rect">
            <a:avLst/>
          </a:prstGeom>
          <a:noFill/>
        </p:spPr>
        <p:txBody>
          <a:bodyPr wrap="square" lIns="0" tIns="0" rIns="0" bIns="0" anchor="t">
            <a:spAutoFit/>
          </a:bodyPr>
          <a:lstStyle/>
          <a:p>
            <a:pPr algn="l">
              <a:lnSpc>
                <a:spcPct val="100000"/>
              </a:lnSpc>
              <a:spcBef>
                <a:spcPts val="0"/>
              </a:spcBef>
              <a:spcAft>
                <a:spcPts val="600"/>
              </a:spcAft>
            </a:pPr>
            <a:r>
              <a:rPr sz="1410" b="0">
                <a:solidFill>
                  <a:srgbClr val="B8C2CC"/>
                </a:solidFill>
                <a:latin typeface="Archivo"/>
              </a:rPr>
              <a:t>acts only above the confidence target</a:t>
            </a:r>
          </a:p>
        </p:txBody>
      </p:sp>
      <p:sp>
        <p:nvSpPr>
          <p:cNvPr id="32" name="Oval 31"/>
          <p:cNvSpPr/>
          <p:nvPr/>
        </p:nvSpPr>
        <p:spPr>
          <a:xfrm>
            <a:off x="9642348" y="4965190"/>
            <a:ext cx="192024" cy="192024"/>
          </a:xfrm>
          <a:prstGeom prst="ellipse">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971532" y="4841748"/>
            <a:ext cx="72694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Handles online training</a:t>
            </a:r>
          </a:p>
        </p:txBody>
      </p:sp>
      <p:sp>
        <p:nvSpPr>
          <p:cNvPr id="34" name="TextBox 33"/>
          <p:cNvSpPr txBox="1"/>
          <p:nvPr/>
        </p:nvSpPr>
        <p:spPr>
          <a:xfrm>
            <a:off x="9971532" y="5225794"/>
            <a:ext cx="7406640" cy="411480"/>
          </a:xfrm>
          <a:prstGeom prst="rect">
            <a:avLst/>
          </a:prstGeom>
          <a:noFill/>
        </p:spPr>
        <p:txBody>
          <a:bodyPr wrap="square" lIns="0" tIns="0" rIns="0" bIns="0" anchor="t">
            <a:spAutoFit/>
          </a:bodyPr>
          <a:lstStyle/>
          <a:p>
            <a:pPr algn="l">
              <a:lnSpc>
                <a:spcPct val="100000"/>
              </a:lnSpc>
              <a:spcBef>
                <a:spcPts val="0"/>
              </a:spcBef>
              <a:spcAft>
                <a:spcPts val="600"/>
              </a:spcAft>
            </a:pPr>
            <a:r>
              <a:rPr sz="1410" b="0">
                <a:solidFill>
                  <a:srgbClr val="B8C2CC"/>
                </a:solidFill>
                <a:latin typeface="Archivo"/>
              </a:rPr>
              <a:t>updates each patient's weights</a:t>
            </a:r>
          </a:p>
        </p:txBody>
      </p:sp>
      <p:sp>
        <p:nvSpPr>
          <p:cNvPr id="35" name="Oval 34"/>
          <p:cNvSpPr/>
          <p:nvPr/>
        </p:nvSpPr>
        <p:spPr>
          <a:xfrm>
            <a:off x="9642348" y="5747002"/>
            <a:ext cx="192024" cy="192024"/>
          </a:xfrm>
          <a:prstGeom prst="ellipse">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71532" y="5623558"/>
            <a:ext cx="72694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Coordinates the two units</a:t>
            </a:r>
          </a:p>
        </p:txBody>
      </p:sp>
      <p:sp>
        <p:nvSpPr>
          <p:cNvPr id="37" name="TextBox 36"/>
          <p:cNvSpPr txBox="1"/>
          <p:nvPr/>
        </p:nvSpPr>
        <p:spPr>
          <a:xfrm>
            <a:off x="9971532" y="6007608"/>
            <a:ext cx="7406640" cy="411480"/>
          </a:xfrm>
          <a:prstGeom prst="rect">
            <a:avLst/>
          </a:prstGeom>
          <a:noFill/>
        </p:spPr>
        <p:txBody>
          <a:bodyPr wrap="square" lIns="0" tIns="0" rIns="0" bIns="0" anchor="t">
            <a:spAutoFit/>
          </a:bodyPr>
          <a:lstStyle/>
          <a:p>
            <a:pPr algn="l">
              <a:lnSpc>
                <a:spcPct val="100000"/>
              </a:lnSpc>
              <a:spcBef>
                <a:spcPts val="0"/>
              </a:spcBef>
              <a:spcAft>
                <a:spcPts val="600"/>
              </a:spcAft>
            </a:pPr>
            <a:r>
              <a:rPr sz="1410" b="0">
                <a:solidFill>
                  <a:srgbClr val="B8C2CC"/>
                </a:solidFill>
                <a:latin typeface="Archivo"/>
              </a:rPr>
              <a:t>high-level brain to the Teensy's spine</a:t>
            </a:r>
          </a:p>
        </p:txBody>
      </p:sp>
      <p:sp>
        <p:nvSpPr>
          <p:cNvPr id="38" name="Rounded Rectangle 37"/>
          <p:cNvSpPr/>
          <p:nvPr/>
        </p:nvSpPr>
        <p:spPr>
          <a:xfrm>
            <a:off x="754380" y="6789420"/>
            <a:ext cx="16802100" cy="2331720"/>
          </a:xfrm>
          <a:prstGeom prst="roundRect">
            <a:avLst>
              <a:gd name="adj" fmla="val 6000"/>
            </a:avLst>
          </a:prstGeom>
          <a:solidFill>
            <a:srgbClr val="0F1419"/>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97280" y="6954012"/>
            <a:ext cx="10972800" cy="411480"/>
          </a:xfrm>
          <a:prstGeom prst="rect">
            <a:avLst/>
          </a:prstGeom>
          <a:noFill/>
        </p:spPr>
        <p:txBody>
          <a:bodyPr wrap="square" lIns="0" tIns="0" rIns="0" bIns="0" anchor="t">
            <a:spAutoFit/>
          </a:bodyPr>
          <a:lstStyle/>
          <a:p>
            <a:pPr algn="l">
              <a:lnSpc>
                <a:spcPct val="100000"/>
              </a:lnSpc>
              <a:spcBef>
                <a:spcPts val="0"/>
              </a:spcBef>
              <a:spcAft>
                <a:spcPts val="600"/>
              </a:spcAft>
            </a:pPr>
            <a:r>
              <a:rPr sz="1800" b="1">
                <a:solidFill>
                  <a:srgbClr val="FFFFFF"/>
                </a:solidFill>
                <a:latin typeface="Archivo"/>
              </a:rPr>
              <a:t>How they talk to each other</a:t>
            </a:r>
          </a:p>
        </p:txBody>
      </p:sp>
      <p:sp>
        <p:nvSpPr>
          <p:cNvPr id="40" name="Rounded Rectangle 39"/>
          <p:cNvSpPr/>
          <p:nvPr/>
        </p:nvSpPr>
        <p:spPr>
          <a:xfrm>
            <a:off x="1412748" y="7667244"/>
            <a:ext cx="4389120" cy="1165860"/>
          </a:xfrm>
          <a:prstGeom prst="roundRect">
            <a:avLst>
              <a:gd name="adj" fmla="val 12000"/>
            </a:avLst>
          </a:prstGeom>
          <a:solidFill>
            <a:srgbClr val="10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303020" y="7543800"/>
            <a:ext cx="4389120" cy="1165860"/>
          </a:xfrm>
          <a:prstGeom prst="roundRect">
            <a:avLst>
              <a:gd name="adj" fmla="val 12000"/>
            </a:avLst>
          </a:prstGeom>
          <a:gradFill>
            <a:gsLst>
              <a:gs pos="0">
                <a:srgbClr val="39D9A6"/>
              </a:gs>
              <a:gs pos="100000">
                <a:srgbClr val="39D9A6"/>
              </a:gs>
            </a:gsLst>
            <a:lin ang="4200000" scaled="1"/>
          </a:gra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495042" y="7708392"/>
            <a:ext cx="4005072" cy="918970"/>
          </a:xfrm>
          <a:prstGeom prst="rect">
            <a:avLst/>
          </a:prstGeom>
          <a:noFill/>
        </p:spPr>
        <p:txBody>
          <a:bodyPr wrap="square" lIns="0" tIns="0" rIns="0" bIns="0" anchor="ctr">
            <a:spAutoFit/>
          </a:bodyPr>
          <a:lstStyle/>
          <a:p>
            <a:pPr algn="l">
              <a:lnSpc>
                <a:spcPct val="100000"/>
              </a:lnSpc>
              <a:spcBef>
                <a:spcPts val="0"/>
              </a:spcBef>
              <a:spcAft>
                <a:spcPts val="300"/>
              </a:spcAft>
            </a:pPr>
            <a:r>
              <a:rPr sz="1875" b="1">
                <a:solidFill>
                  <a:srgbClr val="0F1419"/>
                </a:solidFill>
                <a:latin typeface="Archivo"/>
              </a:rPr>
              <a:t>Teensy</a:t>
            </a:r>
          </a:p>
          <a:p>
            <a:pPr algn="l">
              <a:lnSpc>
                <a:spcPct val="100000"/>
              </a:lnSpc>
              <a:spcBef>
                <a:spcPts val="0"/>
              </a:spcBef>
              <a:spcAft>
                <a:spcPts val="300"/>
              </a:spcAft>
            </a:pPr>
            <a:r>
              <a:rPr sz="1395" b="0">
                <a:solidFill>
                  <a:srgbClr val="0F1419"/>
                </a:solidFill>
                <a:latin typeface="Archivo"/>
              </a:rPr>
              <a:t>sensor + encoder stream  →</a:t>
            </a:r>
          </a:p>
        </p:txBody>
      </p:sp>
      <p:sp>
        <p:nvSpPr>
          <p:cNvPr id="43" name="Rounded Rectangle 42"/>
          <p:cNvSpPr/>
          <p:nvPr/>
        </p:nvSpPr>
        <p:spPr>
          <a:xfrm>
            <a:off x="6967728" y="7667244"/>
            <a:ext cx="4526280" cy="1165860"/>
          </a:xfrm>
          <a:prstGeom prst="roundRect">
            <a:avLst>
              <a:gd name="adj" fmla="val 12000"/>
            </a:avLst>
          </a:prstGeom>
          <a:solidFill>
            <a:srgbClr val="073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858000" y="7543800"/>
            <a:ext cx="4526280" cy="1165860"/>
          </a:xfrm>
          <a:prstGeom prst="roundRect">
            <a:avLst>
              <a:gd name="adj" fmla="val 12000"/>
            </a:avLst>
          </a:prstGeom>
          <a:gradFill>
            <a:gsLst>
              <a:gs pos="0">
                <a:srgbClr val="00D4FF"/>
              </a:gs>
              <a:gs pos="100000">
                <a:srgbClr val="00D4FF"/>
              </a:gs>
            </a:gsLst>
            <a:lin ang="4200000" scaled="1"/>
          </a:gra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050024" y="7708392"/>
            <a:ext cx="4142230" cy="918970"/>
          </a:xfrm>
          <a:prstGeom prst="rect">
            <a:avLst/>
          </a:prstGeom>
          <a:noFill/>
        </p:spPr>
        <p:txBody>
          <a:bodyPr wrap="square" lIns="0" tIns="0" rIns="0" bIns="0" anchor="ctr">
            <a:spAutoFit/>
          </a:bodyPr>
          <a:lstStyle/>
          <a:p>
            <a:pPr algn="l">
              <a:lnSpc>
                <a:spcPct val="100000"/>
              </a:lnSpc>
              <a:spcBef>
                <a:spcPts val="0"/>
              </a:spcBef>
              <a:spcAft>
                <a:spcPts val="300"/>
              </a:spcAft>
            </a:pPr>
            <a:r>
              <a:rPr sz="1875" b="1">
                <a:solidFill>
                  <a:srgbClr val="0F1419"/>
                </a:solidFill>
                <a:latin typeface="Archivo"/>
              </a:rPr>
              <a:t>Raspberry Pi</a:t>
            </a:r>
          </a:p>
          <a:p>
            <a:pPr algn="l">
              <a:lnSpc>
                <a:spcPct val="100000"/>
              </a:lnSpc>
              <a:spcBef>
                <a:spcPts val="0"/>
              </a:spcBef>
              <a:spcAft>
                <a:spcPts val="300"/>
              </a:spcAft>
            </a:pPr>
            <a:r>
              <a:rPr sz="1395" b="0">
                <a:solidFill>
                  <a:srgbClr val="0F1419"/>
                </a:solidFill>
                <a:latin typeface="Archivo"/>
              </a:rPr>
              <a:t>predicts intent</a:t>
            </a:r>
          </a:p>
        </p:txBody>
      </p:sp>
      <p:sp>
        <p:nvSpPr>
          <p:cNvPr id="46" name="Rounded Rectangle 45"/>
          <p:cNvSpPr/>
          <p:nvPr/>
        </p:nvSpPr>
        <p:spPr>
          <a:xfrm>
            <a:off x="12591288" y="7667244"/>
            <a:ext cx="4663440" cy="1165860"/>
          </a:xfrm>
          <a:prstGeom prst="roundRect">
            <a:avLst>
              <a:gd name="adj" fmla="val 12000"/>
            </a:avLst>
          </a:prstGeom>
          <a:solidFill>
            <a:srgbClr val="10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12481560" y="7543800"/>
            <a:ext cx="4663440" cy="1165860"/>
          </a:xfrm>
          <a:prstGeom prst="roundRect">
            <a:avLst>
              <a:gd name="adj" fmla="val 12000"/>
            </a:avLst>
          </a:prstGeom>
          <a:gradFill>
            <a:gsLst>
              <a:gs pos="0">
                <a:srgbClr val="39D9A6"/>
              </a:gs>
              <a:gs pos="100000">
                <a:srgbClr val="39D9A6"/>
              </a:gs>
            </a:gsLst>
            <a:lin ang="4200000" scaled="1"/>
          </a:gra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2673584" y="7708392"/>
            <a:ext cx="4279392" cy="918970"/>
          </a:xfrm>
          <a:prstGeom prst="rect">
            <a:avLst/>
          </a:prstGeom>
          <a:noFill/>
        </p:spPr>
        <p:txBody>
          <a:bodyPr wrap="square" lIns="0" tIns="0" rIns="0" bIns="0" anchor="ctr">
            <a:spAutoFit/>
          </a:bodyPr>
          <a:lstStyle/>
          <a:p>
            <a:pPr algn="l">
              <a:lnSpc>
                <a:spcPct val="100000"/>
              </a:lnSpc>
              <a:spcBef>
                <a:spcPts val="0"/>
              </a:spcBef>
              <a:spcAft>
                <a:spcPts val="300"/>
              </a:spcAft>
            </a:pPr>
            <a:r>
              <a:rPr sz="1875" b="1">
                <a:solidFill>
                  <a:srgbClr val="0F1419"/>
                </a:solidFill>
                <a:latin typeface="Archivo"/>
              </a:rPr>
              <a:t>Teensy</a:t>
            </a:r>
          </a:p>
          <a:p>
            <a:pPr algn="l">
              <a:lnSpc>
                <a:spcPct val="100000"/>
              </a:lnSpc>
              <a:spcBef>
                <a:spcPts val="0"/>
              </a:spcBef>
              <a:spcAft>
                <a:spcPts val="300"/>
              </a:spcAft>
            </a:pPr>
            <a:r>
              <a:rPr sz="1395" b="0">
                <a:solidFill>
                  <a:srgbClr val="0F1419"/>
                </a:solidFill>
                <a:latin typeface="Archivo"/>
              </a:rPr>
              <a:t>← target motion commands</a:t>
            </a:r>
          </a:p>
        </p:txBody>
      </p:sp>
      <p:cxnSp>
        <p:nvCxnSpPr>
          <p:cNvPr id="49" name="Connector 48"/>
          <p:cNvCxnSpPr/>
          <p:nvPr/>
        </p:nvCxnSpPr>
        <p:spPr>
          <a:xfrm>
            <a:off x="5692140" y="8119872"/>
            <a:ext cx="1165860" cy="0"/>
          </a:xfrm>
          <a:prstGeom prst="line">
            <a:avLst/>
          </a:prstGeom>
          <a:ln w="41910">
            <a:solidFill>
              <a:srgbClr val="39D9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384280" y="8119872"/>
            <a:ext cx="1097280" cy="0"/>
          </a:xfrm>
          <a:prstGeom prst="line">
            <a:avLst/>
          </a:prstGeom>
          <a:ln w="41910">
            <a:solidFill>
              <a:srgbClr val="F2A01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97280" y="8846820"/>
            <a:ext cx="16459200" cy="411480"/>
          </a:xfrm>
          <a:prstGeom prst="rect">
            <a:avLst/>
          </a:prstGeom>
          <a:noFill/>
        </p:spPr>
        <p:txBody>
          <a:bodyPr wrap="square" lIns="0" tIns="0" rIns="0" bIns="0" anchor="t">
            <a:spAutoFit/>
          </a:bodyPr>
          <a:lstStyle/>
          <a:p>
            <a:pPr algn="l">
              <a:lnSpc>
                <a:spcPct val="100000"/>
              </a:lnSpc>
              <a:spcBef>
                <a:spcPts val="0"/>
              </a:spcBef>
              <a:spcAft>
                <a:spcPts val="600"/>
              </a:spcAft>
            </a:pPr>
            <a:r>
              <a:rPr sz="1500" b="1">
                <a:solidFill>
                  <a:srgbClr val="39D9A6"/>
                </a:solidFill>
                <a:latin typeface="Archivo"/>
              </a:rPr>
              <a:t>Goal: </a:t>
            </a:r>
            <a:r>
              <a:rPr sz="1440" b="0">
                <a:solidFill>
                  <a:srgbClr val="8A97A6"/>
                </a:solidFill>
                <a:latin typeface="Archivo"/>
              </a:rPr>
              <a:t>smooth, real-time response end-to-end · commands sent only when the model is confident.</a:t>
            </a:r>
          </a:p>
        </p:txBody>
      </p:sp>
      <p:sp>
        <p:nvSpPr>
          <p:cNvPr id="52" name="Oval 51"/>
          <p:cNvSpPr/>
          <p:nvPr/>
        </p:nvSpPr>
        <p:spPr>
          <a:xfrm>
            <a:off x="13304520" y="9532620"/>
            <a:ext cx="205740" cy="205740"/>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3606272" y="9436608"/>
            <a:ext cx="4389120" cy="411480"/>
          </a:xfrm>
          <a:prstGeom prst="rect">
            <a:avLst/>
          </a:prstGeom>
          <a:noFill/>
        </p:spPr>
        <p:txBody>
          <a:bodyPr wrap="square" lIns="0" tIns="0" rIns="0" bIns="0" anchor="ctr">
            <a:spAutoFit/>
          </a:bodyPr>
          <a:lstStyle/>
          <a:p>
            <a:pPr algn="l">
              <a:lnSpc>
                <a:spcPct val="100000"/>
              </a:lnSpc>
              <a:spcBef>
                <a:spcPts val="0"/>
              </a:spcBef>
              <a:spcAft>
                <a:spcPts val="600"/>
              </a:spcAft>
            </a:pPr>
            <a:r>
              <a:rPr sz="1500" b="0">
                <a:solidFill>
                  <a:srgbClr val="FFFFFF"/>
                </a:solidFill>
                <a:latin typeface="JetBrains Mono"/>
              </a:rPr>
              <a:t>coded</a:t>
            </a:r>
          </a:p>
        </p:txBody>
      </p:sp>
      <p:sp>
        <p:nvSpPr>
          <p:cNvPr id="54" name="Oval 53"/>
          <p:cNvSpPr/>
          <p:nvPr/>
        </p:nvSpPr>
        <p:spPr>
          <a:xfrm>
            <a:off x="15361920" y="9532620"/>
            <a:ext cx="205740" cy="205740"/>
          </a:xfrm>
          <a:prstGeom prst="ellipse">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5663672" y="9436608"/>
            <a:ext cx="4389120" cy="411480"/>
          </a:xfrm>
          <a:prstGeom prst="rect">
            <a:avLst/>
          </a:prstGeom>
          <a:noFill/>
        </p:spPr>
        <p:txBody>
          <a:bodyPr wrap="square" lIns="0" tIns="0" rIns="0" bIns="0" anchor="ctr">
            <a:spAutoFit/>
          </a:bodyPr>
          <a:lstStyle/>
          <a:p>
            <a:pPr algn="l">
              <a:lnSpc>
                <a:spcPct val="100000"/>
              </a:lnSpc>
              <a:spcBef>
                <a:spcPts val="0"/>
              </a:spcBef>
              <a:spcAft>
                <a:spcPts val="600"/>
              </a:spcAft>
            </a:pPr>
            <a:r>
              <a:rPr sz="1500" b="0">
                <a:solidFill>
                  <a:srgbClr val="FFFFFF"/>
                </a:solidFill>
                <a:latin typeface="JetBrains Mono"/>
              </a:rPr>
              <a:t>to wire up</a:t>
            </a:r>
          </a:p>
        </p:txBody>
      </p:sp>
      <p:sp>
        <p:nvSpPr>
          <p:cNvPr id="56" name="TextBox 55"/>
          <p:cNvSpPr txBox="1"/>
          <p:nvPr/>
        </p:nvSpPr>
        <p:spPr>
          <a:xfrm>
            <a:off x="754380" y="9656064"/>
            <a:ext cx="109728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50" b="0">
                <a:solidFill>
                  <a:srgbClr val="B8C2CC"/>
                </a:solidFill>
                <a:latin typeface="JetBrains Mono"/>
              </a:rPr>
              <a:t>JoTouch — Technical Brief · Sensing, Control &amp; AI</a:t>
            </a:r>
          </a:p>
        </p:txBody>
      </p:sp>
      <p:sp>
        <p:nvSpPr>
          <p:cNvPr id="57" name="TextBox 56"/>
          <p:cNvSpPr txBox="1"/>
          <p:nvPr/>
        </p:nvSpPr>
        <p:spPr>
          <a:xfrm>
            <a:off x="15361920" y="9656064"/>
            <a:ext cx="2194560" cy="411480"/>
          </a:xfrm>
          <a:prstGeom prst="rect">
            <a:avLst/>
          </a:prstGeom>
          <a:noFill/>
        </p:spPr>
        <p:txBody>
          <a:bodyPr wrap="square" lIns="0" tIns="0" rIns="0" bIns="0" anchor="ctr">
            <a:spAutoFit/>
          </a:bodyPr>
          <a:lstStyle/>
          <a:p>
            <a:pPr algn="r">
              <a:lnSpc>
                <a:spcPct val="100000"/>
              </a:lnSpc>
              <a:spcBef>
                <a:spcPts val="0"/>
              </a:spcBef>
              <a:spcAft>
                <a:spcPts val="600"/>
              </a:spcAft>
            </a:pPr>
            <a:r>
              <a:rPr sz="1350" b="1">
                <a:solidFill>
                  <a:srgbClr val="B8C2CC"/>
                </a:solidFill>
                <a:latin typeface="JetBrains Mono"/>
              </a:rPr>
              <a:t>10 / 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Shape 151"/>
        <p:cNvGrpSpPr/>
        <p:nvPr/>
      </p:nvGrpSpPr>
      <p:grpSpPr>
        <a:xfrm>
          <a:off x="0" y="0"/>
          <a:ext cx="0" cy="0"/>
          <a:chOff x="0" y="0"/>
          <a:chExt cx="0" cy="0"/>
        </a:xfrm>
      </p:grpSpPr>
      <p:sp>
        <p:nvSpPr>
          <p:cNvPr id="152" name="Google Shape;152;p5"/>
          <p:cNvSpPr/>
          <p:nvPr/>
        </p:nvSpPr>
        <p:spPr>
          <a:xfrm>
            <a:off x="1" y="0"/>
            <a:ext cx="18287543" cy="10287000"/>
          </a:xfrm>
          <a:prstGeom prst="rect">
            <a:avLst/>
          </a:prstGeom>
          <a:solidFill>
            <a:srgbClr val="0F1419"/>
          </a:solidFill>
          <a:ln>
            <a:noFill/>
          </a:ln>
          <a:effectLst>
            <a:outerShdw blurRad="40000" dist="23000" dir="5400000" rotWithShape="0">
              <a:srgbClr val="000000">
                <a:alpha val="34509"/>
              </a:srgbClr>
            </a:outerShdw>
          </a:effectLst>
        </p:spPr>
        <p:txBody>
          <a:bodyPr spcFirstLastPara="1" wrap="square" lIns="137138" tIns="68550" rIns="137138" bIns="68550" anchor="ctr" anchorCtr="0">
            <a:noAutofit/>
          </a:bodyPr>
          <a:lstStyle/>
          <a:p>
            <a:pPr algn="ctr">
              <a:buClr>
                <a:srgbClr val="000000"/>
              </a:buClr>
              <a:buSzPts val="1800"/>
            </a:pPr>
            <a:endParaRPr sz="2700">
              <a:solidFill>
                <a:schemeClr val="lt1"/>
              </a:solidFill>
              <a:latin typeface="Archivo"/>
              <a:ea typeface="Archivo"/>
              <a:cs typeface="Archivo"/>
              <a:sym typeface="Calibri"/>
            </a:endParaRPr>
          </a:p>
        </p:txBody>
      </p:sp>
      <p:sp>
        <p:nvSpPr>
          <p:cNvPr id="153" name="Google Shape;153;p5"/>
          <p:cNvSpPr/>
          <p:nvPr/>
        </p:nvSpPr>
        <p:spPr>
          <a:xfrm>
            <a:off x="1028700" y="822960"/>
            <a:ext cx="164592" cy="822960"/>
          </a:xfrm>
          <a:prstGeom prst="rect">
            <a:avLst/>
          </a:prstGeom>
          <a:solidFill>
            <a:srgbClr val="00D4FF"/>
          </a:solidFill>
          <a:ln>
            <a:noFill/>
          </a:ln>
          <a:effectLst>
            <a:outerShdw blurRad="40000" dist="23000" dir="5400000" rotWithShape="0">
              <a:srgbClr val="000000">
                <a:alpha val="34509"/>
              </a:srgbClr>
            </a:outerShdw>
          </a:effectLst>
        </p:spPr>
        <p:txBody>
          <a:bodyPr spcFirstLastPara="1" wrap="square" lIns="137138" tIns="68550" rIns="137138" bIns="68550" anchor="ctr" anchorCtr="0">
            <a:noAutofit/>
          </a:bodyPr>
          <a:lstStyle/>
          <a:p>
            <a:pPr algn="ctr">
              <a:buClr>
                <a:srgbClr val="000000"/>
              </a:buClr>
              <a:buSzPts val="1800"/>
            </a:pPr>
            <a:endParaRPr sz="2700">
              <a:solidFill>
                <a:schemeClr val="lt1"/>
              </a:solidFill>
              <a:latin typeface="Archivo"/>
              <a:ea typeface="Archivo"/>
              <a:cs typeface="Archivo"/>
              <a:sym typeface="Calibri"/>
            </a:endParaRPr>
          </a:p>
        </p:txBody>
      </p:sp>
      <p:sp>
        <p:nvSpPr>
          <p:cNvPr id="154" name="Google Shape;154;p5"/>
          <p:cNvSpPr txBox="1"/>
          <p:nvPr/>
        </p:nvSpPr>
        <p:spPr>
          <a:xfrm>
            <a:off x="1371600" y="685801"/>
            <a:ext cx="13716000" cy="969436"/>
          </a:xfrm>
          <a:prstGeom prst="rect">
            <a:avLst/>
          </a:prstGeom>
          <a:noFill/>
          <a:ln>
            <a:noFill/>
          </a:ln>
        </p:spPr>
        <p:txBody>
          <a:bodyPr spcFirstLastPara="1" wrap="square" lIns="137138" tIns="68550" rIns="137138" bIns="68550" anchor="t" anchorCtr="0">
            <a:spAutoFit/>
          </a:bodyPr>
          <a:lstStyle/>
          <a:p>
            <a:pPr>
              <a:buClr>
                <a:srgbClr val="000000"/>
              </a:buClr>
              <a:buSzPts val="3600"/>
            </a:pPr>
            <a:r>
              <a:rPr lang="en-US" sz="5400" b="1">
                <a:solidFill>
                  <a:srgbClr val="FFFFFF"/>
                </a:solidFill>
                <a:latin typeface="Archivo Black"/>
                <a:ea typeface="Archivo Black"/>
                <a:cs typeface="Archivo Black"/>
                <a:sym typeface="Calibri"/>
              </a:rPr>
              <a:t>Technical Specifications</a:t>
            </a:r>
            <a:endParaRPr sz="2100">
              <a:solidFill>
                <a:srgbClr val="FFFFFF"/>
              </a:solidFill>
              <a:latin typeface="Archivo Black"/>
              <a:ea typeface="Archivo Black"/>
              <a:cs typeface="Archivo Black"/>
              <a:sym typeface="Arial"/>
            </a:endParaRPr>
          </a:p>
        </p:txBody>
      </p:sp>
      <p:sp>
        <p:nvSpPr>
          <p:cNvPr id="155" name="Google Shape;155;p5"/>
          <p:cNvSpPr/>
          <p:nvPr/>
        </p:nvSpPr>
        <p:spPr>
          <a:xfrm>
            <a:off x="1028700" y="2057400"/>
            <a:ext cx="7955280" cy="5486400"/>
          </a:xfrm>
          <a:prstGeom prst="rect">
            <a:avLst/>
          </a:prstGeom>
          <a:solidFill>
            <a:srgbClr val="12181F"/>
          </a:solidFill>
          <a:ln w="9525" cap="flat" cmpd="sng">
            <a:solidFill>
              <a:srgbClr val="1C2730"/>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137138" tIns="68550" rIns="137138" bIns="68550" anchor="ctr" anchorCtr="0">
            <a:noAutofit/>
          </a:bodyPr>
          <a:lstStyle/>
          <a:p>
            <a:pPr algn="ctr">
              <a:buClr>
                <a:srgbClr val="000000"/>
              </a:buClr>
              <a:buSzPts val="1800"/>
            </a:pPr>
            <a:endParaRPr sz="2700">
              <a:solidFill>
                <a:schemeClr val="lt1"/>
              </a:solidFill>
              <a:latin typeface="Archivo"/>
              <a:ea typeface="Archivo"/>
              <a:cs typeface="Archivo"/>
              <a:sym typeface="Calibri"/>
            </a:endParaRPr>
          </a:p>
        </p:txBody>
      </p:sp>
      <p:sp>
        <p:nvSpPr>
          <p:cNvPr id="156" name="Google Shape;156;p5"/>
          <p:cNvSpPr txBox="1"/>
          <p:nvPr/>
        </p:nvSpPr>
        <p:spPr>
          <a:xfrm>
            <a:off x="1028700" y="2194561"/>
            <a:ext cx="7955280" cy="553937"/>
          </a:xfrm>
          <a:prstGeom prst="rect">
            <a:avLst/>
          </a:prstGeom>
          <a:noFill/>
          <a:ln>
            <a:noFill/>
          </a:ln>
        </p:spPr>
        <p:txBody>
          <a:bodyPr spcFirstLastPara="1" wrap="square" lIns="137138" tIns="68550" rIns="137138" bIns="68550" anchor="t" anchorCtr="0">
            <a:spAutoFit/>
          </a:bodyPr>
          <a:lstStyle/>
          <a:p>
            <a:pPr algn="ctr">
              <a:buClr>
                <a:srgbClr val="000000"/>
              </a:buClr>
              <a:buSzPts val="1800"/>
            </a:pPr>
            <a:r>
              <a:rPr lang="en-US" sz="2700" b="1">
                <a:solidFill>
                  <a:srgbClr val="00D4FF"/>
                </a:solidFill>
                <a:latin typeface="Archivo"/>
                <a:ea typeface="Archivo"/>
                <a:cs typeface="Archivo"/>
                <a:sym typeface="Calibri"/>
              </a:rPr>
              <a:t>Performance Targets</a:t>
            </a:r>
            <a:endParaRPr sz="2100">
              <a:solidFill>
                <a:srgbClr val="FFFFFF"/>
              </a:solidFill>
              <a:latin typeface="Archivo"/>
              <a:ea typeface="Archivo"/>
              <a:cs typeface="Archivo"/>
              <a:sym typeface="Arial"/>
            </a:endParaRPr>
          </a:p>
        </p:txBody>
      </p:sp>
      <p:sp>
        <p:nvSpPr>
          <p:cNvPr id="157" name="Google Shape;157;p5"/>
          <p:cNvSpPr txBox="1"/>
          <p:nvPr/>
        </p:nvSpPr>
        <p:spPr>
          <a:xfrm>
            <a:off x="1371600" y="301752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a:solidFill>
                  <a:srgbClr val="FFFFFF"/>
                </a:solidFill>
                <a:latin typeface="Archivo"/>
                <a:ea typeface="Archivo"/>
                <a:cs typeface="Archivo"/>
                <a:sym typeface="Calibri"/>
              </a:rPr>
              <a:t>Degrees of Freedom</a:t>
            </a:r>
            <a:endParaRPr sz="2100">
              <a:solidFill>
                <a:srgbClr val="FFFFFF"/>
              </a:solidFill>
              <a:latin typeface="Archivo"/>
              <a:ea typeface="Archivo"/>
              <a:cs typeface="Archivo"/>
              <a:sym typeface="Arial"/>
            </a:endParaRPr>
          </a:p>
        </p:txBody>
      </p:sp>
      <p:sp>
        <p:nvSpPr>
          <p:cNvPr id="158" name="Google Shape;158;p5"/>
          <p:cNvSpPr txBox="1"/>
          <p:nvPr/>
        </p:nvSpPr>
        <p:spPr>
          <a:xfrm>
            <a:off x="5212080" y="3017521"/>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a:solidFill>
                  <a:srgbClr val="B8C2CC"/>
                </a:solidFill>
                <a:latin typeface="Archivo"/>
                <a:ea typeface="Archivo"/>
                <a:cs typeface="Archivo"/>
                <a:sym typeface="Calibri"/>
              </a:rPr>
              <a:t>Multi-Degree of Freedom</a:t>
            </a:r>
            <a:endParaRPr sz="2700">
              <a:solidFill>
                <a:schemeClr val="dk1"/>
              </a:solidFill>
              <a:latin typeface="Archivo"/>
              <a:ea typeface="Archivo"/>
              <a:cs typeface="Archivo"/>
              <a:sym typeface="Calibri"/>
            </a:endParaRPr>
          </a:p>
        </p:txBody>
      </p:sp>
      <p:sp>
        <p:nvSpPr>
          <p:cNvPr id="159" name="Google Shape;159;p5"/>
          <p:cNvSpPr txBox="1"/>
          <p:nvPr/>
        </p:nvSpPr>
        <p:spPr>
          <a:xfrm>
            <a:off x="1371600" y="390906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a:solidFill>
                  <a:srgbClr val="FFFFFF"/>
                </a:solidFill>
                <a:latin typeface="Archivo"/>
                <a:ea typeface="Archivo"/>
                <a:cs typeface="Archivo"/>
                <a:sym typeface="Calibri"/>
              </a:rPr>
              <a:t>Control Latency</a:t>
            </a:r>
            <a:endParaRPr sz="2100">
              <a:solidFill>
                <a:srgbClr val="FFFFFF"/>
              </a:solidFill>
              <a:latin typeface="Archivo"/>
              <a:ea typeface="Archivo"/>
              <a:cs typeface="Archivo"/>
              <a:sym typeface="Arial"/>
            </a:endParaRPr>
          </a:p>
        </p:txBody>
      </p:sp>
      <p:sp>
        <p:nvSpPr>
          <p:cNvPr id="160" name="Google Shape;160;p5"/>
          <p:cNvSpPr txBox="1"/>
          <p:nvPr/>
        </p:nvSpPr>
        <p:spPr>
          <a:xfrm>
            <a:off x="5212080" y="3909060"/>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a:solidFill>
                  <a:srgbClr val="B8C2CC"/>
                </a:solidFill>
                <a:latin typeface="Archivo"/>
                <a:ea typeface="Archivo"/>
                <a:cs typeface="Archivo"/>
                <a:sym typeface="Calibri"/>
              </a:rPr>
              <a:t>&lt; 100ms target</a:t>
            </a:r>
            <a:endParaRPr sz="2100">
              <a:solidFill>
                <a:srgbClr val="FFFFFF"/>
              </a:solidFill>
              <a:latin typeface="Archivo"/>
              <a:ea typeface="Archivo"/>
              <a:cs typeface="Archivo"/>
              <a:sym typeface="Arial"/>
            </a:endParaRPr>
          </a:p>
        </p:txBody>
      </p:sp>
      <p:sp>
        <p:nvSpPr>
          <p:cNvPr id="161" name="Google Shape;161;p5"/>
          <p:cNvSpPr txBox="1"/>
          <p:nvPr/>
        </p:nvSpPr>
        <p:spPr>
          <a:xfrm>
            <a:off x="1371600" y="480060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dirty="0">
                <a:solidFill>
                  <a:srgbClr val="FFFFFF"/>
                </a:solidFill>
                <a:latin typeface="Archivo"/>
                <a:ea typeface="Archivo"/>
                <a:cs typeface="Archivo"/>
                <a:sym typeface="Calibri"/>
              </a:rPr>
              <a:t>Intent Accuracy</a:t>
            </a:r>
            <a:endParaRPr sz="2100" dirty="0">
              <a:solidFill>
                <a:srgbClr val="FFFFFF"/>
              </a:solidFill>
              <a:latin typeface="Archivo"/>
              <a:ea typeface="Archivo"/>
              <a:cs typeface="Archivo"/>
              <a:sym typeface="Arial"/>
            </a:endParaRPr>
          </a:p>
        </p:txBody>
      </p:sp>
      <p:sp>
        <p:nvSpPr>
          <p:cNvPr id="162" name="Google Shape;162;p5"/>
          <p:cNvSpPr txBox="1"/>
          <p:nvPr/>
        </p:nvSpPr>
        <p:spPr>
          <a:xfrm>
            <a:off x="5212080" y="4800600"/>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a:solidFill>
                  <a:srgbClr val="B8C2CC"/>
                </a:solidFill>
                <a:latin typeface="Archivo"/>
                <a:ea typeface="Archivo"/>
                <a:cs typeface="Archivo"/>
                <a:sym typeface="Calibri"/>
              </a:rPr>
              <a:t>&gt; 90% target</a:t>
            </a:r>
            <a:endParaRPr sz="2100">
              <a:solidFill>
                <a:srgbClr val="FFFFFF"/>
              </a:solidFill>
              <a:latin typeface="Archivo"/>
              <a:ea typeface="Archivo"/>
              <a:cs typeface="Archivo"/>
              <a:sym typeface="Arial"/>
            </a:endParaRPr>
          </a:p>
        </p:txBody>
      </p:sp>
      <p:sp>
        <p:nvSpPr>
          <p:cNvPr id="163" name="Google Shape;163;p5"/>
          <p:cNvSpPr txBox="1"/>
          <p:nvPr/>
        </p:nvSpPr>
        <p:spPr>
          <a:xfrm>
            <a:off x="1371600" y="569214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a:solidFill>
                  <a:srgbClr val="FFFFFF"/>
                </a:solidFill>
                <a:latin typeface="Archivo"/>
                <a:ea typeface="Archivo"/>
                <a:cs typeface="Archivo"/>
                <a:sym typeface="Calibri"/>
              </a:rPr>
              <a:t>Operating Time</a:t>
            </a:r>
            <a:endParaRPr sz="2100">
              <a:solidFill>
                <a:srgbClr val="FFFFFF"/>
              </a:solidFill>
              <a:latin typeface="Archivo"/>
              <a:ea typeface="Archivo"/>
              <a:cs typeface="Archivo"/>
              <a:sym typeface="Arial"/>
            </a:endParaRPr>
          </a:p>
        </p:txBody>
      </p:sp>
      <p:sp>
        <p:nvSpPr>
          <p:cNvPr id="164" name="Google Shape;164;p5"/>
          <p:cNvSpPr txBox="1"/>
          <p:nvPr/>
        </p:nvSpPr>
        <p:spPr>
          <a:xfrm>
            <a:off x="5212080" y="5692140"/>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a:solidFill>
                  <a:srgbClr val="B8C2CC"/>
                </a:solidFill>
                <a:latin typeface="Archivo"/>
                <a:ea typeface="Archivo"/>
                <a:cs typeface="Archivo"/>
                <a:sym typeface="Calibri"/>
              </a:rPr>
              <a:t>8+ hours daily use</a:t>
            </a:r>
            <a:endParaRPr sz="2100">
              <a:solidFill>
                <a:srgbClr val="FFFFFF"/>
              </a:solidFill>
              <a:latin typeface="Archivo"/>
              <a:ea typeface="Archivo"/>
              <a:cs typeface="Archivo"/>
              <a:sym typeface="Arial"/>
            </a:endParaRPr>
          </a:p>
        </p:txBody>
      </p:sp>
      <p:sp>
        <p:nvSpPr>
          <p:cNvPr id="165" name="Google Shape;165;p5"/>
          <p:cNvSpPr txBox="1"/>
          <p:nvPr/>
        </p:nvSpPr>
        <p:spPr>
          <a:xfrm>
            <a:off x="1371600" y="658368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a:solidFill>
                  <a:srgbClr val="FFFFFF"/>
                </a:solidFill>
                <a:latin typeface="Archivo"/>
                <a:ea typeface="Archivo"/>
                <a:cs typeface="Archivo"/>
                <a:sym typeface="Calibri"/>
              </a:rPr>
              <a:t>Weight Target</a:t>
            </a:r>
            <a:endParaRPr sz="2100">
              <a:solidFill>
                <a:srgbClr val="FFFFFF"/>
              </a:solidFill>
              <a:latin typeface="Archivo"/>
              <a:ea typeface="Archivo"/>
              <a:cs typeface="Archivo"/>
              <a:sym typeface="Arial"/>
            </a:endParaRPr>
          </a:p>
        </p:txBody>
      </p:sp>
      <p:sp>
        <p:nvSpPr>
          <p:cNvPr id="166" name="Google Shape;166;p5"/>
          <p:cNvSpPr txBox="1"/>
          <p:nvPr/>
        </p:nvSpPr>
        <p:spPr>
          <a:xfrm>
            <a:off x="5212080" y="6583680"/>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a:solidFill>
                  <a:srgbClr val="B8C2CC"/>
                </a:solidFill>
                <a:latin typeface="Archivo"/>
                <a:ea typeface="Archivo"/>
                <a:cs typeface="Archivo"/>
                <a:sym typeface="Calibri"/>
              </a:rPr>
              <a:t>&lt; 700g</a:t>
            </a:r>
            <a:endParaRPr sz="2100">
              <a:solidFill>
                <a:srgbClr val="FFFFFF"/>
              </a:solidFill>
              <a:latin typeface="Archivo"/>
              <a:ea typeface="Archivo"/>
              <a:cs typeface="Archivo"/>
              <a:sym typeface="Arial"/>
            </a:endParaRPr>
          </a:p>
        </p:txBody>
      </p:sp>
      <p:sp>
        <p:nvSpPr>
          <p:cNvPr id="167" name="Google Shape;167;p5"/>
          <p:cNvSpPr/>
          <p:nvPr/>
        </p:nvSpPr>
        <p:spPr>
          <a:xfrm>
            <a:off x="9258300" y="2057400"/>
            <a:ext cx="7955280" cy="5486400"/>
          </a:xfrm>
          <a:prstGeom prst="rect">
            <a:avLst/>
          </a:prstGeom>
          <a:solidFill>
            <a:srgbClr val="12181F"/>
          </a:solidFill>
          <a:ln w="9525" cap="flat" cmpd="sng">
            <a:solidFill>
              <a:srgbClr val="1C2730"/>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137138" tIns="68550" rIns="137138" bIns="68550" anchor="ctr" anchorCtr="0">
            <a:noAutofit/>
          </a:bodyPr>
          <a:lstStyle/>
          <a:p>
            <a:pPr algn="ctr">
              <a:buClr>
                <a:srgbClr val="000000"/>
              </a:buClr>
              <a:buSzPts val="1800"/>
            </a:pPr>
            <a:endParaRPr sz="2700">
              <a:solidFill>
                <a:schemeClr val="lt1"/>
              </a:solidFill>
              <a:latin typeface="Archivo"/>
              <a:ea typeface="Archivo"/>
              <a:cs typeface="Archivo"/>
              <a:sym typeface="Calibri"/>
            </a:endParaRPr>
          </a:p>
        </p:txBody>
      </p:sp>
      <p:sp>
        <p:nvSpPr>
          <p:cNvPr id="168" name="Google Shape;168;p5"/>
          <p:cNvSpPr txBox="1"/>
          <p:nvPr/>
        </p:nvSpPr>
        <p:spPr>
          <a:xfrm>
            <a:off x="9258300" y="2194561"/>
            <a:ext cx="7955280" cy="553937"/>
          </a:xfrm>
          <a:prstGeom prst="rect">
            <a:avLst/>
          </a:prstGeom>
          <a:noFill/>
          <a:ln>
            <a:noFill/>
          </a:ln>
        </p:spPr>
        <p:txBody>
          <a:bodyPr spcFirstLastPara="1" wrap="square" lIns="137138" tIns="68550" rIns="137138" bIns="68550" anchor="t" anchorCtr="0">
            <a:spAutoFit/>
          </a:bodyPr>
          <a:lstStyle/>
          <a:p>
            <a:pPr algn="ctr">
              <a:buClr>
                <a:srgbClr val="000000"/>
              </a:buClr>
              <a:buSzPts val="1800"/>
            </a:pPr>
            <a:r>
              <a:rPr lang="en-US" sz="2700" b="1" dirty="0">
                <a:solidFill>
                  <a:srgbClr val="39D9A6"/>
                </a:solidFill>
                <a:latin typeface="Archivo"/>
                <a:ea typeface="Archivo"/>
                <a:cs typeface="Archivo"/>
                <a:sym typeface="Calibri"/>
              </a:rPr>
              <a:t>System Specifications</a:t>
            </a:r>
            <a:endParaRPr sz="2100" dirty="0">
              <a:solidFill>
                <a:srgbClr val="FFFFFF"/>
              </a:solidFill>
              <a:latin typeface="Archivo"/>
              <a:ea typeface="Archivo"/>
              <a:cs typeface="Archivo"/>
              <a:sym typeface="Arial"/>
            </a:endParaRPr>
          </a:p>
        </p:txBody>
      </p:sp>
      <p:sp>
        <p:nvSpPr>
          <p:cNvPr id="169" name="Google Shape;169;p5"/>
          <p:cNvSpPr txBox="1"/>
          <p:nvPr/>
        </p:nvSpPr>
        <p:spPr>
          <a:xfrm>
            <a:off x="9601200" y="301752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a:solidFill>
                  <a:srgbClr val="FFFFFF"/>
                </a:solidFill>
                <a:latin typeface="Archivo"/>
                <a:ea typeface="Archivo"/>
                <a:cs typeface="Archivo"/>
                <a:sym typeface="Calibri"/>
              </a:rPr>
              <a:t>Processing</a:t>
            </a:r>
            <a:endParaRPr sz="2100">
              <a:solidFill>
                <a:srgbClr val="FFFFFF"/>
              </a:solidFill>
              <a:latin typeface="Archivo"/>
              <a:ea typeface="Archivo"/>
              <a:cs typeface="Archivo"/>
              <a:sym typeface="Arial"/>
            </a:endParaRPr>
          </a:p>
        </p:txBody>
      </p:sp>
      <p:sp>
        <p:nvSpPr>
          <p:cNvPr id="170" name="Google Shape;170;p5"/>
          <p:cNvSpPr txBox="1"/>
          <p:nvPr/>
        </p:nvSpPr>
        <p:spPr>
          <a:xfrm>
            <a:off x="13441680" y="3017521"/>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a:solidFill>
                  <a:srgbClr val="B8C2CC"/>
                </a:solidFill>
                <a:latin typeface="Archivo"/>
                <a:ea typeface="Archivo"/>
                <a:cs typeface="Archivo"/>
                <a:sym typeface="Calibri"/>
              </a:rPr>
              <a:t>Teensy 4.1 + RPi Zero 2 W</a:t>
            </a:r>
            <a:endParaRPr sz="2100">
              <a:solidFill>
                <a:srgbClr val="FFFFFF"/>
              </a:solidFill>
              <a:latin typeface="Archivo"/>
              <a:ea typeface="Archivo"/>
              <a:cs typeface="Archivo"/>
              <a:sym typeface="Arial"/>
            </a:endParaRPr>
          </a:p>
        </p:txBody>
      </p:sp>
      <p:sp>
        <p:nvSpPr>
          <p:cNvPr id="171" name="Google Shape;171;p5"/>
          <p:cNvSpPr txBox="1"/>
          <p:nvPr/>
        </p:nvSpPr>
        <p:spPr>
          <a:xfrm>
            <a:off x="9601200" y="390906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a:solidFill>
                  <a:srgbClr val="FFFFFF"/>
                </a:solidFill>
                <a:latin typeface="Archivo"/>
                <a:ea typeface="Archivo"/>
                <a:cs typeface="Archivo"/>
                <a:sym typeface="Calibri"/>
              </a:rPr>
              <a:t>Communication</a:t>
            </a:r>
            <a:endParaRPr sz="2100">
              <a:solidFill>
                <a:srgbClr val="FFFFFF"/>
              </a:solidFill>
              <a:latin typeface="Archivo"/>
              <a:ea typeface="Archivo"/>
              <a:cs typeface="Archivo"/>
              <a:sym typeface="Arial"/>
            </a:endParaRPr>
          </a:p>
        </p:txBody>
      </p:sp>
      <p:sp>
        <p:nvSpPr>
          <p:cNvPr id="172" name="Google Shape;172;p5"/>
          <p:cNvSpPr txBox="1"/>
          <p:nvPr/>
        </p:nvSpPr>
        <p:spPr>
          <a:xfrm>
            <a:off x="13441680" y="3909060"/>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dirty="0">
                <a:solidFill>
                  <a:srgbClr val="B8C2CC"/>
                </a:solidFill>
                <a:latin typeface="Archivo"/>
                <a:ea typeface="Archivo"/>
                <a:cs typeface="Archivo"/>
                <a:sym typeface="Calibri"/>
              </a:rPr>
              <a:t>UART / micro-ROS</a:t>
            </a:r>
            <a:endParaRPr sz="2100" dirty="0">
              <a:solidFill>
                <a:srgbClr val="FFFFFF"/>
              </a:solidFill>
              <a:latin typeface="Archivo"/>
              <a:ea typeface="Archivo"/>
              <a:cs typeface="Archivo"/>
              <a:sym typeface="Arial"/>
            </a:endParaRPr>
          </a:p>
        </p:txBody>
      </p:sp>
      <p:sp>
        <p:nvSpPr>
          <p:cNvPr id="173" name="Google Shape;173;p5"/>
          <p:cNvSpPr txBox="1"/>
          <p:nvPr/>
        </p:nvSpPr>
        <p:spPr>
          <a:xfrm>
            <a:off x="9601200" y="480060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a:solidFill>
                  <a:srgbClr val="FFFFFF"/>
                </a:solidFill>
                <a:latin typeface="Archivo"/>
                <a:ea typeface="Archivo"/>
                <a:cs typeface="Archivo"/>
                <a:sym typeface="Calibri"/>
              </a:rPr>
              <a:t>Power</a:t>
            </a:r>
            <a:endParaRPr sz="2100">
              <a:solidFill>
                <a:srgbClr val="FFFFFF"/>
              </a:solidFill>
              <a:latin typeface="Archivo"/>
              <a:ea typeface="Archivo"/>
              <a:cs typeface="Archivo"/>
              <a:sym typeface="Arial"/>
            </a:endParaRPr>
          </a:p>
        </p:txBody>
      </p:sp>
      <p:sp>
        <p:nvSpPr>
          <p:cNvPr id="174" name="Google Shape;174;p5"/>
          <p:cNvSpPr txBox="1"/>
          <p:nvPr/>
        </p:nvSpPr>
        <p:spPr>
          <a:xfrm>
            <a:off x="13441680" y="4800601"/>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a:solidFill>
                  <a:srgbClr val="B8C2CC"/>
                </a:solidFill>
                <a:latin typeface="Archivo"/>
                <a:ea typeface="Archivo"/>
                <a:cs typeface="Archivo"/>
                <a:sym typeface="Calibri"/>
              </a:rPr>
              <a:t>2S 18650 Li-ion (7.4V)</a:t>
            </a:r>
            <a:endParaRPr sz="2100">
              <a:solidFill>
                <a:srgbClr val="FFFFFF"/>
              </a:solidFill>
              <a:latin typeface="Archivo"/>
              <a:ea typeface="Archivo"/>
              <a:cs typeface="Archivo"/>
              <a:sym typeface="Arial"/>
            </a:endParaRPr>
          </a:p>
        </p:txBody>
      </p:sp>
      <p:sp>
        <p:nvSpPr>
          <p:cNvPr id="175" name="Google Shape;175;p5"/>
          <p:cNvSpPr txBox="1"/>
          <p:nvPr/>
        </p:nvSpPr>
        <p:spPr>
          <a:xfrm>
            <a:off x="9601200" y="569214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a:solidFill>
                  <a:srgbClr val="FFFFFF"/>
                </a:solidFill>
                <a:latin typeface="Archivo"/>
                <a:ea typeface="Archivo"/>
                <a:cs typeface="Archivo"/>
                <a:sym typeface="Calibri"/>
              </a:rPr>
              <a:t>Sensing</a:t>
            </a:r>
            <a:endParaRPr sz="2100">
              <a:solidFill>
                <a:srgbClr val="FFFFFF"/>
              </a:solidFill>
              <a:latin typeface="Archivo"/>
              <a:ea typeface="Archivo"/>
              <a:cs typeface="Archivo"/>
              <a:sym typeface="Arial"/>
            </a:endParaRPr>
          </a:p>
        </p:txBody>
      </p:sp>
      <p:sp>
        <p:nvSpPr>
          <p:cNvPr id="176" name="Google Shape;176;p5"/>
          <p:cNvSpPr txBox="1"/>
          <p:nvPr/>
        </p:nvSpPr>
        <p:spPr>
          <a:xfrm>
            <a:off x="13441680" y="5692141"/>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a:solidFill>
                  <a:srgbClr val="B8C2CC"/>
                </a:solidFill>
                <a:latin typeface="Archivo"/>
                <a:ea typeface="Archivo"/>
                <a:cs typeface="Archivo"/>
                <a:sym typeface="Calibri"/>
              </a:rPr>
              <a:t>FMG , BMP388 + Temp Input</a:t>
            </a:r>
            <a:endParaRPr sz="2700">
              <a:solidFill>
                <a:schemeClr val="dk1"/>
              </a:solidFill>
              <a:latin typeface="Archivo"/>
              <a:ea typeface="Archivo"/>
              <a:cs typeface="Archivo"/>
              <a:sym typeface="Calibri"/>
            </a:endParaRPr>
          </a:p>
        </p:txBody>
      </p:sp>
      <p:sp>
        <p:nvSpPr>
          <p:cNvPr id="177" name="Google Shape;177;p5"/>
          <p:cNvSpPr txBox="1"/>
          <p:nvPr/>
        </p:nvSpPr>
        <p:spPr>
          <a:xfrm>
            <a:off x="9601200" y="6583680"/>
            <a:ext cx="384048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b="1">
                <a:solidFill>
                  <a:srgbClr val="FFFFFF"/>
                </a:solidFill>
                <a:latin typeface="Archivo"/>
                <a:ea typeface="Archivo"/>
                <a:cs typeface="Archivo"/>
                <a:sym typeface="Calibri"/>
              </a:rPr>
              <a:t>Framework</a:t>
            </a:r>
            <a:endParaRPr sz="2100">
              <a:solidFill>
                <a:srgbClr val="FFFFFF"/>
              </a:solidFill>
              <a:latin typeface="Archivo"/>
              <a:ea typeface="Archivo"/>
              <a:cs typeface="Archivo"/>
              <a:sym typeface="Arial"/>
            </a:endParaRPr>
          </a:p>
        </p:txBody>
      </p:sp>
      <p:sp>
        <p:nvSpPr>
          <p:cNvPr id="178" name="Google Shape;178;p5"/>
          <p:cNvSpPr txBox="1"/>
          <p:nvPr/>
        </p:nvSpPr>
        <p:spPr>
          <a:xfrm>
            <a:off x="13441680" y="6583681"/>
            <a:ext cx="3429000" cy="461604"/>
          </a:xfrm>
          <a:prstGeom prst="rect">
            <a:avLst/>
          </a:prstGeom>
          <a:noFill/>
          <a:ln>
            <a:noFill/>
          </a:ln>
        </p:spPr>
        <p:txBody>
          <a:bodyPr spcFirstLastPara="1" wrap="square" lIns="137138" tIns="68550" rIns="137138" bIns="68550" anchor="t" anchorCtr="0">
            <a:spAutoFit/>
          </a:bodyPr>
          <a:lstStyle/>
          <a:p>
            <a:pPr>
              <a:buClr>
                <a:srgbClr val="000000"/>
              </a:buClr>
              <a:buSzPts val="1400"/>
            </a:pPr>
            <a:r>
              <a:rPr lang="en-US" sz="2100">
                <a:solidFill>
                  <a:srgbClr val="B8C2CC"/>
                </a:solidFill>
                <a:latin typeface="Archivo"/>
                <a:ea typeface="Archivo"/>
                <a:cs typeface="Archivo"/>
                <a:sym typeface="Calibri"/>
              </a:rPr>
              <a:t>ROS 2 + TensorFlow Lite</a:t>
            </a:r>
            <a:endParaRPr sz="2100">
              <a:solidFill>
                <a:srgbClr val="FFFFFF"/>
              </a:solidFill>
              <a:latin typeface="Archivo"/>
              <a:ea typeface="Archivo"/>
              <a:cs typeface="Archivo"/>
              <a:sym typeface="Arial"/>
            </a:endParaRPr>
          </a:p>
        </p:txBody>
      </p:sp>
      <p:sp>
        <p:nvSpPr>
          <p:cNvPr id="179" name="Google Shape;179;p5"/>
          <p:cNvSpPr/>
          <p:nvPr/>
        </p:nvSpPr>
        <p:spPr>
          <a:xfrm>
            <a:off x="1028700" y="7818120"/>
            <a:ext cx="16184880" cy="1783080"/>
          </a:xfrm>
          <a:prstGeom prst="rect">
            <a:avLst/>
          </a:prstGeom>
          <a:solidFill>
            <a:srgbClr val="0F2A31"/>
          </a:solidFill>
          <a:effectLst>
            <a:outerShdw blurRad="40000" dist="23000" dir="5400000" rotWithShape="0">
              <a:srgbClr val="000000">
                <a:alpha val="34509"/>
              </a:srgbClr>
            </a:outerShdw>
          </a:effectLst>
        </p:spPr>
        <p:txBody>
          <a:bodyPr spcFirstLastPara="1" wrap="square" lIns="137138" tIns="68550" rIns="137138" bIns="68550" anchor="ctr" anchorCtr="0">
            <a:noAutofit/>
          </a:bodyPr>
          <a:lstStyle/>
          <a:p>
            <a:pPr algn="ctr">
              <a:buClr>
                <a:srgbClr val="000000"/>
              </a:buClr>
              <a:buSzPts val="1800"/>
            </a:pPr>
            <a:endParaRPr sz="2700">
              <a:solidFill>
                <a:schemeClr val="lt1"/>
              </a:solidFill>
              <a:latin typeface="Archivo"/>
              <a:ea typeface="Archivo"/>
              <a:cs typeface="Archivo"/>
              <a:sym typeface="Calibri"/>
            </a:endParaRPr>
          </a:p>
        </p:txBody>
      </p:sp>
      <p:sp>
        <p:nvSpPr>
          <p:cNvPr id="180" name="Google Shape;180;p5"/>
          <p:cNvSpPr txBox="1"/>
          <p:nvPr/>
        </p:nvSpPr>
        <p:spPr>
          <a:xfrm>
            <a:off x="1371600" y="8023860"/>
            <a:ext cx="15087600" cy="507771"/>
          </a:xfrm>
          <a:prstGeom prst="rect">
            <a:avLst/>
          </a:prstGeom>
          <a:noFill/>
          <a:ln>
            <a:noFill/>
          </a:ln>
        </p:spPr>
        <p:txBody>
          <a:bodyPr spcFirstLastPara="1" wrap="square" lIns="137138" tIns="68550" rIns="137138" bIns="68550" anchor="t" anchorCtr="0">
            <a:spAutoFit/>
          </a:bodyPr>
          <a:lstStyle/>
          <a:p>
            <a:pPr>
              <a:buClr>
                <a:srgbClr val="000000"/>
              </a:buClr>
              <a:buSzPts val="1600"/>
            </a:pPr>
            <a:r>
              <a:rPr lang="en-US" sz="2400" b="1">
                <a:solidFill>
                  <a:srgbClr val="FFFFFF"/>
                </a:solidFill>
                <a:latin typeface="Archivo"/>
                <a:ea typeface="Archivo"/>
                <a:cs typeface="Archivo"/>
                <a:sym typeface="Calibri"/>
              </a:rPr>
              <a:t>Sensory Feedback System</a:t>
            </a:r>
            <a:endParaRPr sz="2100">
              <a:solidFill>
                <a:srgbClr val="FFFFFF"/>
              </a:solidFill>
              <a:latin typeface="Archivo"/>
              <a:ea typeface="Archivo"/>
              <a:cs typeface="Archivo"/>
              <a:sym typeface="Arial"/>
            </a:endParaRPr>
          </a:p>
        </p:txBody>
      </p:sp>
      <p:sp>
        <p:nvSpPr>
          <p:cNvPr id="181" name="Google Shape;181;p5"/>
          <p:cNvSpPr txBox="1"/>
          <p:nvPr/>
        </p:nvSpPr>
        <p:spPr>
          <a:xfrm>
            <a:off x="1371600" y="8641081"/>
            <a:ext cx="15087600" cy="438521"/>
          </a:xfrm>
          <a:prstGeom prst="rect">
            <a:avLst/>
          </a:prstGeom>
          <a:noFill/>
          <a:ln>
            <a:noFill/>
          </a:ln>
        </p:spPr>
        <p:txBody>
          <a:bodyPr spcFirstLastPara="1" wrap="square" lIns="137138" tIns="68550" rIns="137138" bIns="68550" anchor="t" anchorCtr="0">
            <a:spAutoFit/>
          </a:bodyPr>
          <a:lstStyle/>
          <a:p>
            <a:pPr>
              <a:buClr>
                <a:srgbClr val="000000"/>
              </a:buClr>
              <a:buSzPts val="1300"/>
            </a:pPr>
            <a:r>
              <a:rPr lang="en-US" sz="1950">
                <a:solidFill>
                  <a:srgbClr val="39D9A6"/>
                </a:solidFill>
                <a:latin typeface="Archivo"/>
                <a:ea typeface="Archivo"/>
                <a:cs typeface="Archivo"/>
                <a:sym typeface="Calibri"/>
              </a:rPr>
              <a:t>Pressure sensors on fingertips → Servo-driven rubber band on residual limb  |  Temperature sensors → Heating pad feedback</a:t>
            </a:r>
            <a:endParaRPr sz="2100">
              <a:solidFill>
                <a:srgbClr val="FFFFFF"/>
              </a:solidFill>
              <a:latin typeface="Archivo"/>
              <a:ea typeface="Archivo"/>
              <a:cs typeface="Archivo"/>
              <a:sym typeface="Arial"/>
            </a:endParaRPr>
          </a:p>
        </p:txBody>
      </p:sp>
      <p:sp>
        <p:nvSpPr>
          <p:cNvPr id="901" name="Text 1"/>
          <p:cNvSpPr/>
          <p:nvPr/>
        </p:nvSpPr>
        <p:spPr>
          <a:xfrm>
            <a:off x="15882840" y="800280"/>
            <a:ext cx="1429920" cy="355320"/>
          </a:xfrm>
          <a:prstGeom prst="rect">
            <a:avLst/>
          </a:prstGeom>
          <a:noFill/>
          <a:ln w="0">
            <a:noFill/>
          </a:ln>
        </p:spPr>
        <p:txBody>
          <a:bodyPr lIns="25560" tIns="25560" rIns="25560" bIns="25560" anchor="t">
            <a:normAutofit/>
          </a:bodyPr>
          <a:lstStyle/>
          <a:p>
            <a:pPr defTabSz="914400">
              <a:lnSpc>
                <a:spcPct val="100000"/>
              </a:lnSpc>
            </a:pPr>
            <a:r>
              <a:rPr lang="en-US" sz="1870" b="0" strike="noStrike" spc="335">
                <a:solidFill>
                  <a:srgbClr val="5C6977"/>
                </a:solidFill>
                <a:latin typeface="JetBrains Mono"/>
                <a:ea typeface="JetBrains Mono"/>
              </a:rPr>
              <a:t>11 / 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Oval 1"/>
          <p:cNvSpPr/>
          <p:nvPr/>
        </p:nvSpPr>
        <p:spPr>
          <a:xfrm>
            <a:off x="754380" y="603504"/>
            <a:ext cx="411480" cy="4114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576072"/>
            <a:ext cx="150876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875" b="1">
                <a:solidFill>
                  <a:srgbClr val="00D4FF"/>
                </a:solidFill>
                <a:latin typeface="JetBrains Mono"/>
              </a:rPr>
              <a:t>01 · WHERE WE READ THE SIGNAL</a:t>
            </a:r>
          </a:p>
        </p:txBody>
      </p:sp>
      <p:sp>
        <p:nvSpPr>
          <p:cNvPr id="4" name="TextBox 3"/>
          <p:cNvSpPr txBox="1"/>
          <p:nvPr/>
        </p:nvSpPr>
        <p:spPr>
          <a:xfrm>
            <a:off x="754380" y="1069848"/>
            <a:ext cx="15087600" cy="822960"/>
          </a:xfrm>
          <a:prstGeom prst="rect">
            <a:avLst/>
          </a:prstGeom>
          <a:noFill/>
        </p:spPr>
        <p:txBody>
          <a:bodyPr wrap="square" lIns="0" tIns="0" rIns="0" bIns="0" anchor="t">
            <a:spAutoFit/>
          </a:bodyPr>
          <a:lstStyle/>
          <a:p>
            <a:pPr algn="l">
              <a:lnSpc>
                <a:spcPct val="100000"/>
              </a:lnSpc>
              <a:spcBef>
                <a:spcPts val="0"/>
              </a:spcBef>
              <a:spcAft>
                <a:spcPts val="600"/>
              </a:spcAft>
            </a:pPr>
            <a:r>
              <a:rPr sz="4050" b="1">
                <a:solidFill>
                  <a:srgbClr val="FFFFFF"/>
                </a:solidFill>
                <a:latin typeface="Archivo"/>
              </a:rPr>
              <a:t>8 sensors over the forearm muscles</a:t>
            </a:r>
          </a:p>
        </p:txBody>
      </p:sp>
      <p:sp>
        <p:nvSpPr>
          <p:cNvPr id="5" name="Rounded Rectangle 4"/>
          <p:cNvSpPr/>
          <p:nvPr/>
        </p:nvSpPr>
        <p:spPr>
          <a:xfrm>
            <a:off x="14676120" y="658368"/>
            <a:ext cx="2880360" cy="411480"/>
          </a:xfrm>
          <a:prstGeom prst="roundRect">
            <a:avLst>
              <a:gd name="adj" fmla="val 50000"/>
            </a:avLst>
          </a:prstGeom>
          <a:noFill/>
          <a:ln w="22860">
            <a:solidFill>
              <a:srgbClr val="5C69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4840710" y="802386"/>
            <a:ext cx="137160" cy="137160"/>
          </a:xfrm>
          <a:prstGeom prst="ellipse">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0" y="658368"/>
            <a:ext cx="24003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50" b="1">
                <a:solidFill>
                  <a:srgbClr val="8A97A6"/>
                </a:solidFill>
                <a:latin typeface="JetBrains Mono"/>
              </a:rPr>
              <a:t>PLANNED</a:t>
            </a:r>
          </a:p>
        </p:txBody>
      </p:sp>
      <p:sp>
        <p:nvSpPr>
          <p:cNvPr id="8" name="Rounded Rectangle 7"/>
          <p:cNvSpPr/>
          <p:nvPr/>
        </p:nvSpPr>
        <p:spPr>
          <a:xfrm>
            <a:off x="754380" y="1947672"/>
            <a:ext cx="5692140" cy="4732020"/>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947672" y="2468880"/>
            <a:ext cx="3291840" cy="3291840"/>
          </a:xfrm>
          <a:prstGeom prst="ellipse">
            <a:avLst/>
          </a:prstGeom>
          <a:solidFill>
            <a:srgbClr val="161D26"/>
          </a:solidFill>
          <a:ln w="24765">
            <a:solidFill>
              <a:srgbClr val="1C27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880360" y="3401568"/>
            <a:ext cx="1426464" cy="1426464"/>
          </a:xfrm>
          <a:prstGeom prst="ellipse">
            <a:avLst/>
          </a:prstGeom>
          <a:solidFill>
            <a:srgbClr val="1C2730"/>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80360" y="3401568"/>
            <a:ext cx="1426464" cy="1426464"/>
          </a:xfrm>
          <a:prstGeom prst="rect">
            <a:avLst/>
          </a:prstGeom>
          <a:noFill/>
        </p:spPr>
        <p:txBody>
          <a:bodyPr wrap="square" lIns="0" tIns="0" rIns="0" bIns="0" anchor="ctr">
            <a:spAutoFit/>
          </a:bodyPr>
          <a:lstStyle/>
          <a:p>
            <a:pPr algn="ctr">
              <a:lnSpc>
                <a:spcPct val="100000"/>
              </a:lnSpc>
              <a:spcBef>
                <a:spcPts val="0"/>
              </a:spcBef>
              <a:spcAft>
                <a:spcPts val="600"/>
              </a:spcAft>
            </a:pPr>
            <a:r>
              <a:rPr sz="1275" b="0">
                <a:solidFill>
                  <a:srgbClr val="B8C2CC"/>
                </a:solidFill>
                <a:latin typeface="Archivo"/>
              </a:rPr>
              <a:t>forearm</a:t>
            </a:r>
          </a:p>
          <a:p>
            <a:pPr algn="ctr">
              <a:lnSpc>
                <a:spcPct val="100000"/>
              </a:lnSpc>
              <a:spcBef>
                <a:spcPts val="0"/>
              </a:spcBef>
              <a:spcAft>
                <a:spcPts val="600"/>
              </a:spcAft>
            </a:pPr>
            <a:r>
              <a:rPr sz="1125" b="0">
                <a:solidFill>
                  <a:srgbClr val="B8C2CC"/>
                </a:solidFill>
                <a:latin typeface="Archivo"/>
              </a:rPr>
              <a:t>cross-section</a:t>
            </a:r>
          </a:p>
        </p:txBody>
      </p:sp>
      <p:sp>
        <p:nvSpPr>
          <p:cNvPr id="12" name="Oval 11"/>
          <p:cNvSpPr/>
          <p:nvPr/>
        </p:nvSpPr>
        <p:spPr>
          <a:xfrm>
            <a:off x="3346704" y="2221992"/>
            <a:ext cx="493776" cy="493776"/>
          </a:xfrm>
          <a:prstGeom prst="ellipse">
            <a:avLst/>
          </a:prstGeom>
          <a:solidFill>
            <a:srgbClr val="39D9A6"/>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46704" y="2221992"/>
            <a:ext cx="493776" cy="493776"/>
          </a:xfrm>
          <a:prstGeom prst="rect">
            <a:avLst/>
          </a:prstGeom>
          <a:noFill/>
        </p:spPr>
        <p:txBody>
          <a:bodyPr wrap="square" lIns="0" tIns="0" rIns="0" bIns="0" anchor="ctr">
            <a:spAutoFit/>
          </a:bodyPr>
          <a:lstStyle/>
          <a:p>
            <a:pPr algn="ctr">
              <a:lnSpc>
                <a:spcPct val="100000"/>
              </a:lnSpc>
              <a:spcBef>
                <a:spcPts val="0"/>
              </a:spcBef>
              <a:spcAft>
                <a:spcPts val="600"/>
              </a:spcAft>
            </a:pPr>
            <a:r>
              <a:rPr sz="1350" b="1">
                <a:solidFill>
                  <a:srgbClr val="0F1419"/>
                </a:solidFill>
                <a:latin typeface="Archivo"/>
              </a:rPr>
              <a:t>S1</a:t>
            </a:r>
          </a:p>
        </p:txBody>
      </p:sp>
      <p:sp>
        <p:nvSpPr>
          <p:cNvPr id="14" name="Oval 13"/>
          <p:cNvSpPr/>
          <p:nvPr/>
        </p:nvSpPr>
        <p:spPr>
          <a:xfrm>
            <a:off x="4510545" y="2704070"/>
            <a:ext cx="493776" cy="493776"/>
          </a:xfrm>
          <a:prstGeom prst="ellipse">
            <a:avLst/>
          </a:prstGeom>
          <a:solidFill>
            <a:srgbClr val="00D4FF"/>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0545" y="2704070"/>
            <a:ext cx="493776" cy="493776"/>
          </a:xfrm>
          <a:prstGeom prst="rect">
            <a:avLst/>
          </a:prstGeom>
          <a:noFill/>
        </p:spPr>
        <p:txBody>
          <a:bodyPr wrap="square" lIns="0" tIns="0" rIns="0" bIns="0" anchor="ctr">
            <a:spAutoFit/>
          </a:bodyPr>
          <a:lstStyle/>
          <a:p>
            <a:pPr algn="ctr">
              <a:lnSpc>
                <a:spcPct val="100000"/>
              </a:lnSpc>
              <a:spcBef>
                <a:spcPts val="0"/>
              </a:spcBef>
              <a:spcAft>
                <a:spcPts val="600"/>
              </a:spcAft>
            </a:pPr>
            <a:r>
              <a:rPr sz="1350" b="1">
                <a:solidFill>
                  <a:srgbClr val="0F1419"/>
                </a:solidFill>
                <a:latin typeface="Archivo"/>
              </a:rPr>
              <a:t>S2</a:t>
            </a:r>
          </a:p>
        </p:txBody>
      </p:sp>
      <p:sp>
        <p:nvSpPr>
          <p:cNvPr id="16" name="Oval 15"/>
          <p:cNvSpPr/>
          <p:nvPr/>
        </p:nvSpPr>
        <p:spPr>
          <a:xfrm>
            <a:off x="4992624" y="3867912"/>
            <a:ext cx="493776" cy="493776"/>
          </a:xfrm>
          <a:prstGeom prst="ellipse">
            <a:avLst/>
          </a:prstGeom>
          <a:solidFill>
            <a:srgbClr val="00D4FF"/>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92624" y="3867912"/>
            <a:ext cx="493776" cy="493776"/>
          </a:xfrm>
          <a:prstGeom prst="rect">
            <a:avLst/>
          </a:prstGeom>
          <a:noFill/>
        </p:spPr>
        <p:txBody>
          <a:bodyPr wrap="square" lIns="0" tIns="0" rIns="0" bIns="0" anchor="ctr">
            <a:spAutoFit/>
          </a:bodyPr>
          <a:lstStyle/>
          <a:p>
            <a:pPr algn="ctr">
              <a:lnSpc>
                <a:spcPct val="100000"/>
              </a:lnSpc>
              <a:spcBef>
                <a:spcPts val="0"/>
              </a:spcBef>
              <a:spcAft>
                <a:spcPts val="600"/>
              </a:spcAft>
            </a:pPr>
            <a:r>
              <a:rPr sz="1350" b="1">
                <a:solidFill>
                  <a:srgbClr val="0F1419"/>
                </a:solidFill>
                <a:latin typeface="Archivo"/>
              </a:rPr>
              <a:t>S3</a:t>
            </a:r>
          </a:p>
        </p:txBody>
      </p:sp>
      <p:sp>
        <p:nvSpPr>
          <p:cNvPr id="18" name="Oval 17"/>
          <p:cNvSpPr/>
          <p:nvPr/>
        </p:nvSpPr>
        <p:spPr>
          <a:xfrm>
            <a:off x="4510545" y="5031753"/>
            <a:ext cx="493776" cy="493776"/>
          </a:xfrm>
          <a:prstGeom prst="ellipse">
            <a:avLst/>
          </a:prstGeom>
          <a:solidFill>
            <a:srgbClr val="00D4FF"/>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10545" y="5031753"/>
            <a:ext cx="493776" cy="493776"/>
          </a:xfrm>
          <a:prstGeom prst="rect">
            <a:avLst/>
          </a:prstGeom>
          <a:noFill/>
        </p:spPr>
        <p:txBody>
          <a:bodyPr wrap="square" lIns="0" tIns="0" rIns="0" bIns="0" anchor="ctr">
            <a:spAutoFit/>
          </a:bodyPr>
          <a:lstStyle/>
          <a:p>
            <a:pPr algn="ctr">
              <a:lnSpc>
                <a:spcPct val="100000"/>
              </a:lnSpc>
              <a:spcBef>
                <a:spcPts val="0"/>
              </a:spcBef>
              <a:spcAft>
                <a:spcPts val="600"/>
              </a:spcAft>
            </a:pPr>
            <a:r>
              <a:rPr sz="1350" b="1">
                <a:solidFill>
                  <a:srgbClr val="0F1419"/>
                </a:solidFill>
                <a:latin typeface="Archivo"/>
              </a:rPr>
              <a:t>S4</a:t>
            </a:r>
          </a:p>
        </p:txBody>
      </p:sp>
      <p:sp>
        <p:nvSpPr>
          <p:cNvPr id="20" name="Oval 19"/>
          <p:cNvSpPr/>
          <p:nvPr/>
        </p:nvSpPr>
        <p:spPr>
          <a:xfrm>
            <a:off x="3346704" y="5513832"/>
            <a:ext cx="493776" cy="493776"/>
          </a:xfrm>
          <a:prstGeom prst="ellipse">
            <a:avLst/>
          </a:prstGeom>
          <a:solidFill>
            <a:srgbClr val="39D9A6"/>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46704" y="5513832"/>
            <a:ext cx="493776" cy="493776"/>
          </a:xfrm>
          <a:prstGeom prst="rect">
            <a:avLst/>
          </a:prstGeom>
          <a:noFill/>
        </p:spPr>
        <p:txBody>
          <a:bodyPr wrap="square" lIns="0" tIns="0" rIns="0" bIns="0" anchor="ctr">
            <a:spAutoFit/>
          </a:bodyPr>
          <a:lstStyle/>
          <a:p>
            <a:pPr algn="ctr">
              <a:lnSpc>
                <a:spcPct val="100000"/>
              </a:lnSpc>
              <a:spcBef>
                <a:spcPts val="0"/>
              </a:spcBef>
              <a:spcAft>
                <a:spcPts val="600"/>
              </a:spcAft>
            </a:pPr>
            <a:r>
              <a:rPr sz="1350" b="1">
                <a:solidFill>
                  <a:srgbClr val="0F1419"/>
                </a:solidFill>
                <a:latin typeface="Archivo"/>
              </a:rPr>
              <a:t>S5</a:t>
            </a:r>
          </a:p>
        </p:txBody>
      </p:sp>
      <p:sp>
        <p:nvSpPr>
          <p:cNvPr id="22" name="Oval 21"/>
          <p:cNvSpPr/>
          <p:nvPr/>
        </p:nvSpPr>
        <p:spPr>
          <a:xfrm>
            <a:off x="2182862" y="5031753"/>
            <a:ext cx="493776" cy="493776"/>
          </a:xfrm>
          <a:prstGeom prst="ellipse">
            <a:avLst/>
          </a:prstGeom>
          <a:solidFill>
            <a:srgbClr val="39D9A6"/>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182862" y="5031753"/>
            <a:ext cx="493776" cy="493776"/>
          </a:xfrm>
          <a:prstGeom prst="rect">
            <a:avLst/>
          </a:prstGeom>
          <a:noFill/>
        </p:spPr>
        <p:txBody>
          <a:bodyPr wrap="square" lIns="0" tIns="0" rIns="0" bIns="0" anchor="ctr">
            <a:spAutoFit/>
          </a:bodyPr>
          <a:lstStyle/>
          <a:p>
            <a:pPr algn="ctr">
              <a:lnSpc>
                <a:spcPct val="100000"/>
              </a:lnSpc>
              <a:spcBef>
                <a:spcPts val="0"/>
              </a:spcBef>
              <a:spcAft>
                <a:spcPts val="600"/>
              </a:spcAft>
            </a:pPr>
            <a:r>
              <a:rPr sz="1350" b="1">
                <a:solidFill>
                  <a:srgbClr val="0F1419"/>
                </a:solidFill>
                <a:latin typeface="Archivo"/>
              </a:rPr>
              <a:t>S6</a:t>
            </a:r>
          </a:p>
        </p:txBody>
      </p:sp>
      <p:sp>
        <p:nvSpPr>
          <p:cNvPr id="24" name="Oval 23"/>
          <p:cNvSpPr/>
          <p:nvPr/>
        </p:nvSpPr>
        <p:spPr>
          <a:xfrm>
            <a:off x="1700784" y="3867912"/>
            <a:ext cx="493776" cy="493776"/>
          </a:xfrm>
          <a:prstGeom prst="ellipse">
            <a:avLst/>
          </a:prstGeom>
          <a:solidFill>
            <a:srgbClr val="39D9A6"/>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700784" y="3867912"/>
            <a:ext cx="493776" cy="493776"/>
          </a:xfrm>
          <a:prstGeom prst="rect">
            <a:avLst/>
          </a:prstGeom>
          <a:noFill/>
        </p:spPr>
        <p:txBody>
          <a:bodyPr wrap="square" lIns="0" tIns="0" rIns="0" bIns="0" anchor="ctr">
            <a:spAutoFit/>
          </a:bodyPr>
          <a:lstStyle/>
          <a:p>
            <a:pPr algn="ctr">
              <a:lnSpc>
                <a:spcPct val="100000"/>
              </a:lnSpc>
              <a:spcBef>
                <a:spcPts val="0"/>
              </a:spcBef>
              <a:spcAft>
                <a:spcPts val="600"/>
              </a:spcAft>
            </a:pPr>
            <a:r>
              <a:rPr sz="1350" b="1">
                <a:solidFill>
                  <a:srgbClr val="0F1419"/>
                </a:solidFill>
                <a:latin typeface="Archivo"/>
              </a:rPr>
              <a:t>S7</a:t>
            </a:r>
          </a:p>
        </p:txBody>
      </p:sp>
      <p:sp>
        <p:nvSpPr>
          <p:cNvPr id="26" name="Oval 25"/>
          <p:cNvSpPr/>
          <p:nvPr/>
        </p:nvSpPr>
        <p:spPr>
          <a:xfrm>
            <a:off x="2182862" y="2704070"/>
            <a:ext cx="493776" cy="493776"/>
          </a:xfrm>
          <a:prstGeom prst="ellipse">
            <a:avLst/>
          </a:prstGeom>
          <a:solidFill>
            <a:srgbClr val="39D9A6"/>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182862" y="2704070"/>
            <a:ext cx="493776" cy="493776"/>
          </a:xfrm>
          <a:prstGeom prst="rect">
            <a:avLst/>
          </a:prstGeom>
          <a:noFill/>
        </p:spPr>
        <p:txBody>
          <a:bodyPr wrap="square" lIns="0" tIns="0" rIns="0" bIns="0" anchor="ctr">
            <a:spAutoFit/>
          </a:bodyPr>
          <a:lstStyle/>
          <a:p>
            <a:pPr algn="ctr">
              <a:lnSpc>
                <a:spcPct val="100000"/>
              </a:lnSpc>
              <a:spcBef>
                <a:spcPts val="0"/>
              </a:spcBef>
              <a:spcAft>
                <a:spcPts val="600"/>
              </a:spcAft>
            </a:pPr>
            <a:r>
              <a:rPr sz="1350" b="1">
                <a:solidFill>
                  <a:srgbClr val="0F1419"/>
                </a:solidFill>
                <a:latin typeface="Archivo"/>
              </a:rPr>
              <a:t>S8</a:t>
            </a:r>
          </a:p>
        </p:txBody>
      </p:sp>
      <p:sp>
        <p:nvSpPr>
          <p:cNvPr id="28" name="Oval 27"/>
          <p:cNvSpPr/>
          <p:nvPr/>
        </p:nvSpPr>
        <p:spPr>
          <a:xfrm>
            <a:off x="1165860" y="5897880"/>
            <a:ext cx="219456" cy="219456"/>
          </a:xfrm>
          <a:prstGeom prst="ellipse">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453896" y="5788152"/>
            <a:ext cx="27432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95" b="0">
                <a:solidFill>
                  <a:srgbClr val="FFFFFF"/>
                </a:solidFill>
                <a:latin typeface="Archivo"/>
              </a:rPr>
              <a:t>Flexors — close</a:t>
            </a:r>
          </a:p>
        </p:txBody>
      </p:sp>
      <p:sp>
        <p:nvSpPr>
          <p:cNvPr id="30" name="Oval 29"/>
          <p:cNvSpPr/>
          <p:nvPr/>
        </p:nvSpPr>
        <p:spPr>
          <a:xfrm>
            <a:off x="3497580" y="5897880"/>
            <a:ext cx="219456" cy="219456"/>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85616" y="5788152"/>
            <a:ext cx="27432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95" b="0">
                <a:solidFill>
                  <a:srgbClr val="FFFFFF"/>
                </a:solidFill>
                <a:latin typeface="Archivo"/>
              </a:rPr>
              <a:t>Extensors — open</a:t>
            </a:r>
          </a:p>
        </p:txBody>
      </p:sp>
      <p:sp>
        <p:nvSpPr>
          <p:cNvPr id="32" name="TextBox 31"/>
          <p:cNvSpPr txBox="1"/>
          <p:nvPr/>
        </p:nvSpPr>
        <p:spPr>
          <a:xfrm>
            <a:off x="960120" y="6240780"/>
            <a:ext cx="5349240" cy="411480"/>
          </a:xfrm>
          <a:prstGeom prst="rect">
            <a:avLst/>
          </a:prstGeom>
          <a:noFill/>
        </p:spPr>
        <p:txBody>
          <a:bodyPr wrap="square" lIns="0" tIns="0" rIns="0" bIns="0" anchor="t">
            <a:spAutoFit/>
          </a:bodyPr>
          <a:lstStyle/>
          <a:p>
            <a:pPr algn="ctr">
              <a:lnSpc>
                <a:spcPct val="100000"/>
              </a:lnSpc>
              <a:spcBef>
                <a:spcPts val="0"/>
              </a:spcBef>
              <a:spcAft>
                <a:spcPts val="600"/>
              </a:spcAft>
            </a:pPr>
            <a:r>
              <a:rPr sz="1350" b="0" i="1">
                <a:solidFill>
                  <a:srgbClr val="B8C2CC"/>
                </a:solidFill>
                <a:latin typeface="Archivo"/>
              </a:rPr>
              <a:t>8-sensor ring · proximal forearm</a:t>
            </a:r>
          </a:p>
        </p:txBody>
      </p:sp>
      <p:sp>
        <p:nvSpPr>
          <p:cNvPr id="33" name="Rounded Rectangle 32"/>
          <p:cNvSpPr/>
          <p:nvPr/>
        </p:nvSpPr>
        <p:spPr>
          <a:xfrm>
            <a:off x="6652260" y="1947672"/>
            <a:ext cx="10904220" cy="4732020"/>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2112264"/>
            <a:ext cx="10287000" cy="411480"/>
          </a:xfrm>
          <a:prstGeom prst="rect">
            <a:avLst/>
          </a:prstGeom>
          <a:noFill/>
        </p:spPr>
        <p:txBody>
          <a:bodyPr wrap="square" lIns="0" tIns="0" rIns="0" bIns="0" anchor="t">
            <a:spAutoFit/>
          </a:bodyPr>
          <a:lstStyle/>
          <a:p>
            <a:pPr algn="l">
              <a:lnSpc>
                <a:spcPct val="100000"/>
              </a:lnSpc>
              <a:spcBef>
                <a:spcPts val="0"/>
              </a:spcBef>
              <a:spcAft>
                <a:spcPts val="600"/>
              </a:spcAft>
            </a:pPr>
            <a:r>
              <a:rPr sz="1875" b="1">
                <a:solidFill>
                  <a:srgbClr val="FFFFFF"/>
                </a:solidFill>
                <a:latin typeface="Archivo"/>
              </a:rPr>
              <a:t>Sensor → muscle → what it controls</a:t>
            </a:r>
          </a:p>
        </p:txBody>
      </p:sp>
      <p:sp>
        <p:nvSpPr>
          <p:cNvPr id="35" name="Rounded Rectangle 34"/>
          <p:cNvSpPr/>
          <p:nvPr/>
        </p:nvSpPr>
        <p:spPr>
          <a:xfrm>
            <a:off x="6995160" y="2798064"/>
            <a:ext cx="466344" cy="411480"/>
          </a:xfrm>
          <a:prstGeom prst="round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95160" y="2798064"/>
            <a:ext cx="466344" cy="411480"/>
          </a:xfrm>
          <a:prstGeom prst="rect">
            <a:avLst/>
          </a:prstGeom>
          <a:noFill/>
        </p:spPr>
        <p:txBody>
          <a:bodyPr wrap="square" lIns="0" tIns="0" rIns="0" bIns="0" anchor="ctr">
            <a:spAutoFit/>
          </a:bodyPr>
          <a:lstStyle/>
          <a:p>
            <a:pPr algn="ctr">
              <a:lnSpc>
                <a:spcPct val="100000"/>
              </a:lnSpc>
              <a:spcBef>
                <a:spcPts val="0"/>
              </a:spcBef>
              <a:spcAft>
                <a:spcPts val="600"/>
              </a:spcAft>
            </a:pPr>
            <a:r>
              <a:rPr sz="1425" b="1">
                <a:solidFill>
                  <a:srgbClr val="0F1419"/>
                </a:solidFill>
                <a:latin typeface="Archivo"/>
              </a:rPr>
              <a:t>S1</a:t>
            </a:r>
          </a:p>
        </p:txBody>
      </p:sp>
      <p:sp>
        <p:nvSpPr>
          <p:cNvPr id="37" name="TextBox 36"/>
          <p:cNvSpPr txBox="1"/>
          <p:nvPr/>
        </p:nvSpPr>
        <p:spPr>
          <a:xfrm>
            <a:off x="7680960" y="2743200"/>
            <a:ext cx="96012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545" b="1">
                <a:solidFill>
                  <a:srgbClr val="FFFFFF"/>
                </a:solidFill>
                <a:latin typeface="Archivo"/>
              </a:rPr>
              <a:t>Brachioradialis (BR)  </a:t>
            </a:r>
            <a:r>
              <a:rPr sz="1470" b="0">
                <a:solidFill>
                  <a:srgbClr val="B8C2CC"/>
                </a:solidFill>
                <a:latin typeface="Archivo"/>
              </a:rPr>
              <a:t>— wrist side movement + partial flexion</a:t>
            </a:r>
          </a:p>
        </p:txBody>
      </p:sp>
      <p:sp>
        <p:nvSpPr>
          <p:cNvPr id="38" name="Rounded Rectangle 37"/>
          <p:cNvSpPr/>
          <p:nvPr/>
        </p:nvSpPr>
        <p:spPr>
          <a:xfrm>
            <a:off x="6995160" y="3284982"/>
            <a:ext cx="466344" cy="411480"/>
          </a:xfrm>
          <a:prstGeom prst="round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995160" y="3284982"/>
            <a:ext cx="466344" cy="411480"/>
          </a:xfrm>
          <a:prstGeom prst="rect">
            <a:avLst/>
          </a:prstGeom>
          <a:noFill/>
        </p:spPr>
        <p:txBody>
          <a:bodyPr wrap="square" lIns="0" tIns="0" rIns="0" bIns="0" anchor="ctr">
            <a:spAutoFit/>
          </a:bodyPr>
          <a:lstStyle/>
          <a:p>
            <a:pPr algn="ctr">
              <a:lnSpc>
                <a:spcPct val="100000"/>
              </a:lnSpc>
              <a:spcBef>
                <a:spcPts val="0"/>
              </a:spcBef>
              <a:spcAft>
                <a:spcPts val="600"/>
              </a:spcAft>
            </a:pPr>
            <a:r>
              <a:rPr sz="1425" b="1">
                <a:solidFill>
                  <a:srgbClr val="0F1419"/>
                </a:solidFill>
                <a:latin typeface="Archivo"/>
              </a:rPr>
              <a:t>S2</a:t>
            </a:r>
          </a:p>
        </p:txBody>
      </p:sp>
      <p:sp>
        <p:nvSpPr>
          <p:cNvPr id="40" name="TextBox 39"/>
          <p:cNvSpPr txBox="1"/>
          <p:nvPr/>
        </p:nvSpPr>
        <p:spPr>
          <a:xfrm>
            <a:off x="7680960" y="3230118"/>
            <a:ext cx="96012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545" b="1">
                <a:solidFill>
                  <a:srgbClr val="FFFFFF"/>
                </a:solidFill>
                <a:latin typeface="Archivo"/>
              </a:rPr>
              <a:t>Ext. Carpi Radialis (ECR)  </a:t>
            </a:r>
            <a:r>
              <a:rPr sz="1470" b="0">
                <a:solidFill>
                  <a:srgbClr val="B8C2CC"/>
                </a:solidFill>
                <a:latin typeface="Archivo"/>
              </a:rPr>
              <a:t>— wrist extension + radial (toward thumb)</a:t>
            </a:r>
          </a:p>
        </p:txBody>
      </p:sp>
      <p:sp>
        <p:nvSpPr>
          <p:cNvPr id="41" name="Rounded Rectangle 40"/>
          <p:cNvSpPr/>
          <p:nvPr/>
        </p:nvSpPr>
        <p:spPr>
          <a:xfrm>
            <a:off x="6995160" y="3771900"/>
            <a:ext cx="466344" cy="411480"/>
          </a:xfrm>
          <a:prstGeom prst="round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95160" y="3771900"/>
            <a:ext cx="466344" cy="411480"/>
          </a:xfrm>
          <a:prstGeom prst="rect">
            <a:avLst/>
          </a:prstGeom>
          <a:noFill/>
        </p:spPr>
        <p:txBody>
          <a:bodyPr wrap="square" lIns="0" tIns="0" rIns="0" bIns="0" anchor="ctr">
            <a:spAutoFit/>
          </a:bodyPr>
          <a:lstStyle/>
          <a:p>
            <a:pPr algn="ctr">
              <a:lnSpc>
                <a:spcPct val="100000"/>
              </a:lnSpc>
              <a:spcBef>
                <a:spcPts val="0"/>
              </a:spcBef>
              <a:spcAft>
                <a:spcPts val="600"/>
              </a:spcAft>
            </a:pPr>
            <a:r>
              <a:rPr sz="1425" b="1">
                <a:solidFill>
                  <a:srgbClr val="0F1419"/>
                </a:solidFill>
                <a:latin typeface="Archivo"/>
              </a:rPr>
              <a:t>S3</a:t>
            </a:r>
          </a:p>
        </p:txBody>
      </p:sp>
      <p:sp>
        <p:nvSpPr>
          <p:cNvPr id="43" name="TextBox 42"/>
          <p:cNvSpPr txBox="1"/>
          <p:nvPr/>
        </p:nvSpPr>
        <p:spPr>
          <a:xfrm>
            <a:off x="7680960" y="3717036"/>
            <a:ext cx="96012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545" b="1">
                <a:solidFill>
                  <a:srgbClr val="FFFFFF"/>
                </a:solidFill>
                <a:latin typeface="Archivo"/>
              </a:rPr>
              <a:t>Extensor Digitorum (ED)  </a:t>
            </a:r>
            <a:r>
              <a:rPr sz="1470" b="0">
                <a:solidFill>
                  <a:srgbClr val="B8C2CC"/>
                </a:solidFill>
                <a:latin typeface="Archivo"/>
              </a:rPr>
              <a:t>— opens fingers 2–5 — opens the hand</a:t>
            </a:r>
          </a:p>
        </p:txBody>
      </p:sp>
      <p:sp>
        <p:nvSpPr>
          <p:cNvPr id="44" name="Rounded Rectangle 43"/>
          <p:cNvSpPr/>
          <p:nvPr/>
        </p:nvSpPr>
        <p:spPr>
          <a:xfrm>
            <a:off x="6995160" y="4258818"/>
            <a:ext cx="466344" cy="411480"/>
          </a:xfrm>
          <a:prstGeom prst="round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995160" y="4258818"/>
            <a:ext cx="466344" cy="411480"/>
          </a:xfrm>
          <a:prstGeom prst="rect">
            <a:avLst/>
          </a:prstGeom>
          <a:noFill/>
        </p:spPr>
        <p:txBody>
          <a:bodyPr wrap="square" lIns="0" tIns="0" rIns="0" bIns="0" anchor="ctr">
            <a:spAutoFit/>
          </a:bodyPr>
          <a:lstStyle/>
          <a:p>
            <a:pPr algn="ctr">
              <a:lnSpc>
                <a:spcPct val="100000"/>
              </a:lnSpc>
              <a:spcBef>
                <a:spcPts val="0"/>
              </a:spcBef>
              <a:spcAft>
                <a:spcPts val="600"/>
              </a:spcAft>
            </a:pPr>
            <a:r>
              <a:rPr sz="1425" b="1">
                <a:solidFill>
                  <a:srgbClr val="0F1419"/>
                </a:solidFill>
                <a:latin typeface="Archivo"/>
              </a:rPr>
              <a:t>S4</a:t>
            </a:r>
          </a:p>
        </p:txBody>
      </p:sp>
      <p:sp>
        <p:nvSpPr>
          <p:cNvPr id="46" name="TextBox 45"/>
          <p:cNvSpPr txBox="1"/>
          <p:nvPr/>
        </p:nvSpPr>
        <p:spPr>
          <a:xfrm>
            <a:off x="7680960" y="4203954"/>
            <a:ext cx="96012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545" b="1">
                <a:solidFill>
                  <a:srgbClr val="FFFFFF"/>
                </a:solidFill>
                <a:latin typeface="Archivo"/>
              </a:rPr>
              <a:t>Ext. Carpi Ulnaris (ECU)  </a:t>
            </a:r>
            <a:r>
              <a:rPr sz="1470" b="0">
                <a:solidFill>
                  <a:srgbClr val="B8C2CC"/>
                </a:solidFill>
                <a:latin typeface="Archivo"/>
              </a:rPr>
              <a:t>— wrist extension + ulnar (toward little)</a:t>
            </a:r>
          </a:p>
        </p:txBody>
      </p:sp>
      <p:sp>
        <p:nvSpPr>
          <p:cNvPr id="47" name="Rounded Rectangle 46"/>
          <p:cNvSpPr/>
          <p:nvPr/>
        </p:nvSpPr>
        <p:spPr>
          <a:xfrm>
            <a:off x="6995160" y="4745736"/>
            <a:ext cx="466344" cy="411480"/>
          </a:xfrm>
          <a:prstGeom prst="round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995160" y="4745736"/>
            <a:ext cx="466344" cy="411480"/>
          </a:xfrm>
          <a:prstGeom prst="rect">
            <a:avLst/>
          </a:prstGeom>
          <a:noFill/>
        </p:spPr>
        <p:txBody>
          <a:bodyPr wrap="square" lIns="0" tIns="0" rIns="0" bIns="0" anchor="ctr">
            <a:spAutoFit/>
          </a:bodyPr>
          <a:lstStyle/>
          <a:p>
            <a:pPr algn="ctr">
              <a:lnSpc>
                <a:spcPct val="100000"/>
              </a:lnSpc>
              <a:spcBef>
                <a:spcPts val="0"/>
              </a:spcBef>
              <a:spcAft>
                <a:spcPts val="600"/>
              </a:spcAft>
            </a:pPr>
            <a:r>
              <a:rPr sz="1425" b="1">
                <a:solidFill>
                  <a:srgbClr val="0F1419"/>
                </a:solidFill>
                <a:latin typeface="Archivo"/>
              </a:rPr>
              <a:t>S5</a:t>
            </a:r>
          </a:p>
        </p:txBody>
      </p:sp>
      <p:sp>
        <p:nvSpPr>
          <p:cNvPr id="49" name="TextBox 48"/>
          <p:cNvSpPr txBox="1"/>
          <p:nvPr/>
        </p:nvSpPr>
        <p:spPr>
          <a:xfrm>
            <a:off x="7680960" y="4690872"/>
            <a:ext cx="96012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545" b="1">
                <a:solidFill>
                  <a:srgbClr val="FFFFFF"/>
                </a:solidFill>
                <a:latin typeface="Archivo"/>
              </a:rPr>
              <a:t>Flexor Carpi Ulnaris (FCU)  </a:t>
            </a:r>
            <a:r>
              <a:rPr sz="1470" b="0">
                <a:solidFill>
                  <a:srgbClr val="B8C2CC"/>
                </a:solidFill>
                <a:latin typeface="Archivo"/>
              </a:rPr>
              <a:t>— wrist flexion + ulnar deviation</a:t>
            </a:r>
          </a:p>
        </p:txBody>
      </p:sp>
      <p:sp>
        <p:nvSpPr>
          <p:cNvPr id="50" name="Rounded Rectangle 49"/>
          <p:cNvSpPr/>
          <p:nvPr/>
        </p:nvSpPr>
        <p:spPr>
          <a:xfrm>
            <a:off x="6995160" y="5232654"/>
            <a:ext cx="466344" cy="411480"/>
          </a:xfrm>
          <a:prstGeom prst="round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995160" y="5232654"/>
            <a:ext cx="466344" cy="411480"/>
          </a:xfrm>
          <a:prstGeom prst="rect">
            <a:avLst/>
          </a:prstGeom>
          <a:noFill/>
        </p:spPr>
        <p:txBody>
          <a:bodyPr wrap="square" lIns="0" tIns="0" rIns="0" bIns="0" anchor="ctr">
            <a:spAutoFit/>
          </a:bodyPr>
          <a:lstStyle/>
          <a:p>
            <a:pPr algn="ctr">
              <a:lnSpc>
                <a:spcPct val="100000"/>
              </a:lnSpc>
              <a:spcBef>
                <a:spcPts val="0"/>
              </a:spcBef>
              <a:spcAft>
                <a:spcPts val="600"/>
              </a:spcAft>
            </a:pPr>
            <a:r>
              <a:rPr sz="1425" b="1">
                <a:solidFill>
                  <a:srgbClr val="0F1419"/>
                </a:solidFill>
                <a:latin typeface="Archivo"/>
              </a:rPr>
              <a:t>S6</a:t>
            </a:r>
          </a:p>
        </p:txBody>
      </p:sp>
      <p:sp>
        <p:nvSpPr>
          <p:cNvPr id="52" name="TextBox 51"/>
          <p:cNvSpPr txBox="1"/>
          <p:nvPr/>
        </p:nvSpPr>
        <p:spPr>
          <a:xfrm>
            <a:off x="7680960" y="5177790"/>
            <a:ext cx="96012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545" b="1">
                <a:solidFill>
                  <a:srgbClr val="FFFFFF"/>
                </a:solidFill>
                <a:latin typeface="Archivo"/>
              </a:rPr>
              <a:t>Flexor Digit. Superficialis (FDS)  </a:t>
            </a:r>
            <a:r>
              <a:rPr sz="1470" b="0">
                <a:solidFill>
                  <a:srgbClr val="B8C2CC"/>
                </a:solidFill>
                <a:latin typeface="Archivo"/>
              </a:rPr>
              <a:t>— flex middle / ring / little — grip</a:t>
            </a:r>
          </a:p>
        </p:txBody>
      </p:sp>
      <p:sp>
        <p:nvSpPr>
          <p:cNvPr id="53" name="Rounded Rectangle 52"/>
          <p:cNvSpPr/>
          <p:nvPr/>
        </p:nvSpPr>
        <p:spPr>
          <a:xfrm>
            <a:off x="6995160" y="5719572"/>
            <a:ext cx="466344" cy="411480"/>
          </a:xfrm>
          <a:prstGeom prst="round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995160" y="5719572"/>
            <a:ext cx="466344" cy="411480"/>
          </a:xfrm>
          <a:prstGeom prst="rect">
            <a:avLst/>
          </a:prstGeom>
          <a:noFill/>
        </p:spPr>
        <p:txBody>
          <a:bodyPr wrap="square" lIns="0" tIns="0" rIns="0" bIns="0" anchor="ctr">
            <a:spAutoFit/>
          </a:bodyPr>
          <a:lstStyle/>
          <a:p>
            <a:pPr algn="ctr">
              <a:lnSpc>
                <a:spcPct val="100000"/>
              </a:lnSpc>
              <a:spcBef>
                <a:spcPts val="0"/>
              </a:spcBef>
              <a:spcAft>
                <a:spcPts val="600"/>
              </a:spcAft>
            </a:pPr>
            <a:r>
              <a:rPr sz="1425" b="1">
                <a:solidFill>
                  <a:srgbClr val="0F1419"/>
                </a:solidFill>
                <a:latin typeface="Archivo"/>
              </a:rPr>
              <a:t>S7</a:t>
            </a:r>
          </a:p>
        </p:txBody>
      </p:sp>
      <p:sp>
        <p:nvSpPr>
          <p:cNvPr id="55" name="TextBox 54"/>
          <p:cNvSpPr txBox="1"/>
          <p:nvPr/>
        </p:nvSpPr>
        <p:spPr>
          <a:xfrm>
            <a:off x="7680960" y="5664708"/>
            <a:ext cx="96012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545" b="1">
                <a:solidFill>
                  <a:srgbClr val="FFFFFF"/>
                </a:solidFill>
                <a:latin typeface="Archivo"/>
              </a:rPr>
              <a:t>FDS (index region)  </a:t>
            </a:r>
            <a:r>
              <a:rPr sz="1470" b="0">
                <a:solidFill>
                  <a:srgbClr val="B8C2CC"/>
                </a:solidFill>
                <a:latin typeface="Archivo"/>
              </a:rPr>
              <a:t>— flex index finger — pinch / precision</a:t>
            </a:r>
          </a:p>
        </p:txBody>
      </p:sp>
      <p:sp>
        <p:nvSpPr>
          <p:cNvPr id="56" name="Rounded Rectangle 55"/>
          <p:cNvSpPr/>
          <p:nvPr/>
        </p:nvSpPr>
        <p:spPr>
          <a:xfrm>
            <a:off x="6995160" y="6206490"/>
            <a:ext cx="466344" cy="411480"/>
          </a:xfrm>
          <a:prstGeom prst="round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995160" y="6206490"/>
            <a:ext cx="466344" cy="411480"/>
          </a:xfrm>
          <a:prstGeom prst="rect">
            <a:avLst/>
          </a:prstGeom>
          <a:noFill/>
        </p:spPr>
        <p:txBody>
          <a:bodyPr wrap="square" lIns="0" tIns="0" rIns="0" bIns="0" anchor="ctr">
            <a:spAutoFit/>
          </a:bodyPr>
          <a:lstStyle/>
          <a:p>
            <a:pPr algn="ctr">
              <a:lnSpc>
                <a:spcPct val="100000"/>
              </a:lnSpc>
              <a:spcBef>
                <a:spcPts val="0"/>
              </a:spcBef>
              <a:spcAft>
                <a:spcPts val="600"/>
              </a:spcAft>
            </a:pPr>
            <a:r>
              <a:rPr sz="1425" b="1">
                <a:solidFill>
                  <a:srgbClr val="0F1419"/>
                </a:solidFill>
                <a:latin typeface="Archivo"/>
              </a:rPr>
              <a:t>S8</a:t>
            </a:r>
          </a:p>
        </p:txBody>
      </p:sp>
      <p:sp>
        <p:nvSpPr>
          <p:cNvPr id="58" name="TextBox 57"/>
          <p:cNvSpPr txBox="1"/>
          <p:nvPr/>
        </p:nvSpPr>
        <p:spPr>
          <a:xfrm>
            <a:off x="7680960" y="6151626"/>
            <a:ext cx="96012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545" b="1">
                <a:solidFill>
                  <a:srgbClr val="FFFFFF"/>
                </a:solidFill>
                <a:latin typeface="Archivo"/>
              </a:rPr>
              <a:t>Flexor Carpi Radialis + FPL  </a:t>
            </a:r>
            <a:r>
              <a:rPr sz="1470" b="0">
                <a:solidFill>
                  <a:srgbClr val="B8C2CC"/>
                </a:solidFill>
                <a:latin typeface="Archivo"/>
              </a:rPr>
              <a:t>— wrist flexion + thumb — pinch</a:t>
            </a:r>
          </a:p>
        </p:txBody>
      </p:sp>
      <p:sp>
        <p:nvSpPr>
          <p:cNvPr id="59" name="Rounded Rectangle 58"/>
          <p:cNvSpPr/>
          <p:nvPr/>
        </p:nvSpPr>
        <p:spPr>
          <a:xfrm>
            <a:off x="754380" y="6926580"/>
            <a:ext cx="16802100" cy="2194560"/>
          </a:xfrm>
          <a:prstGeom prst="roundRect">
            <a:avLst>
              <a:gd name="adj" fmla="val 6000"/>
            </a:avLst>
          </a:prstGeom>
          <a:solidFill>
            <a:srgbClr val="0F1419"/>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97280" y="7077456"/>
            <a:ext cx="10972800" cy="411480"/>
          </a:xfrm>
          <a:prstGeom prst="rect">
            <a:avLst/>
          </a:prstGeom>
          <a:noFill/>
        </p:spPr>
        <p:txBody>
          <a:bodyPr wrap="square" lIns="0" tIns="0" rIns="0" bIns="0" anchor="t">
            <a:spAutoFit/>
          </a:bodyPr>
          <a:lstStyle/>
          <a:p>
            <a:pPr algn="l">
              <a:lnSpc>
                <a:spcPct val="100000"/>
              </a:lnSpc>
              <a:spcBef>
                <a:spcPts val="0"/>
              </a:spcBef>
              <a:spcAft>
                <a:spcPts val="600"/>
              </a:spcAft>
            </a:pPr>
            <a:r>
              <a:rPr sz="1725" b="1">
                <a:solidFill>
                  <a:srgbClr val="39D9A6"/>
                </a:solidFill>
                <a:latin typeface="Archivo"/>
              </a:rPr>
              <a:t>Reading the right signal</a:t>
            </a:r>
          </a:p>
        </p:txBody>
      </p:sp>
      <p:sp>
        <p:nvSpPr>
          <p:cNvPr id="61" name="TextBox 60"/>
          <p:cNvSpPr txBox="1"/>
          <p:nvPr/>
        </p:nvSpPr>
        <p:spPr>
          <a:xfrm>
            <a:off x="1097280" y="7543800"/>
            <a:ext cx="16459200" cy="1440180"/>
          </a:xfrm>
          <a:prstGeom prst="rect">
            <a:avLst/>
          </a:prstGeom>
          <a:noFill/>
        </p:spPr>
        <p:txBody>
          <a:bodyPr wrap="square" lIns="0" tIns="0" rIns="0" bIns="0" anchor="t">
            <a:spAutoFit/>
          </a:bodyPr>
          <a:lstStyle/>
          <a:p>
            <a:pPr algn="l">
              <a:lnSpc>
                <a:spcPct val="118000"/>
              </a:lnSpc>
              <a:spcBef>
                <a:spcPts val="0"/>
              </a:spcBef>
              <a:spcAft>
                <a:spcPts val="600"/>
              </a:spcAft>
            </a:pPr>
            <a:r>
              <a:rPr sz="1545" b="0">
                <a:solidFill>
                  <a:srgbClr val="8A97A6"/>
                </a:solidFill>
                <a:latin typeface="Archivo"/>
              </a:rPr>
              <a:t>Sensors sit over the muscle bellies on the proximal forearm — about 5–6 cm below the elbow — where the FMG signal is strongest. Flexor muscles on the palm side close the fingers and wrist; extensor muscles on the back open them. Eight evenly-spaced sensors give full-circle coverage, and the model learns the natural overlap between neighbouring muscles (crosstalk) on its own — no muscle has to be isolated perfectly.</a:t>
            </a:r>
          </a:p>
        </p:txBody>
      </p:sp>
      <p:sp>
        <p:nvSpPr>
          <p:cNvPr id="62" name="TextBox 61"/>
          <p:cNvSpPr txBox="1"/>
          <p:nvPr/>
        </p:nvSpPr>
        <p:spPr>
          <a:xfrm>
            <a:off x="754380" y="9656064"/>
            <a:ext cx="109728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50" b="0">
                <a:solidFill>
                  <a:srgbClr val="B8C2CC"/>
                </a:solidFill>
                <a:latin typeface="JetBrains Mono"/>
              </a:rPr>
              <a:t>JoTouch — Technical Brief · Sensing, Control &amp; AI</a:t>
            </a:r>
          </a:p>
        </p:txBody>
      </p:sp>
      <p:sp>
        <p:nvSpPr>
          <p:cNvPr id="63" name="TextBox 62"/>
          <p:cNvSpPr txBox="1"/>
          <p:nvPr/>
        </p:nvSpPr>
        <p:spPr>
          <a:xfrm>
            <a:off x="15361920" y="9656064"/>
            <a:ext cx="2194560" cy="411480"/>
          </a:xfrm>
          <a:prstGeom prst="rect">
            <a:avLst/>
          </a:prstGeom>
          <a:noFill/>
        </p:spPr>
        <p:txBody>
          <a:bodyPr wrap="square" lIns="0" tIns="0" rIns="0" bIns="0" anchor="ctr">
            <a:spAutoFit/>
          </a:bodyPr>
          <a:lstStyle/>
          <a:p>
            <a:pPr algn="r">
              <a:lnSpc>
                <a:spcPct val="100000"/>
              </a:lnSpc>
              <a:spcBef>
                <a:spcPts val="0"/>
              </a:spcBef>
              <a:spcAft>
                <a:spcPts val="600"/>
              </a:spcAft>
            </a:pPr>
            <a:r>
              <a:rPr sz="1350" b="1">
                <a:solidFill>
                  <a:srgbClr val="B8C2CC"/>
                </a:solidFill>
                <a:latin typeface="JetBrains Mono"/>
              </a:rPr>
              <a:t>12 / 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3"/>
        </a:solidFill>
        <a:effectLst/>
      </p:bgPr>
    </p:bg>
    <p:spTree>
      <p:nvGrpSpPr>
        <p:cNvPr id="1" name=""/>
        <p:cNvGrpSpPr/>
        <p:nvPr/>
      </p:nvGrpSpPr>
      <p:grpSpPr>
        <a:xfrm>
          <a:off x="0" y="0"/>
          <a:ext cx="0" cy="0"/>
          <a:chOff x="0" y="0"/>
          <a:chExt cx="0" cy="0"/>
        </a:xfrm>
      </p:grpSpPr>
      <p:sp>
        <p:nvSpPr>
          <p:cNvPr id="220" name="Shape 0"/>
          <p:cNvSpPr/>
          <p:nvPr/>
        </p:nvSpPr>
        <p:spPr>
          <a:xfrm>
            <a:off x="-1143000" y="5143680"/>
            <a:ext cx="6857640" cy="6857640"/>
          </a:xfrm>
          <a:prstGeom prst="rect">
            <a:avLst/>
          </a:prstGeom>
          <a:gradFill rotWithShape="0">
            <a:gsLst>
              <a:gs pos="0">
                <a:srgbClr val="00D4FF">
                  <a:alpha val="12000"/>
                </a:srgbClr>
              </a:gs>
              <a:gs pos="64000">
                <a:srgbClr val="00D4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1" name="Text 1"/>
          <p:cNvSpPr/>
          <p:nvPr/>
        </p:nvSpPr>
        <p:spPr>
          <a:xfrm>
            <a:off x="1104840" y="2687760"/>
            <a:ext cx="1676880" cy="1180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0277" lnSpcReduction="10000"/>
          </a:bodyPr>
          <a:lstStyle/>
          <a:p>
            <a:pPr defTabSz="914400">
              <a:lnSpc>
                <a:spcPct val="100000"/>
              </a:lnSpc>
              <a:tabLst>
                <a:tab pos="0" algn="l"/>
              </a:tabLst>
            </a:pPr>
            <a:r>
              <a:rPr lang="en-US" sz="9000" b="0" strike="noStrike" spc="-1">
                <a:solidFill>
                  <a:srgbClr val="00D4FF">
                    <a:alpha val="22000"/>
                  </a:srgbClr>
                </a:solidFill>
                <a:latin typeface="Archivo Black"/>
                <a:ea typeface="Archivo Black"/>
              </a:rPr>
              <a:t>03</a:t>
            </a:r>
            <a:endParaRPr lang="en-US" sz="9000" b="0" strike="noStrike" spc="-1">
              <a:solidFill>
                <a:srgbClr val="FFFFFF"/>
              </a:solidFill>
              <a:latin typeface="Arial"/>
            </a:endParaRPr>
          </a:p>
        </p:txBody>
      </p:sp>
      <p:sp>
        <p:nvSpPr>
          <p:cNvPr id="222" name="Text 2"/>
          <p:cNvSpPr/>
          <p:nvPr/>
        </p:nvSpPr>
        <p:spPr>
          <a:xfrm>
            <a:off x="2915280" y="3386160"/>
            <a:ext cx="710964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0" strike="noStrike" spc="582">
                <a:solidFill>
                  <a:srgbClr val="00D4FF"/>
                </a:solidFill>
                <a:latin typeface="JetBrains Mono"/>
                <a:ea typeface="JetBrains Mono"/>
              </a:rPr>
              <a:t>SECTION 03 · PHASE 1 COMPLETE</a:t>
            </a:r>
            <a:endParaRPr lang="en-US" sz="1950" b="0" strike="noStrike" spc="-1">
              <a:solidFill>
                <a:srgbClr val="FFFFFF"/>
              </a:solidFill>
              <a:latin typeface="Arial"/>
            </a:endParaRPr>
          </a:p>
        </p:txBody>
      </p:sp>
      <p:sp>
        <p:nvSpPr>
          <p:cNvPr id="223" name="Text 3"/>
          <p:cNvSpPr/>
          <p:nvPr/>
        </p:nvSpPr>
        <p:spPr>
          <a:xfrm>
            <a:off x="1104840" y="4116600"/>
            <a:ext cx="16560360" cy="2329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2500"/>
          </a:bodyPr>
          <a:lstStyle/>
          <a:p>
            <a:pPr>
              <a:lnSpc>
                <a:spcPct val="93000"/>
              </a:lnSpc>
              <a:tabLst>
                <a:tab pos="0" algn="l"/>
              </a:tabLst>
            </a:pPr>
            <a:r>
              <a:rPr lang="en-US" sz="9600" b="1" strike="noStrike" spc="-194" dirty="0">
                <a:solidFill>
                  <a:srgbClr val="FFFFFF"/>
                </a:solidFill>
                <a:latin typeface="Archivo Black"/>
                <a:ea typeface="Archivo Black"/>
              </a:rPr>
              <a:t>ROS 2 </a:t>
            </a:r>
            <a:r>
              <a:rPr lang="en-US" sz="9600" b="1" spc="-194" dirty="0">
                <a:solidFill>
                  <a:srgbClr val="FFFFFF"/>
                </a:solidFill>
                <a:latin typeface="Archivo Black"/>
                <a:ea typeface="Archivo Black"/>
              </a:rPr>
              <a:t>Pipeline &amp; </a:t>
            </a:r>
            <a:r>
              <a:rPr lang="en-US" sz="9600" b="1" strike="noStrike" spc="-194" dirty="0">
                <a:solidFill>
                  <a:srgbClr val="FFFFFF"/>
                </a:solidFill>
                <a:latin typeface="Archivo Black"/>
                <a:ea typeface="Archivo Black"/>
              </a:rPr>
              <a:t>Software</a:t>
            </a:r>
            <a:endParaRPr lang="en-US" sz="9600" b="0" strike="noStrike" spc="-1" dirty="0">
              <a:solidFill>
                <a:srgbClr val="FFFFFF"/>
              </a:solidFill>
              <a:latin typeface="Arial"/>
            </a:endParaRPr>
          </a:p>
        </p:txBody>
      </p:sp>
      <p:sp>
        <p:nvSpPr>
          <p:cNvPr id="224" name="Shape 4"/>
          <p:cNvSpPr/>
          <p:nvPr/>
        </p:nvSpPr>
        <p:spPr>
          <a:xfrm>
            <a:off x="1104840" y="6846840"/>
            <a:ext cx="1142640" cy="3780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strike="noStrike" spc="-1">
              <a:solidFill>
                <a:srgbClr val="FFFFFF"/>
              </a:solidFill>
              <a:latin typeface="Arial"/>
            </a:endParaRPr>
          </a:p>
        </p:txBody>
      </p:sp>
      <p:sp>
        <p:nvSpPr>
          <p:cNvPr id="225" name="Text 5"/>
          <p:cNvSpPr/>
          <p:nvPr/>
        </p:nvSpPr>
        <p:spPr>
          <a:xfrm>
            <a:off x="1104840" y="7170480"/>
            <a:ext cx="17685720" cy="466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550" b="0" strike="noStrike" spc="100">
                <a:solidFill>
                  <a:srgbClr val="00D4FF"/>
                </a:solidFill>
                <a:latin typeface="JetBrains Mono"/>
                <a:ea typeface="JetBrains Mono"/>
              </a:rPr>
              <a:t>7 packages · synthetic FMG → brain → kinematics → RViz</a:t>
            </a:r>
            <a:endParaRPr lang="en-US" sz="2550" b="0" strike="noStrike" spc="-1">
              <a:solidFill>
                <a:srgbClr val="FFFFFF"/>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303" name="Text 0"/>
          <p:cNvSpPr/>
          <p:nvPr/>
        </p:nvSpPr>
        <p:spPr>
          <a:xfrm>
            <a:off x="1104840" y="800280"/>
            <a:ext cx="671456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562">
                <a:solidFill>
                  <a:srgbClr val="00D4FF"/>
                </a:solidFill>
                <a:latin typeface="JetBrains Mono"/>
                <a:ea typeface="JetBrains Mono"/>
              </a:rPr>
              <a:t>SOFTWARE · COLLECTION UI</a:t>
            </a:r>
            <a:endParaRPr lang="en-US" sz="1870" b="0" strike="noStrike" spc="-1">
              <a:solidFill>
                <a:srgbClr val="FFFFFF"/>
              </a:solidFill>
              <a:latin typeface="Arial"/>
            </a:endParaRPr>
          </a:p>
        </p:txBody>
      </p:sp>
      <p:sp>
        <p:nvSpPr>
          <p:cNvPr id="304" name="Text 1"/>
          <p:cNvSpPr/>
          <p:nvPr/>
        </p:nvSpPr>
        <p:spPr>
          <a:xfrm>
            <a:off x="15882840" y="800280"/>
            <a:ext cx="14299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35">
                <a:solidFill>
                  <a:srgbClr val="5C6977"/>
                </a:solidFill>
                <a:latin typeface="JetBrains Mono"/>
                <a:ea typeface="JetBrains Mono"/>
              </a:rPr>
              <a:t>14 / 22</a:t>
            </a:r>
            <a:endParaRPr lang="en-US" sz="1870" b="0" strike="noStrike" spc="-1">
              <a:solidFill>
                <a:srgbClr val="FFFFFF"/>
              </a:solidFill>
              <a:latin typeface="Arial"/>
            </a:endParaRPr>
          </a:p>
        </p:txBody>
      </p:sp>
      <p:sp>
        <p:nvSpPr>
          <p:cNvPr id="305" name="Text 2"/>
          <p:cNvSpPr/>
          <p:nvPr/>
        </p:nvSpPr>
        <p:spPr>
          <a:xfrm>
            <a:off x="1104840" y="1346040"/>
            <a:ext cx="17685720" cy="7808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2500" lnSpcReduction="20000"/>
          </a:bodyPr>
          <a:lstStyle/>
          <a:p>
            <a:pPr defTabSz="914400">
              <a:lnSpc>
                <a:spcPct val="100000"/>
              </a:lnSpc>
              <a:tabLst>
                <a:tab pos="0" algn="l"/>
              </a:tabLst>
            </a:pPr>
            <a:r>
              <a:rPr lang="en-US" sz="5850" b="1" strike="noStrike" spc="-1">
                <a:solidFill>
                  <a:srgbClr val="FFFFFF"/>
                </a:solidFill>
                <a:latin typeface="Archivo Black"/>
                <a:ea typeface="Archivo Black"/>
              </a:rPr>
              <a:t>FMG Data Collection Workbench</a:t>
            </a:r>
            <a:endParaRPr lang="en-US" sz="5850" b="0" strike="noStrike" spc="-1">
              <a:solidFill>
                <a:srgbClr val="FFFFFF"/>
              </a:solidFill>
              <a:latin typeface="Arial"/>
            </a:endParaRPr>
          </a:p>
        </p:txBody>
      </p:sp>
      <p:sp>
        <p:nvSpPr>
          <p:cNvPr id="306" name="Text 3"/>
          <p:cNvSpPr/>
          <p:nvPr/>
        </p:nvSpPr>
        <p:spPr>
          <a:xfrm>
            <a:off x="1104840" y="2184480"/>
            <a:ext cx="176857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2500" lnSpcReduction="10000"/>
          </a:bodyPr>
          <a:lstStyle/>
          <a:p>
            <a:pPr defTabSz="914400">
              <a:lnSpc>
                <a:spcPct val="100000"/>
              </a:lnSpc>
              <a:tabLst>
                <a:tab pos="0" algn="l"/>
              </a:tabLst>
            </a:pPr>
            <a:r>
              <a:rPr lang="en-US" sz="2250" b="0" strike="noStrike" spc="-1">
                <a:solidFill>
                  <a:srgbClr val="8A97A6"/>
                </a:solidFill>
                <a:latin typeface="Archivo"/>
                <a:ea typeface="Archivo"/>
              </a:rPr>
              <a:t>Browser operator console — Setup → Tests → Collect → Summary</a:t>
            </a:r>
            <a:endParaRPr lang="en-US" sz="2250" b="0" strike="noStrike" spc="-1">
              <a:solidFill>
                <a:srgbClr val="FFFFFF"/>
              </a:solidFill>
              <a:latin typeface="Arial"/>
            </a:endParaRPr>
          </a:p>
        </p:txBody>
      </p:sp>
      <p:sp>
        <p:nvSpPr>
          <p:cNvPr id="301" name="Frame 0"/>
          <p:cNvSpPr/>
          <p:nvPr/>
        </p:nvSpPr>
        <p:spPr>
          <a:xfrm>
            <a:off x="1074360" y="3169920"/>
            <a:ext cx="7871520" cy="4942560"/>
          </a:xfrm>
          <a:prstGeom prst="rect">
            <a:avLst/>
          </a:prstGeom>
          <a:solidFill>
            <a:srgbClr val="12181F"/>
          </a:solidFill>
          <a:ln w="12700">
            <a:solidFill>
              <a:srgbClr val="1C273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2" name="Frame 1"/>
          <p:cNvSpPr/>
          <p:nvPr/>
        </p:nvSpPr>
        <p:spPr>
          <a:xfrm>
            <a:off x="9342120" y="3169920"/>
            <a:ext cx="7871520" cy="4942560"/>
          </a:xfrm>
          <a:prstGeom prst="rect">
            <a:avLst/>
          </a:prstGeom>
          <a:solidFill>
            <a:srgbClr val="12181F"/>
          </a:solidFill>
          <a:ln w="12700">
            <a:solidFill>
              <a:srgbClr val="1C273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307" name="Picture 306" descr="01_setup.png"/>
          <p:cNvPicPr>
            <a:picLocks noChangeAspect="1"/>
          </p:cNvPicPr>
          <p:nvPr/>
        </p:nvPicPr>
        <p:blipFill>
          <a:blip r:embed="rId2"/>
          <a:stretch>
            <a:fillRect/>
          </a:stretch>
        </p:blipFill>
        <p:spPr>
          <a:xfrm>
            <a:off x="1104840" y="3200400"/>
            <a:ext cx="7810560" cy="4881600"/>
          </a:xfrm>
          <a:prstGeom prst="rect">
            <a:avLst/>
          </a:prstGeom>
        </p:spPr>
      </p:pic>
      <p:pic>
        <p:nvPicPr>
          <p:cNvPr id="308" name="Picture 307" descr="02_tests.png"/>
          <p:cNvPicPr>
            <a:picLocks noChangeAspect="1"/>
          </p:cNvPicPr>
          <p:nvPr/>
        </p:nvPicPr>
        <p:blipFill>
          <a:blip r:embed="rId3"/>
          <a:stretch>
            <a:fillRect/>
          </a:stretch>
        </p:blipFill>
        <p:spPr>
          <a:xfrm>
            <a:off x="9372600" y="3200400"/>
            <a:ext cx="7810560" cy="4881600"/>
          </a:xfrm>
          <a:prstGeom prst="rect">
            <a:avLst/>
          </a:prstGeom>
        </p:spPr>
      </p:pic>
      <p:sp>
        <p:nvSpPr>
          <p:cNvPr id="309" name="Tick 0"/>
          <p:cNvSpPr/>
          <p:nvPr/>
        </p:nvSpPr>
        <p:spPr>
          <a:xfrm>
            <a:off x="1104840" y="8310600"/>
            <a:ext cx="137160" cy="13716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0" name="Cap 0"/>
          <p:cNvSpPr/>
          <p:nvPr/>
        </p:nvSpPr>
        <p:spPr>
          <a:xfrm>
            <a:off x="1379160" y="8242020"/>
            <a:ext cx="7536240" cy="400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575" b="0" strike="noStrike" spc="100">
                <a:solidFill>
                  <a:srgbClr val="8A97A6"/>
                </a:solidFill>
                <a:latin typeface="JetBrains Mono"/>
                <a:ea typeface="JetBrains Mono"/>
              </a:rPr>
              <a:t>01  SETUP — session IDs, protocol, LED sync ROI, live FSR preview</a:t>
            </a:r>
            <a:endParaRPr lang="en-US" sz="1575" b="0" strike="noStrike" spc="-1">
              <a:solidFill>
                <a:srgbClr val="FFFFFF"/>
              </a:solidFill>
              <a:latin typeface="Arial"/>
            </a:endParaRPr>
          </a:p>
        </p:txBody>
      </p:sp>
      <p:sp>
        <p:nvSpPr>
          <p:cNvPr id="311" name="Tick 1"/>
          <p:cNvSpPr/>
          <p:nvPr/>
        </p:nvSpPr>
        <p:spPr>
          <a:xfrm>
            <a:off x="9372600" y="8310600"/>
            <a:ext cx="137160" cy="13716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2" name="Cap 1"/>
          <p:cNvSpPr/>
          <p:nvPr/>
        </p:nvSpPr>
        <p:spPr>
          <a:xfrm>
            <a:off x="9646920" y="8242020"/>
            <a:ext cx="7536240" cy="400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575" b="0" strike="noStrike" spc="100">
                <a:solidFill>
                  <a:srgbClr val="8A97A6"/>
                </a:solidFill>
                <a:latin typeface="JetBrains Mono"/>
                <a:ea typeface="JetBrains Mono"/>
              </a:rPr>
              <a:t>02  TESTS — 8 mandatory pre-collection checks with live cueing</a:t>
            </a:r>
            <a:endParaRPr lang="en-US" sz="1575" b="0" strike="noStrike" spc="-1">
              <a:solidFill>
                <a:srgbClr val="FFFFFF"/>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303" name="Text 0"/>
          <p:cNvSpPr/>
          <p:nvPr/>
        </p:nvSpPr>
        <p:spPr>
          <a:xfrm>
            <a:off x="1104840" y="800280"/>
            <a:ext cx="671456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562">
                <a:solidFill>
                  <a:srgbClr val="00D4FF"/>
                </a:solidFill>
                <a:latin typeface="JetBrains Mono"/>
                <a:ea typeface="JetBrains Mono"/>
              </a:rPr>
              <a:t>SOFTWARE · COLLECTION UI</a:t>
            </a:r>
            <a:endParaRPr lang="en-US" sz="1870" b="0" strike="noStrike" spc="-1">
              <a:solidFill>
                <a:srgbClr val="FFFFFF"/>
              </a:solidFill>
              <a:latin typeface="Arial"/>
            </a:endParaRPr>
          </a:p>
        </p:txBody>
      </p:sp>
      <p:sp>
        <p:nvSpPr>
          <p:cNvPr id="304" name="Text 1"/>
          <p:cNvSpPr/>
          <p:nvPr/>
        </p:nvSpPr>
        <p:spPr>
          <a:xfrm>
            <a:off x="15882840" y="800280"/>
            <a:ext cx="14299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35">
                <a:solidFill>
                  <a:srgbClr val="5C6977"/>
                </a:solidFill>
                <a:latin typeface="JetBrains Mono"/>
                <a:ea typeface="JetBrains Mono"/>
              </a:rPr>
              <a:t>15 / 22</a:t>
            </a:r>
            <a:endParaRPr lang="en-US" sz="1870" b="0" strike="noStrike" spc="-1">
              <a:solidFill>
                <a:srgbClr val="FFFFFF"/>
              </a:solidFill>
              <a:latin typeface="Arial"/>
            </a:endParaRPr>
          </a:p>
        </p:txBody>
      </p:sp>
      <p:sp>
        <p:nvSpPr>
          <p:cNvPr id="305" name="Text 2"/>
          <p:cNvSpPr/>
          <p:nvPr/>
        </p:nvSpPr>
        <p:spPr>
          <a:xfrm>
            <a:off x="1104840" y="1346040"/>
            <a:ext cx="17685720" cy="7808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2500" lnSpcReduction="20000"/>
          </a:bodyPr>
          <a:lstStyle/>
          <a:p>
            <a:pPr defTabSz="914400">
              <a:lnSpc>
                <a:spcPct val="100000"/>
              </a:lnSpc>
              <a:tabLst>
                <a:tab pos="0" algn="l"/>
              </a:tabLst>
            </a:pPr>
            <a:r>
              <a:rPr lang="en-US" sz="5850" b="1" strike="noStrike" spc="-1">
                <a:solidFill>
                  <a:srgbClr val="FFFFFF"/>
                </a:solidFill>
                <a:latin typeface="Archivo Black"/>
                <a:ea typeface="Archivo Black"/>
              </a:rPr>
              <a:t>Collecting a Session</a:t>
            </a:r>
            <a:endParaRPr lang="en-US" sz="5850" b="0" strike="noStrike" spc="-1">
              <a:solidFill>
                <a:srgbClr val="FFFFFF"/>
              </a:solidFill>
              <a:latin typeface="Arial"/>
            </a:endParaRPr>
          </a:p>
        </p:txBody>
      </p:sp>
      <p:sp>
        <p:nvSpPr>
          <p:cNvPr id="306" name="Text 3"/>
          <p:cNvSpPr/>
          <p:nvPr/>
        </p:nvSpPr>
        <p:spPr>
          <a:xfrm>
            <a:off x="1104840" y="2184480"/>
            <a:ext cx="176857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2500" lnSpcReduction="10000"/>
          </a:bodyPr>
          <a:lstStyle/>
          <a:p>
            <a:pPr defTabSz="914400">
              <a:lnSpc>
                <a:spcPct val="100000"/>
              </a:lnSpc>
              <a:tabLst>
                <a:tab pos="0" algn="l"/>
              </a:tabLst>
            </a:pPr>
            <a:r>
              <a:rPr lang="en-US" sz="2250" b="0" strike="noStrike" spc="-1">
                <a:solidFill>
                  <a:srgbClr val="8A97A6"/>
                </a:solidFill>
                <a:latin typeface="Archivo"/>
                <a:ea typeface="Archivo"/>
              </a:rPr>
              <a:t>Cue-driven recording, real-time quality gating, BIDS-structured output</a:t>
            </a:r>
            <a:endParaRPr lang="en-US" sz="2250" b="0" strike="noStrike" spc="-1">
              <a:solidFill>
                <a:srgbClr val="FFFFFF"/>
              </a:solidFill>
              <a:latin typeface="Arial"/>
            </a:endParaRPr>
          </a:p>
        </p:txBody>
      </p:sp>
      <p:sp>
        <p:nvSpPr>
          <p:cNvPr id="301" name="Frame 0"/>
          <p:cNvSpPr/>
          <p:nvPr/>
        </p:nvSpPr>
        <p:spPr>
          <a:xfrm>
            <a:off x="1074360" y="3169920"/>
            <a:ext cx="7871520" cy="4942560"/>
          </a:xfrm>
          <a:prstGeom prst="rect">
            <a:avLst/>
          </a:prstGeom>
          <a:solidFill>
            <a:srgbClr val="12181F"/>
          </a:solidFill>
          <a:ln w="12700">
            <a:solidFill>
              <a:srgbClr val="1C273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2" name="Frame 1"/>
          <p:cNvSpPr/>
          <p:nvPr/>
        </p:nvSpPr>
        <p:spPr>
          <a:xfrm>
            <a:off x="9342120" y="3169920"/>
            <a:ext cx="7871520" cy="4942560"/>
          </a:xfrm>
          <a:prstGeom prst="rect">
            <a:avLst/>
          </a:prstGeom>
          <a:solidFill>
            <a:srgbClr val="12181F"/>
          </a:solidFill>
          <a:ln w="12700">
            <a:solidFill>
              <a:srgbClr val="1C2730"/>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pic>
        <p:nvPicPr>
          <p:cNvPr id="307" name="Picture 306" descr="03_collect.png"/>
          <p:cNvPicPr>
            <a:picLocks noChangeAspect="1"/>
          </p:cNvPicPr>
          <p:nvPr/>
        </p:nvPicPr>
        <p:blipFill>
          <a:blip r:embed="rId2"/>
          <a:stretch>
            <a:fillRect/>
          </a:stretch>
        </p:blipFill>
        <p:spPr>
          <a:xfrm>
            <a:off x="1104840" y="3200400"/>
            <a:ext cx="7810560" cy="4881600"/>
          </a:xfrm>
          <a:prstGeom prst="rect">
            <a:avLst/>
          </a:prstGeom>
        </p:spPr>
      </p:pic>
      <p:pic>
        <p:nvPicPr>
          <p:cNvPr id="308" name="Picture 307" descr="04_summary.png"/>
          <p:cNvPicPr>
            <a:picLocks noChangeAspect="1"/>
          </p:cNvPicPr>
          <p:nvPr/>
        </p:nvPicPr>
        <p:blipFill>
          <a:blip r:embed="rId3"/>
          <a:stretch>
            <a:fillRect/>
          </a:stretch>
        </p:blipFill>
        <p:spPr>
          <a:xfrm>
            <a:off x="9372600" y="3200400"/>
            <a:ext cx="7810560" cy="4881600"/>
          </a:xfrm>
          <a:prstGeom prst="rect">
            <a:avLst/>
          </a:prstGeom>
        </p:spPr>
      </p:pic>
      <p:sp>
        <p:nvSpPr>
          <p:cNvPr id="309" name="Tick 0"/>
          <p:cNvSpPr/>
          <p:nvPr/>
        </p:nvSpPr>
        <p:spPr>
          <a:xfrm>
            <a:off x="1104840" y="8310600"/>
            <a:ext cx="137160" cy="13716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0" name="Cap 0"/>
          <p:cNvSpPr/>
          <p:nvPr/>
        </p:nvSpPr>
        <p:spPr>
          <a:xfrm>
            <a:off x="1379160" y="8242020"/>
            <a:ext cx="7536240" cy="400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575" b="0" strike="noStrike" spc="100">
                <a:solidFill>
                  <a:srgbClr val="8A97A6"/>
                </a:solidFill>
                <a:latin typeface="JetBrains Mono"/>
                <a:ea typeface="JetBrains Mono"/>
              </a:rPr>
              <a:t>03  COLLECT — cue card, camera, FSR signals, run log</a:t>
            </a:r>
            <a:endParaRPr lang="en-US" sz="1575" b="0" strike="noStrike" spc="-1">
              <a:solidFill>
                <a:srgbClr val="FFFFFF"/>
              </a:solidFill>
              <a:latin typeface="Arial"/>
            </a:endParaRPr>
          </a:p>
        </p:txBody>
      </p:sp>
      <p:sp>
        <p:nvSpPr>
          <p:cNvPr id="311" name="Tick 1"/>
          <p:cNvSpPr/>
          <p:nvPr/>
        </p:nvSpPr>
        <p:spPr>
          <a:xfrm>
            <a:off x="9372600" y="8310600"/>
            <a:ext cx="137160" cy="13716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2" name="Cap 1"/>
          <p:cNvSpPr/>
          <p:nvPr/>
        </p:nvSpPr>
        <p:spPr>
          <a:xfrm>
            <a:off x="9646920" y="8242020"/>
            <a:ext cx="7536240" cy="400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575" b="0" strike="noStrike" spc="100">
                <a:solidFill>
                  <a:srgbClr val="8A97A6"/>
                </a:solidFill>
                <a:latin typeface="JetBrains Mono"/>
                <a:ea typeface="JetBrains Mono"/>
              </a:rPr>
              <a:t>04  SUMMARY — run tally, quality report, full session log</a:t>
            </a:r>
            <a:endParaRPr lang="en-US" sz="1575" b="0" strike="noStrike" spc="-1">
              <a:solidFill>
                <a:srgbClr val="FFFFFF"/>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Oval 1"/>
          <p:cNvSpPr/>
          <p:nvPr/>
        </p:nvSpPr>
        <p:spPr>
          <a:xfrm>
            <a:off x="754380" y="603504"/>
            <a:ext cx="411480" cy="4114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576072"/>
            <a:ext cx="150876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875" b="1">
                <a:solidFill>
                  <a:srgbClr val="00D4FF"/>
                </a:solidFill>
                <a:latin typeface="JetBrains Mono"/>
              </a:rPr>
              <a:t>02 · AI MODEL</a:t>
            </a:r>
          </a:p>
        </p:txBody>
      </p:sp>
      <p:sp>
        <p:nvSpPr>
          <p:cNvPr id="4" name="TextBox 3"/>
          <p:cNvSpPr txBox="1"/>
          <p:nvPr/>
        </p:nvSpPr>
        <p:spPr>
          <a:xfrm>
            <a:off x="754380" y="1069848"/>
            <a:ext cx="15087600" cy="822960"/>
          </a:xfrm>
          <a:prstGeom prst="rect">
            <a:avLst/>
          </a:prstGeom>
          <a:noFill/>
        </p:spPr>
        <p:txBody>
          <a:bodyPr wrap="square" lIns="0" tIns="0" rIns="0" bIns="0" anchor="t">
            <a:spAutoFit/>
          </a:bodyPr>
          <a:lstStyle/>
          <a:p>
            <a:pPr algn="l">
              <a:lnSpc>
                <a:spcPct val="100000"/>
              </a:lnSpc>
              <a:spcBef>
                <a:spcPts val="0"/>
              </a:spcBef>
              <a:spcAft>
                <a:spcPts val="600"/>
              </a:spcAft>
            </a:pPr>
            <a:r>
              <a:rPr sz="4050" b="1">
                <a:solidFill>
                  <a:srgbClr val="FFFFFF"/>
                </a:solidFill>
                <a:latin typeface="Archivo"/>
              </a:rPr>
              <a:t>JoTouchModel — classification and regression</a:t>
            </a:r>
          </a:p>
        </p:txBody>
      </p:sp>
      <p:sp>
        <p:nvSpPr>
          <p:cNvPr id="5" name="Rounded Rectangle 4"/>
          <p:cNvSpPr/>
          <p:nvPr/>
        </p:nvSpPr>
        <p:spPr>
          <a:xfrm>
            <a:off x="14676120" y="658368"/>
            <a:ext cx="2880360" cy="411480"/>
          </a:xfrm>
          <a:prstGeom prst="roundRect">
            <a:avLst>
              <a:gd name="adj" fmla="val 50000"/>
            </a:avLst>
          </a:prstGeom>
          <a:noFill/>
          <a:ln w="22860">
            <a:solidFill>
              <a:srgbClr val="39D9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4840710" y="802386"/>
            <a:ext cx="137160" cy="137160"/>
          </a:xfrm>
          <a:prstGeom prst="ellipse">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0" y="658368"/>
            <a:ext cx="24003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50" b="1">
                <a:solidFill>
                  <a:srgbClr val="39D9A6"/>
                </a:solidFill>
                <a:latin typeface="JetBrains Mono"/>
              </a:rPr>
              <a:t>BENCHMARKED</a:t>
            </a:r>
          </a:p>
        </p:txBody>
      </p:sp>
      <p:sp>
        <p:nvSpPr>
          <p:cNvPr id="8" name="Rounded Rectangle 7"/>
          <p:cNvSpPr/>
          <p:nvPr/>
        </p:nvSpPr>
        <p:spPr>
          <a:xfrm>
            <a:off x="754380" y="1810512"/>
            <a:ext cx="16802100" cy="768096"/>
          </a:xfrm>
          <a:prstGeom prst="roundRect">
            <a:avLst>
              <a:gd name="adj" fmla="val 18000"/>
            </a:avLst>
          </a:prstGeom>
          <a:solidFill>
            <a:srgbClr val="0F2620"/>
          </a:solidFill>
          <a:ln w="19050">
            <a:solidFill>
              <a:srgbClr val="39D9A6"/>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810512"/>
            <a:ext cx="16459200" cy="768096"/>
          </a:xfrm>
          <a:prstGeom prst="rect">
            <a:avLst/>
          </a:prstGeom>
          <a:noFill/>
        </p:spPr>
        <p:txBody>
          <a:bodyPr wrap="square" lIns="0" tIns="0" rIns="0" bIns="0" anchor="ctr">
            <a:spAutoFit/>
          </a:bodyPr>
          <a:lstStyle/>
          <a:p>
            <a:pPr algn="l">
              <a:lnSpc>
                <a:spcPct val="100000"/>
              </a:lnSpc>
              <a:spcBef>
                <a:spcPts val="0"/>
              </a:spcBef>
              <a:spcAft>
                <a:spcPts val="600"/>
              </a:spcAft>
            </a:pPr>
            <a:r>
              <a:rPr sz="1725" b="1">
                <a:solidFill>
                  <a:srgbClr val="39D9A6"/>
                </a:solidFill>
                <a:latin typeface="Archivo"/>
              </a:rPr>
              <a:t>Not just classification:  </a:t>
            </a:r>
            <a:r>
              <a:rPr sz="1650" b="0">
                <a:solidFill>
                  <a:srgbClr val="FFFFFF"/>
                </a:solidFill>
                <a:latin typeface="Archivo"/>
              </a:rPr>
              <a:t>the model predicts </a:t>
            </a:r>
            <a:r>
              <a:rPr sz="1650" b="1">
                <a:solidFill>
                  <a:srgbClr val="00D4FF"/>
                </a:solidFill>
                <a:latin typeface="Archivo"/>
              </a:rPr>
              <a:t>which gesture (classification)</a:t>
            </a:r>
            <a:r>
              <a:rPr sz="1650" b="0">
                <a:solidFill>
                  <a:srgbClr val="FFFFFF"/>
                </a:solidFill>
                <a:latin typeface="Archivo"/>
              </a:rPr>
              <a:t>  and  </a:t>
            </a:r>
            <a:r>
              <a:rPr sz="1650" b="1">
                <a:solidFill>
                  <a:srgbClr val="39D9A6"/>
                </a:solidFill>
                <a:latin typeface="Archivo"/>
              </a:rPr>
              <a:t>the exact joint angles (regression)</a:t>
            </a:r>
            <a:r>
              <a:rPr sz="1650" b="0">
                <a:solidFill>
                  <a:srgbClr val="FFFFFF"/>
                </a:solidFill>
                <a:latin typeface="Archivo"/>
              </a:rPr>
              <a:t>  → proportional, natural control.</a:t>
            </a:r>
          </a:p>
        </p:txBody>
      </p:sp>
      <p:sp>
        <p:nvSpPr>
          <p:cNvPr id="10" name="TextBox 9"/>
          <p:cNvSpPr txBox="1"/>
          <p:nvPr/>
        </p:nvSpPr>
        <p:spPr>
          <a:xfrm>
            <a:off x="754380" y="2880360"/>
            <a:ext cx="7680960" cy="411480"/>
          </a:xfrm>
          <a:prstGeom prst="rect">
            <a:avLst/>
          </a:prstGeom>
          <a:noFill/>
        </p:spPr>
        <p:txBody>
          <a:bodyPr wrap="square" lIns="0" tIns="0" rIns="0" bIns="0" anchor="t">
            <a:spAutoFit/>
          </a:bodyPr>
          <a:lstStyle/>
          <a:p>
            <a:pPr algn="l">
              <a:lnSpc>
                <a:spcPct val="100000"/>
              </a:lnSpc>
              <a:spcBef>
                <a:spcPts val="0"/>
              </a:spcBef>
              <a:spcAft>
                <a:spcPts val="600"/>
              </a:spcAft>
            </a:pPr>
            <a:r>
              <a:rPr sz="1875" b="1">
                <a:solidFill>
                  <a:srgbClr val="FFFFFF"/>
                </a:solidFill>
                <a:latin typeface="Archivo"/>
              </a:rPr>
              <a:t>How the model reads the signal</a:t>
            </a:r>
          </a:p>
        </p:txBody>
      </p:sp>
      <p:sp>
        <p:nvSpPr>
          <p:cNvPr id="11" name="Rounded Rectangle 10"/>
          <p:cNvSpPr/>
          <p:nvPr/>
        </p:nvSpPr>
        <p:spPr>
          <a:xfrm>
            <a:off x="754380" y="3374136"/>
            <a:ext cx="7680960" cy="795528"/>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54380" y="3511296"/>
            <a:ext cx="109728" cy="521206"/>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3483864"/>
            <a:ext cx="7132320" cy="411480"/>
          </a:xfrm>
          <a:prstGeom prst="rect">
            <a:avLst/>
          </a:prstGeom>
          <a:noFill/>
        </p:spPr>
        <p:txBody>
          <a:bodyPr wrap="square" lIns="0" tIns="0" rIns="0" bIns="0" anchor="t">
            <a:spAutoFit/>
          </a:bodyPr>
          <a:lstStyle/>
          <a:p>
            <a:pPr algn="l">
              <a:lnSpc>
                <a:spcPct val="100000"/>
              </a:lnSpc>
              <a:spcBef>
                <a:spcPts val="0"/>
              </a:spcBef>
              <a:spcAft>
                <a:spcPts val="600"/>
              </a:spcAft>
            </a:pPr>
            <a:r>
              <a:rPr sz="1680" b="1">
                <a:solidFill>
                  <a:srgbClr val="FFFFFF"/>
                </a:solidFill>
                <a:latin typeface="Archivo"/>
              </a:rPr>
              <a:t>Windowed FMG input</a:t>
            </a:r>
          </a:p>
        </p:txBody>
      </p:sp>
      <p:sp>
        <p:nvSpPr>
          <p:cNvPr id="14" name="TextBox 13"/>
          <p:cNvSpPr txBox="1"/>
          <p:nvPr/>
        </p:nvSpPr>
        <p:spPr>
          <a:xfrm>
            <a:off x="1097280" y="3840480"/>
            <a:ext cx="7200900" cy="411480"/>
          </a:xfrm>
          <a:prstGeom prst="rect">
            <a:avLst/>
          </a:prstGeom>
          <a:noFill/>
        </p:spPr>
        <p:txBody>
          <a:bodyPr wrap="square" lIns="0" tIns="0" rIns="0" bIns="0" anchor="t">
            <a:spAutoFit/>
          </a:bodyPr>
          <a:lstStyle/>
          <a:p>
            <a:pPr algn="l">
              <a:lnSpc>
                <a:spcPct val="100000"/>
              </a:lnSpc>
              <a:spcBef>
                <a:spcPts val="0"/>
              </a:spcBef>
              <a:spcAft>
                <a:spcPts val="600"/>
              </a:spcAft>
            </a:pPr>
            <a:r>
              <a:rPr sz="1425" b="0">
                <a:solidFill>
                  <a:srgbClr val="B8C2CC"/>
                </a:solidFill>
                <a:latin typeface="Archivo"/>
              </a:rPr>
              <a:t>a short slice of sensor history</a:t>
            </a:r>
          </a:p>
        </p:txBody>
      </p:sp>
      <p:cxnSp>
        <p:nvCxnSpPr>
          <p:cNvPr id="15" name="Connector 14"/>
          <p:cNvCxnSpPr/>
          <p:nvPr/>
        </p:nvCxnSpPr>
        <p:spPr>
          <a:xfrm>
            <a:off x="4594860" y="4169664"/>
            <a:ext cx="0" cy="164592"/>
          </a:xfrm>
          <a:prstGeom prst="line">
            <a:avLst/>
          </a:prstGeom>
          <a:ln w="28575">
            <a:solidFill>
              <a:srgbClr val="1C273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4380" y="4334256"/>
            <a:ext cx="7680960" cy="795528"/>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54380" y="4471416"/>
            <a:ext cx="109728" cy="521206"/>
          </a:xfrm>
          <a:prstGeom prst="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4443984"/>
            <a:ext cx="7132320" cy="411480"/>
          </a:xfrm>
          <a:prstGeom prst="rect">
            <a:avLst/>
          </a:prstGeom>
          <a:noFill/>
        </p:spPr>
        <p:txBody>
          <a:bodyPr wrap="square" lIns="0" tIns="0" rIns="0" bIns="0" anchor="t">
            <a:spAutoFit/>
          </a:bodyPr>
          <a:lstStyle/>
          <a:p>
            <a:pPr algn="l">
              <a:lnSpc>
                <a:spcPct val="100000"/>
              </a:lnSpc>
              <a:spcBef>
                <a:spcPts val="0"/>
              </a:spcBef>
              <a:spcAft>
                <a:spcPts val="600"/>
              </a:spcAft>
            </a:pPr>
            <a:r>
              <a:rPr sz="1680" b="1">
                <a:solidFill>
                  <a:srgbClr val="FFFFFF"/>
                </a:solidFill>
                <a:latin typeface="Archivo"/>
              </a:rPr>
              <a:t>MobileNetV2 blocks</a:t>
            </a:r>
          </a:p>
        </p:txBody>
      </p:sp>
      <p:sp>
        <p:nvSpPr>
          <p:cNvPr id="19" name="TextBox 18"/>
          <p:cNvSpPr txBox="1"/>
          <p:nvPr/>
        </p:nvSpPr>
        <p:spPr>
          <a:xfrm>
            <a:off x="1097280" y="4800600"/>
            <a:ext cx="7200900" cy="411480"/>
          </a:xfrm>
          <a:prstGeom prst="rect">
            <a:avLst/>
          </a:prstGeom>
          <a:noFill/>
        </p:spPr>
        <p:txBody>
          <a:bodyPr wrap="square" lIns="0" tIns="0" rIns="0" bIns="0" anchor="t">
            <a:spAutoFit/>
          </a:bodyPr>
          <a:lstStyle/>
          <a:p>
            <a:pPr algn="l">
              <a:lnSpc>
                <a:spcPct val="100000"/>
              </a:lnSpc>
              <a:spcBef>
                <a:spcPts val="0"/>
              </a:spcBef>
              <a:spcAft>
                <a:spcPts val="600"/>
              </a:spcAft>
            </a:pPr>
            <a:r>
              <a:rPr sz="1425" b="0">
                <a:solidFill>
                  <a:srgbClr val="B8C2CC"/>
                </a:solidFill>
                <a:latin typeface="Archivo"/>
              </a:rPr>
              <a:t>extract features from the signal</a:t>
            </a:r>
          </a:p>
        </p:txBody>
      </p:sp>
      <p:cxnSp>
        <p:nvCxnSpPr>
          <p:cNvPr id="20" name="Connector 19"/>
          <p:cNvCxnSpPr/>
          <p:nvPr/>
        </p:nvCxnSpPr>
        <p:spPr>
          <a:xfrm>
            <a:off x="4594860" y="5129784"/>
            <a:ext cx="0" cy="164592"/>
          </a:xfrm>
          <a:prstGeom prst="line">
            <a:avLst/>
          </a:prstGeom>
          <a:ln w="28575">
            <a:solidFill>
              <a:srgbClr val="1C273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4380" y="5294376"/>
            <a:ext cx="7680960" cy="795528"/>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54380" y="5431536"/>
            <a:ext cx="109728" cy="521206"/>
          </a:xfrm>
          <a:prstGeom prst="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5404104"/>
            <a:ext cx="7132320" cy="411480"/>
          </a:xfrm>
          <a:prstGeom prst="rect">
            <a:avLst/>
          </a:prstGeom>
          <a:noFill/>
        </p:spPr>
        <p:txBody>
          <a:bodyPr wrap="square" lIns="0" tIns="0" rIns="0" bIns="0" anchor="t">
            <a:spAutoFit/>
          </a:bodyPr>
          <a:lstStyle/>
          <a:p>
            <a:pPr algn="l">
              <a:lnSpc>
                <a:spcPct val="100000"/>
              </a:lnSpc>
              <a:spcBef>
                <a:spcPts val="0"/>
              </a:spcBef>
              <a:spcAft>
                <a:spcPts val="600"/>
              </a:spcAft>
            </a:pPr>
            <a:r>
              <a:rPr sz="1680" b="1">
                <a:solidFill>
                  <a:srgbClr val="FFFFFF"/>
                </a:solidFill>
                <a:latin typeface="Archivo"/>
              </a:rPr>
              <a:t>TCN (temporal conv.)</a:t>
            </a:r>
          </a:p>
        </p:txBody>
      </p:sp>
      <p:sp>
        <p:nvSpPr>
          <p:cNvPr id="24" name="TextBox 23"/>
          <p:cNvSpPr txBox="1"/>
          <p:nvPr/>
        </p:nvSpPr>
        <p:spPr>
          <a:xfrm>
            <a:off x="1097280" y="5760720"/>
            <a:ext cx="7200900" cy="411480"/>
          </a:xfrm>
          <a:prstGeom prst="rect">
            <a:avLst/>
          </a:prstGeom>
          <a:noFill/>
        </p:spPr>
        <p:txBody>
          <a:bodyPr wrap="square" lIns="0" tIns="0" rIns="0" bIns="0" anchor="t">
            <a:spAutoFit/>
          </a:bodyPr>
          <a:lstStyle/>
          <a:p>
            <a:pPr algn="l">
              <a:lnSpc>
                <a:spcPct val="100000"/>
              </a:lnSpc>
              <a:spcBef>
                <a:spcPts val="0"/>
              </a:spcBef>
              <a:spcAft>
                <a:spcPts val="600"/>
              </a:spcAft>
            </a:pPr>
            <a:r>
              <a:rPr sz="1425" b="0">
                <a:solidFill>
                  <a:srgbClr val="B8C2CC"/>
                </a:solidFill>
                <a:latin typeface="Archivo"/>
              </a:rPr>
              <a:t>model how the signal evolves in time</a:t>
            </a:r>
          </a:p>
        </p:txBody>
      </p:sp>
      <p:cxnSp>
        <p:nvCxnSpPr>
          <p:cNvPr id="25" name="Connector 24"/>
          <p:cNvCxnSpPr/>
          <p:nvPr/>
        </p:nvCxnSpPr>
        <p:spPr>
          <a:xfrm>
            <a:off x="4594860" y="6089904"/>
            <a:ext cx="0" cy="164592"/>
          </a:xfrm>
          <a:prstGeom prst="line">
            <a:avLst/>
          </a:prstGeom>
          <a:ln w="28575">
            <a:solidFill>
              <a:srgbClr val="1C273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54380" y="6254496"/>
            <a:ext cx="7680960" cy="795528"/>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54380" y="6391656"/>
            <a:ext cx="109728" cy="521206"/>
          </a:xfrm>
          <a:prstGeom prst="rect">
            <a:avLst/>
          </a:prstGeom>
          <a:solidFill>
            <a:srgbClr val="BCA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97280" y="6364224"/>
            <a:ext cx="7132320" cy="411480"/>
          </a:xfrm>
          <a:prstGeom prst="rect">
            <a:avLst/>
          </a:prstGeom>
          <a:noFill/>
        </p:spPr>
        <p:txBody>
          <a:bodyPr wrap="square" lIns="0" tIns="0" rIns="0" bIns="0" anchor="t">
            <a:spAutoFit/>
          </a:bodyPr>
          <a:lstStyle/>
          <a:p>
            <a:pPr algn="l">
              <a:lnSpc>
                <a:spcPct val="100000"/>
              </a:lnSpc>
              <a:spcBef>
                <a:spcPts val="0"/>
              </a:spcBef>
              <a:spcAft>
                <a:spcPts val="600"/>
              </a:spcAft>
            </a:pPr>
            <a:r>
              <a:rPr sz="1680" b="1">
                <a:solidFill>
                  <a:srgbClr val="FFFFFF"/>
                </a:solidFill>
                <a:latin typeface="Archivo"/>
              </a:rPr>
              <a:t>Regularised shared layer</a:t>
            </a:r>
          </a:p>
        </p:txBody>
      </p:sp>
      <p:sp>
        <p:nvSpPr>
          <p:cNvPr id="29" name="TextBox 28"/>
          <p:cNvSpPr txBox="1"/>
          <p:nvPr/>
        </p:nvSpPr>
        <p:spPr>
          <a:xfrm>
            <a:off x="1097280" y="6720840"/>
            <a:ext cx="7200900" cy="411480"/>
          </a:xfrm>
          <a:prstGeom prst="rect">
            <a:avLst/>
          </a:prstGeom>
          <a:noFill/>
        </p:spPr>
        <p:txBody>
          <a:bodyPr wrap="square" lIns="0" tIns="0" rIns="0" bIns="0" anchor="t">
            <a:spAutoFit/>
          </a:bodyPr>
          <a:lstStyle/>
          <a:p>
            <a:pPr algn="l">
              <a:lnSpc>
                <a:spcPct val="100000"/>
              </a:lnSpc>
              <a:spcBef>
                <a:spcPts val="0"/>
              </a:spcBef>
              <a:spcAft>
                <a:spcPts val="600"/>
              </a:spcAft>
            </a:pPr>
            <a:r>
              <a:rPr sz="1425" b="0">
                <a:solidFill>
                  <a:srgbClr val="B8C2CC"/>
                </a:solidFill>
                <a:latin typeface="Archivo"/>
              </a:rPr>
              <a:t>robust, compact representation</a:t>
            </a:r>
          </a:p>
        </p:txBody>
      </p:sp>
      <p:cxnSp>
        <p:nvCxnSpPr>
          <p:cNvPr id="30" name="Connector 29"/>
          <p:cNvCxnSpPr/>
          <p:nvPr/>
        </p:nvCxnSpPr>
        <p:spPr>
          <a:xfrm>
            <a:off x="4594860" y="7050024"/>
            <a:ext cx="0" cy="164592"/>
          </a:xfrm>
          <a:prstGeom prst="line">
            <a:avLst/>
          </a:prstGeom>
          <a:ln w="28575">
            <a:solidFill>
              <a:srgbClr val="1C273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54380" y="7214616"/>
            <a:ext cx="7680960" cy="905256"/>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54380" y="7351776"/>
            <a:ext cx="109728" cy="630936"/>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97280" y="7324344"/>
            <a:ext cx="7132320" cy="411480"/>
          </a:xfrm>
          <a:prstGeom prst="rect">
            <a:avLst/>
          </a:prstGeom>
          <a:noFill/>
        </p:spPr>
        <p:txBody>
          <a:bodyPr wrap="square" lIns="0" tIns="0" rIns="0" bIns="0" anchor="t">
            <a:spAutoFit/>
          </a:bodyPr>
          <a:lstStyle/>
          <a:p>
            <a:pPr algn="l">
              <a:lnSpc>
                <a:spcPct val="100000"/>
              </a:lnSpc>
              <a:spcBef>
                <a:spcPts val="0"/>
              </a:spcBef>
              <a:spcAft>
                <a:spcPts val="600"/>
              </a:spcAft>
            </a:pPr>
            <a:r>
              <a:rPr sz="1680" b="1">
                <a:solidFill>
                  <a:srgbClr val="FFFFFF"/>
                </a:solidFill>
                <a:latin typeface="Archivo"/>
              </a:rPr>
              <a:t>Two heads — Classification + Regression</a:t>
            </a:r>
          </a:p>
        </p:txBody>
      </p:sp>
      <p:sp>
        <p:nvSpPr>
          <p:cNvPr id="34" name="TextBox 33"/>
          <p:cNvSpPr txBox="1"/>
          <p:nvPr/>
        </p:nvSpPr>
        <p:spPr>
          <a:xfrm>
            <a:off x="1097280" y="7680960"/>
            <a:ext cx="7200900" cy="411480"/>
          </a:xfrm>
          <a:prstGeom prst="rect">
            <a:avLst/>
          </a:prstGeom>
          <a:noFill/>
        </p:spPr>
        <p:txBody>
          <a:bodyPr wrap="square" lIns="0" tIns="0" rIns="0" bIns="0" anchor="t">
            <a:spAutoFit/>
          </a:bodyPr>
          <a:lstStyle/>
          <a:p>
            <a:pPr algn="l">
              <a:lnSpc>
                <a:spcPct val="100000"/>
              </a:lnSpc>
              <a:spcBef>
                <a:spcPts val="0"/>
              </a:spcBef>
              <a:spcAft>
                <a:spcPts val="600"/>
              </a:spcAft>
            </a:pPr>
            <a:r>
              <a:rPr sz="1425" b="0">
                <a:solidFill>
                  <a:srgbClr val="B8C2CC"/>
                </a:solidFill>
                <a:latin typeface="Archivo"/>
              </a:rPr>
              <a:t>gesture  +  continuous joint angles</a:t>
            </a:r>
          </a:p>
        </p:txBody>
      </p:sp>
      <p:sp>
        <p:nvSpPr>
          <p:cNvPr id="35" name="TextBox 34"/>
          <p:cNvSpPr txBox="1"/>
          <p:nvPr/>
        </p:nvSpPr>
        <p:spPr>
          <a:xfrm>
            <a:off x="8915400" y="2880360"/>
            <a:ext cx="8641080" cy="411480"/>
          </a:xfrm>
          <a:prstGeom prst="rect">
            <a:avLst/>
          </a:prstGeom>
          <a:noFill/>
        </p:spPr>
        <p:txBody>
          <a:bodyPr wrap="square" lIns="0" tIns="0" rIns="0" bIns="0" anchor="t">
            <a:spAutoFit/>
          </a:bodyPr>
          <a:lstStyle/>
          <a:p>
            <a:pPr algn="l">
              <a:lnSpc>
                <a:spcPct val="100000"/>
              </a:lnSpc>
              <a:spcBef>
                <a:spcPts val="0"/>
              </a:spcBef>
              <a:spcAft>
                <a:spcPts val="600"/>
              </a:spcAft>
            </a:pPr>
            <a:r>
              <a:rPr sz="1875" b="1">
                <a:solidFill>
                  <a:srgbClr val="FFFFFF"/>
                </a:solidFill>
                <a:latin typeface="Archivo"/>
              </a:rPr>
              <a:t>Why these choices</a:t>
            </a:r>
          </a:p>
        </p:txBody>
      </p:sp>
      <p:sp>
        <p:nvSpPr>
          <p:cNvPr id="36" name="Rounded Rectangle 35"/>
          <p:cNvSpPr/>
          <p:nvPr/>
        </p:nvSpPr>
        <p:spPr>
          <a:xfrm>
            <a:off x="8915400" y="3374136"/>
            <a:ext cx="8641080" cy="1399032"/>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915400" y="3538728"/>
            <a:ext cx="109728" cy="1069848"/>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217152" y="3538728"/>
            <a:ext cx="8229600" cy="411480"/>
          </a:xfrm>
          <a:prstGeom prst="rect">
            <a:avLst/>
          </a:prstGeom>
          <a:noFill/>
        </p:spPr>
        <p:txBody>
          <a:bodyPr wrap="square" lIns="0" tIns="0" rIns="0" bIns="0" anchor="t">
            <a:spAutoFit/>
          </a:bodyPr>
          <a:lstStyle/>
          <a:p>
            <a:pPr algn="l">
              <a:lnSpc>
                <a:spcPct val="100000"/>
              </a:lnSpc>
              <a:spcBef>
                <a:spcPts val="0"/>
              </a:spcBef>
              <a:spcAft>
                <a:spcPts val="600"/>
              </a:spcAft>
            </a:pPr>
            <a:r>
              <a:rPr sz="1740" b="1">
                <a:solidFill>
                  <a:srgbClr val="FFFFFF"/>
                </a:solidFill>
                <a:latin typeface="Archivo"/>
              </a:rPr>
              <a:t>Why classification + regression</a:t>
            </a:r>
          </a:p>
        </p:txBody>
      </p:sp>
      <p:sp>
        <p:nvSpPr>
          <p:cNvPr id="39" name="TextBox 38"/>
          <p:cNvSpPr txBox="1"/>
          <p:nvPr/>
        </p:nvSpPr>
        <p:spPr>
          <a:xfrm>
            <a:off x="9217152" y="3922776"/>
            <a:ext cx="8229600" cy="754380"/>
          </a:xfrm>
          <a:prstGeom prst="rect">
            <a:avLst/>
          </a:prstGeom>
          <a:noFill/>
        </p:spPr>
        <p:txBody>
          <a:bodyPr wrap="square" lIns="0" tIns="0" rIns="0" bIns="0" anchor="t">
            <a:spAutoFit/>
          </a:bodyPr>
          <a:lstStyle/>
          <a:p>
            <a:pPr algn="l">
              <a:lnSpc>
                <a:spcPct val="105000"/>
              </a:lnSpc>
              <a:spcBef>
                <a:spcPts val="0"/>
              </a:spcBef>
              <a:spcAft>
                <a:spcPts val="600"/>
              </a:spcAft>
            </a:pPr>
            <a:r>
              <a:rPr sz="1440" b="0">
                <a:solidFill>
                  <a:srgbClr val="B8C2CC"/>
                </a:solidFill>
                <a:latin typeface="Archivo"/>
              </a:rPr>
              <a:t>Classification picks the intended gesture; regression outputs the exact joint angles. Together they give smooth, proportional motion instead of fixed on/off grips.</a:t>
            </a:r>
          </a:p>
        </p:txBody>
      </p:sp>
      <p:sp>
        <p:nvSpPr>
          <p:cNvPr id="40" name="Rounded Rectangle 39"/>
          <p:cNvSpPr/>
          <p:nvPr/>
        </p:nvSpPr>
        <p:spPr>
          <a:xfrm>
            <a:off x="8915400" y="4910328"/>
            <a:ext cx="8641080" cy="1399032"/>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915400" y="5074920"/>
            <a:ext cx="109728" cy="1069848"/>
          </a:xfrm>
          <a:prstGeom prst="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217152" y="5074920"/>
            <a:ext cx="8229600" cy="411480"/>
          </a:xfrm>
          <a:prstGeom prst="rect">
            <a:avLst/>
          </a:prstGeom>
          <a:noFill/>
        </p:spPr>
        <p:txBody>
          <a:bodyPr wrap="square" lIns="0" tIns="0" rIns="0" bIns="0" anchor="t">
            <a:spAutoFit/>
          </a:bodyPr>
          <a:lstStyle/>
          <a:p>
            <a:pPr algn="l">
              <a:lnSpc>
                <a:spcPct val="100000"/>
              </a:lnSpc>
              <a:spcBef>
                <a:spcPts val="0"/>
              </a:spcBef>
              <a:spcAft>
                <a:spcPts val="600"/>
              </a:spcAft>
            </a:pPr>
            <a:r>
              <a:rPr sz="1740" b="1">
                <a:solidFill>
                  <a:srgbClr val="FFFFFF"/>
                </a:solidFill>
                <a:latin typeface="Archivo"/>
              </a:rPr>
              <a:t>Why MobileNetV2</a:t>
            </a:r>
          </a:p>
        </p:txBody>
      </p:sp>
      <p:sp>
        <p:nvSpPr>
          <p:cNvPr id="43" name="TextBox 42"/>
          <p:cNvSpPr txBox="1"/>
          <p:nvPr/>
        </p:nvSpPr>
        <p:spPr>
          <a:xfrm>
            <a:off x="9217152" y="5458968"/>
            <a:ext cx="8229600" cy="754380"/>
          </a:xfrm>
          <a:prstGeom prst="rect">
            <a:avLst/>
          </a:prstGeom>
          <a:noFill/>
        </p:spPr>
        <p:txBody>
          <a:bodyPr wrap="square" lIns="0" tIns="0" rIns="0" bIns="0" anchor="t">
            <a:spAutoFit/>
          </a:bodyPr>
          <a:lstStyle/>
          <a:p>
            <a:pPr algn="l">
              <a:lnSpc>
                <a:spcPct val="105000"/>
              </a:lnSpc>
              <a:spcBef>
                <a:spcPts val="0"/>
              </a:spcBef>
              <a:spcAft>
                <a:spcPts val="600"/>
              </a:spcAft>
            </a:pPr>
            <a:r>
              <a:rPr sz="1440" b="0">
                <a:solidFill>
                  <a:srgbClr val="B8C2CC"/>
                </a:solidFill>
                <a:latin typeface="Archivo"/>
              </a:rPr>
              <a:t>Lightweight and efficient — built for edge devices — so it runs on the Raspberry Pi within our power and latency budget, with far fewer parameters than a full CNN.</a:t>
            </a:r>
          </a:p>
        </p:txBody>
      </p:sp>
      <p:sp>
        <p:nvSpPr>
          <p:cNvPr id="44" name="Rounded Rectangle 43"/>
          <p:cNvSpPr/>
          <p:nvPr/>
        </p:nvSpPr>
        <p:spPr>
          <a:xfrm>
            <a:off x="8915400" y="6446520"/>
            <a:ext cx="8641080" cy="1399032"/>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915400" y="6611112"/>
            <a:ext cx="109728" cy="1069848"/>
          </a:xfrm>
          <a:prstGeom prst="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217152" y="6611112"/>
            <a:ext cx="8229600" cy="411480"/>
          </a:xfrm>
          <a:prstGeom prst="rect">
            <a:avLst/>
          </a:prstGeom>
          <a:noFill/>
        </p:spPr>
        <p:txBody>
          <a:bodyPr wrap="square" lIns="0" tIns="0" rIns="0" bIns="0" anchor="t">
            <a:spAutoFit/>
          </a:bodyPr>
          <a:lstStyle/>
          <a:p>
            <a:pPr algn="l">
              <a:lnSpc>
                <a:spcPct val="100000"/>
              </a:lnSpc>
              <a:spcBef>
                <a:spcPts val="0"/>
              </a:spcBef>
              <a:spcAft>
                <a:spcPts val="600"/>
              </a:spcAft>
            </a:pPr>
            <a:r>
              <a:rPr sz="1740" b="1">
                <a:solidFill>
                  <a:srgbClr val="FFFFFF"/>
                </a:solidFill>
                <a:latin typeface="Archivo"/>
              </a:rPr>
              <a:t>Why a TCN (not an RNN/LSTM)</a:t>
            </a:r>
          </a:p>
        </p:txBody>
      </p:sp>
      <p:sp>
        <p:nvSpPr>
          <p:cNvPr id="47" name="TextBox 46"/>
          <p:cNvSpPr txBox="1"/>
          <p:nvPr/>
        </p:nvSpPr>
        <p:spPr>
          <a:xfrm>
            <a:off x="9217152" y="6995160"/>
            <a:ext cx="8229600" cy="754380"/>
          </a:xfrm>
          <a:prstGeom prst="rect">
            <a:avLst/>
          </a:prstGeom>
          <a:noFill/>
        </p:spPr>
        <p:txBody>
          <a:bodyPr wrap="square" lIns="0" tIns="0" rIns="0" bIns="0" anchor="t">
            <a:spAutoFit/>
          </a:bodyPr>
          <a:lstStyle/>
          <a:p>
            <a:pPr algn="l">
              <a:lnSpc>
                <a:spcPct val="105000"/>
              </a:lnSpc>
              <a:spcBef>
                <a:spcPts val="0"/>
              </a:spcBef>
              <a:spcAft>
                <a:spcPts val="600"/>
              </a:spcAft>
            </a:pPr>
            <a:r>
              <a:rPr sz="1440" b="0">
                <a:solidFill>
                  <a:srgbClr val="B8C2CC"/>
                </a:solidFill>
                <a:latin typeface="Archivo"/>
              </a:rPr>
              <a:t>Convolutions over time capture the muscle pattern as it unfolds, run fast in parallel, and avoid the unstable gradients of recurrent nets — better for real-time control.</a:t>
            </a:r>
          </a:p>
        </p:txBody>
      </p:sp>
      <p:sp>
        <p:nvSpPr>
          <p:cNvPr id="48" name="Rounded Rectangle 47"/>
          <p:cNvSpPr/>
          <p:nvPr/>
        </p:nvSpPr>
        <p:spPr>
          <a:xfrm>
            <a:off x="8915400" y="7982712"/>
            <a:ext cx="8641080" cy="1399032"/>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915400" y="8147304"/>
            <a:ext cx="109728" cy="1069848"/>
          </a:xfrm>
          <a:prstGeom prst="rect">
            <a:avLst/>
          </a:prstGeom>
          <a:solidFill>
            <a:srgbClr val="BCA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217152" y="8147304"/>
            <a:ext cx="8229600" cy="411480"/>
          </a:xfrm>
          <a:prstGeom prst="rect">
            <a:avLst/>
          </a:prstGeom>
          <a:noFill/>
        </p:spPr>
        <p:txBody>
          <a:bodyPr wrap="square" lIns="0" tIns="0" rIns="0" bIns="0" anchor="t">
            <a:spAutoFit/>
          </a:bodyPr>
          <a:lstStyle/>
          <a:p>
            <a:pPr algn="l">
              <a:lnSpc>
                <a:spcPct val="100000"/>
              </a:lnSpc>
              <a:spcBef>
                <a:spcPts val="0"/>
              </a:spcBef>
              <a:spcAft>
                <a:spcPts val="600"/>
              </a:spcAft>
            </a:pPr>
            <a:r>
              <a:rPr sz="1740" b="1">
                <a:solidFill>
                  <a:srgbClr val="FFFFFF"/>
                </a:solidFill>
                <a:latin typeface="Archivo"/>
              </a:rPr>
              <a:t>Why on-device + confidence gating</a:t>
            </a:r>
          </a:p>
        </p:txBody>
      </p:sp>
      <p:sp>
        <p:nvSpPr>
          <p:cNvPr id="51" name="TextBox 50"/>
          <p:cNvSpPr txBox="1"/>
          <p:nvPr/>
        </p:nvSpPr>
        <p:spPr>
          <a:xfrm>
            <a:off x="9217152" y="8531352"/>
            <a:ext cx="8229600" cy="754380"/>
          </a:xfrm>
          <a:prstGeom prst="rect">
            <a:avLst/>
          </a:prstGeom>
          <a:noFill/>
        </p:spPr>
        <p:txBody>
          <a:bodyPr wrap="square" lIns="0" tIns="0" rIns="0" bIns="0" anchor="t">
            <a:spAutoFit/>
          </a:bodyPr>
          <a:lstStyle/>
          <a:p>
            <a:pPr algn="l">
              <a:lnSpc>
                <a:spcPct val="105000"/>
              </a:lnSpc>
              <a:spcBef>
                <a:spcPts val="0"/>
              </a:spcBef>
              <a:spcAft>
                <a:spcPts val="600"/>
              </a:spcAft>
            </a:pPr>
            <a:r>
              <a:rPr sz="1440" b="0">
                <a:solidFill>
                  <a:srgbClr val="B8C2CC"/>
                </a:solidFill>
                <a:latin typeface="Archivo"/>
              </a:rPr>
              <a:t>Local inference removes network delay and protects privacy; the hand acts only when the model is confident, keeping motion safe and stable.</a:t>
            </a:r>
          </a:p>
        </p:txBody>
      </p:sp>
      <p:sp>
        <p:nvSpPr>
          <p:cNvPr id="52" name="TextBox 51"/>
          <p:cNvSpPr txBox="1"/>
          <p:nvPr/>
        </p:nvSpPr>
        <p:spPr>
          <a:xfrm>
            <a:off x="754380" y="9656064"/>
            <a:ext cx="109728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50" b="0">
                <a:solidFill>
                  <a:srgbClr val="B8C2CC"/>
                </a:solidFill>
                <a:latin typeface="JetBrains Mono"/>
              </a:rPr>
              <a:t>JoTouch — Technical Brief · Sensing, Control &amp; AI</a:t>
            </a:r>
          </a:p>
        </p:txBody>
      </p:sp>
      <p:sp>
        <p:nvSpPr>
          <p:cNvPr id="53" name="TextBox 52"/>
          <p:cNvSpPr txBox="1"/>
          <p:nvPr/>
        </p:nvSpPr>
        <p:spPr>
          <a:xfrm>
            <a:off x="15361920" y="9656064"/>
            <a:ext cx="2194560" cy="411480"/>
          </a:xfrm>
          <a:prstGeom prst="rect">
            <a:avLst/>
          </a:prstGeom>
          <a:noFill/>
        </p:spPr>
        <p:txBody>
          <a:bodyPr wrap="square" lIns="0" tIns="0" rIns="0" bIns="0" anchor="ctr">
            <a:spAutoFit/>
          </a:bodyPr>
          <a:lstStyle/>
          <a:p>
            <a:pPr algn="r">
              <a:lnSpc>
                <a:spcPct val="100000"/>
              </a:lnSpc>
              <a:spcBef>
                <a:spcPts val="0"/>
              </a:spcBef>
              <a:spcAft>
                <a:spcPts val="600"/>
              </a:spcAft>
            </a:pPr>
            <a:r>
              <a:rPr sz="1350" b="1">
                <a:solidFill>
                  <a:srgbClr val="B8C2CC"/>
                </a:solidFill>
                <a:latin typeface="JetBrains Mono"/>
              </a:rPr>
              <a:t>16 / 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Oval 1"/>
          <p:cNvSpPr/>
          <p:nvPr/>
        </p:nvSpPr>
        <p:spPr>
          <a:xfrm>
            <a:off x="754380" y="603504"/>
            <a:ext cx="411480" cy="4114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576072"/>
            <a:ext cx="15087600" cy="466344"/>
          </a:xfrm>
          <a:prstGeom prst="rect">
            <a:avLst/>
          </a:prstGeom>
          <a:noFill/>
        </p:spPr>
        <p:txBody>
          <a:bodyPr wrap="square" lIns="0" tIns="0" rIns="0" bIns="0" anchor="ctr">
            <a:spAutoFit/>
          </a:bodyPr>
          <a:lstStyle/>
          <a:p>
            <a:pPr algn="l">
              <a:lnSpc>
                <a:spcPct val="100000"/>
              </a:lnSpc>
              <a:spcBef>
                <a:spcPts val="0"/>
              </a:spcBef>
              <a:spcAft>
                <a:spcPts val="600"/>
              </a:spcAft>
            </a:pPr>
            <a:r>
              <a:rPr sz="1875" b="1">
                <a:solidFill>
                  <a:srgbClr val="00D4FF"/>
                </a:solidFill>
                <a:latin typeface="JetBrains Mono"/>
              </a:rPr>
              <a:t>03 · ONLINE PER-PATIENT TRAINING</a:t>
            </a:r>
          </a:p>
        </p:txBody>
      </p:sp>
      <p:sp>
        <p:nvSpPr>
          <p:cNvPr id="4" name="TextBox 3"/>
          <p:cNvSpPr txBox="1"/>
          <p:nvPr/>
        </p:nvSpPr>
        <p:spPr>
          <a:xfrm>
            <a:off x="754380" y="1069848"/>
            <a:ext cx="15087600" cy="822960"/>
          </a:xfrm>
          <a:prstGeom prst="rect">
            <a:avLst/>
          </a:prstGeom>
          <a:noFill/>
        </p:spPr>
        <p:txBody>
          <a:bodyPr wrap="square" lIns="0" tIns="0" rIns="0" bIns="0" anchor="t">
            <a:spAutoFit/>
          </a:bodyPr>
          <a:lstStyle/>
          <a:p>
            <a:pPr algn="l">
              <a:lnSpc>
                <a:spcPct val="100000"/>
              </a:lnSpc>
              <a:spcBef>
                <a:spcPts val="0"/>
              </a:spcBef>
              <a:spcAft>
                <a:spcPts val="600"/>
              </a:spcAft>
            </a:pPr>
            <a:r>
              <a:rPr sz="4050" b="1">
                <a:solidFill>
                  <a:srgbClr val="FFFFFF"/>
                </a:solidFill>
                <a:latin typeface="Archivo"/>
              </a:rPr>
              <a:t>The hand learns each patient over time</a:t>
            </a:r>
          </a:p>
        </p:txBody>
      </p:sp>
      <p:sp>
        <p:nvSpPr>
          <p:cNvPr id="5" name="Rounded Rectangle 4"/>
          <p:cNvSpPr/>
          <p:nvPr/>
        </p:nvSpPr>
        <p:spPr>
          <a:xfrm>
            <a:off x="14676120" y="658368"/>
            <a:ext cx="2880360" cy="411480"/>
          </a:xfrm>
          <a:prstGeom prst="roundRect">
            <a:avLst>
              <a:gd name="adj" fmla="val 50000"/>
            </a:avLst>
          </a:prstGeom>
          <a:noFill/>
          <a:ln w="22860">
            <a:solidFill>
              <a:srgbClr val="5C69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4840710" y="802386"/>
            <a:ext cx="137160" cy="137160"/>
          </a:xfrm>
          <a:prstGeom prst="ellipse">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087600" y="658368"/>
            <a:ext cx="24003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50" b="1">
                <a:solidFill>
                  <a:srgbClr val="8A97A6"/>
                </a:solidFill>
                <a:latin typeface="JetBrains Mono"/>
              </a:rPr>
              <a:t>PLANNED</a:t>
            </a:r>
          </a:p>
        </p:txBody>
      </p:sp>
      <p:sp>
        <p:nvSpPr>
          <p:cNvPr id="8" name="Rounded Rectangle 7"/>
          <p:cNvSpPr/>
          <p:nvPr/>
        </p:nvSpPr>
        <p:spPr>
          <a:xfrm>
            <a:off x="754380" y="1783080"/>
            <a:ext cx="16802100" cy="1069848"/>
          </a:xfrm>
          <a:prstGeom prst="roundRect">
            <a:avLst>
              <a:gd name="adj" fmla="val 6000"/>
            </a:avLst>
          </a:prstGeom>
          <a:solidFill>
            <a:srgbClr val="0F1419"/>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1920240"/>
            <a:ext cx="4114800" cy="411480"/>
          </a:xfrm>
          <a:prstGeom prst="rect">
            <a:avLst/>
          </a:prstGeom>
          <a:noFill/>
        </p:spPr>
        <p:txBody>
          <a:bodyPr wrap="square" lIns="0" tIns="0" rIns="0" bIns="0" anchor="t">
            <a:spAutoFit/>
          </a:bodyPr>
          <a:lstStyle/>
          <a:p>
            <a:pPr algn="l">
              <a:lnSpc>
                <a:spcPct val="100000"/>
              </a:lnSpc>
              <a:spcBef>
                <a:spcPts val="0"/>
              </a:spcBef>
              <a:spcAft>
                <a:spcPts val="600"/>
              </a:spcAft>
            </a:pPr>
            <a:r>
              <a:rPr sz="1575" b="1">
                <a:solidFill>
                  <a:srgbClr val="39D9A6"/>
                </a:solidFill>
                <a:latin typeface="Archivo"/>
              </a:rPr>
              <a:t>Sensor → motor weights</a:t>
            </a:r>
          </a:p>
        </p:txBody>
      </p:sp>
      <p:sp>
        <p:nvSpPr>
          <p:cNvPr id="10" name="Rounded Rectangle 9"/>
          <p:cNvSpPr/>
          <p:nvPr/>
        </p:nvSpPr>
        <p:spPr>
          <a:xfrm>
            <a:off x="1097280" y="2276856"/>
            <a:ext cx="6446520" cy="438912"/>
          </a:xfrm>
          <a:prstGeom prst="roundRect">
            <a:avLst>
              <a:gd name="adj" fmla="val 30000"/>
            </a:avLst>
          </a:prstGeom>
          <a:solidFill>
            <a:srgbClr val="12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71600" y="2276856"/>
            <a:ext cx="6172200" cy="438912"/>
          </a:xfrm>
          <a:prstGeom prst="rect">
            <a:avLst/>
          </a:prstGeom>
          <a:noFill/>
        </p:spPr>
        <p:txBody>
          <a:bodyPr wrap="square" lIns="0" tIns="0" rIns="0" bIns="0" anchor="ctr">
            <a:spAutoFit/>
          </a:bodyPr>
          <a:lstStyle/>
          <a:p>
            <a:pPr algn="l">
              <a:lnSpc>
                <a:spcPct val="100000"/>
              </a:lnSpc>
              <a:spcBef>
                <a:spcPts val="0"/>
              </a:spcBef>
              <a:spcAft>
                <a:spcPts val="600"/>
              </a:spcAft>
            </a:pPr>
            <a:r>
              <a:rPr sz="1500" b="1">
                <a:solidFill>
                  <a:srgbClr val="F2A01E"/>
                </a:solidFill>
                <a:latin typeface="Archivo"/>
              </a:rPr>
              <a:t>① Initial  </a:t>
            </a:r>
            <a:r>
              <a:rPr sz="1440" b="0">
                <a:solidFill>
                  <a:srgbClr val="FFFFFF"/>
                </a:solidFill>
                <a:latin typeface="Archivo"/>
              </a:rPr>
              <a:t>fixed weights trained on our dataset</a:t>
            </a:r>
          </a:p>
        </p:txBody>
      </p:sp>
      <p:cxnSp>
        <p:nvCxnSpPr>
          <p:cNvPr id="12" name="Connector 11"/>
          <p:cNvCxnSpPr/>
          <p:nvPr/>
        </p:nvCxnSpPr>
        <p:spPr>
          <a:xfrm>
            <a:off x="7680960" y="2496312"/>
            <a:ext cx="1028700" cy="0"/>
          </a:xfrm>
          <a:prstGeom prst="line">
            <a:avLst/>
          </a:prstGeom>
          <a:ln w="41910">
            <a:solidFill>
              <a:srgbClr val="39D9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846820" y="2276856"/>
            <a:ext cx="7680960" cy="438912"/>
          </a:xfrm>
          <a:prstGeom prst="roundRect">
            <a:avLst>
              <a:gd name="adj" fmla="val 30000"/>
            </a:avLst>
          </a:prstGeom>
          <a:solidFill>
            <a:srgbClr val="12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21140" y="2276856"/>
            <a:ext cx="7406640" cy="438912"/>
          </a:xfrm>
          <a:prstGeom prst="rect">
            <a:avLst/>
          </a:prstGeom>
          <a:noFill/>
        </p:spPr>
        <p:txBody>
          <a:bodyPr wrap="square" lIns="0" tIns="0" rIns="0" bIns="0" anchor="ctr">
            <a:spAutoFit/>
          </a:bodyPr>
          <a:lstStyle/>
          <a:p>
            <a:pPr algn="l">
              <a:lnSpc>
                <a:spcPct val="100000"/>
              </a:lnSpc>
              <a:spcBef>
                <a:spcPts val="0"/>
              </a:spcBef>
              <a:spcAft>
                <a:spcPts val="600"/>
              </a:spcAft>
            </a:pPr>
            <a:r>
              <a:rPr sz="1500" b="1">
                <a:solidFill>
                  <a:srgbClr val="39D9A6"/>
                </a:solidFill>
                <a:latin typeface="Archivo"/>
              </a:rPr>
              <a:t>② Per-patient  </a:t>
            </a:r>
            <a:r>
              <a:rPr sz="1440" b="0">
                <a:solidFill>
                  <a:srgbClr val="FFFFFF"/>
                </a:solidFill>
                <a:latin typeface="Archivo"/>
              </a:rPr>
              <a:t>updated online for each user over time</a:t>
            </a:r>
          </a:p>
        </p:txBody>
      </p:sp>
      <p:sp>
        <p:nvSpPr>
          <p:cNvPr id="15" name="Rounded Rectangle 14"/>
          <p:cNvSpPr/>
          <p:nvPr/>
        </p:nvSpPr>
        <p:spPr>
          <a:xfrm>
            <a:off x="754380" y="3182112"/>
            <a:ext cx="7543800" cy="4114800"/>
          </a:xfrm>
          <a:prstGeom prst="roundRect">
            <a:avLst>
              <a:gd name="adj" fmla="val 6000"/>
            </a:avLst>
          </a:prstGeom>
          <a:solidFill>
            <a:srgbClr val="12181F"/>
          </a:solidFill>
          <a:ln w="19050">
            <a:solidFill>
              <a:srgbClr val="1C2730"/>
            </a:solid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3346704"/>
            <a:ext cx="6858000" cy="411480"/>
          </a:xfrm>
          <a:prstGeom prst="rect">
            <a:avLst/>
          </a:prstGeom>
          <a:noFill/>
        </p:spPr>
        <p:txBody>
          <a:bodyPr wrap="square" lIns="0" tIns="0" rIns="0" bIns="0" anchor="t">
            <a:spAutoFit/>
          </a:bodyPr>
          <a:lstStyle/>
          <a:p>
            <a:pPr algn="l">
              <a:lnSpc>
                <a:spcPct val="100000"/>
              </a:lnSpc>
              <a:spcBef>
                <a:spcPts val="0"/>
              </a:spcBef>
              <a:spcAft>
                <a:spcPts val="600"/>
              </a:spcAft>
            </a:pPr>
            <a:r>
              <a:rPr sz="1875" b="1">
                <a:solidFill>
                  <a:srgbClr val="FFFFFF"/>
                </a:solidFill>
                <a:latin typeface="Archivo"/>
              </a:rPr>
              <a:t>How we get the signals</a:t>
            </a:r>
          </a:p>
        </p:txBody>
      </p:sp>
      <p:sp>
        <p:nvSpPr>
          <p:cNvPr id="17" name="Oval 16"/>
          <p:cNvSpPr/>
          <p:nvPr/>
        </p:nvSpPr>
        <p:spPr>
          <a:xfrm>
            <a:off x="1097280" y="3922776"/>
            <a:ext cx="192024" cy="192024"/>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26464" y="3799332"/>
            <a:ext cx="65836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Input — intent</a:t>
            </a:r>
          </a:p>
        </p:txBody>
      </p:sp>
      <p:sp>
        <p:nvSpPr>
          <p:cNvPr id="19" name="TextBox 18"/>
          <p:cNvSpPr txBox="1"/>
          <p:nvPr/>
        </p:nvSpPr>
        <p:spPr>
          <a:xfrm>
            <a:off x="1426464" y="4197094"/>
            <a:ext cx="6652260" cy="822960"/>
          </a:xfrm>
          <a:prstGeom prst="rect">
            <a:avLst/>
          </a:prstGeom>
          <a:noFill/>
        </p:spPr>
        <p:txBody>
          <a:bodyPr wrap="square" lIns="0" tIns="0" rIns="0" bIns="0" anchor="t">
            <a:spAutoFit/>
          </a:bodyPr>
          <a:lstStyle/>
          <a:p>
            <a:pPr algn="l">
              <a:lnSpc>
                <a:spcPct val="104000"/>
              </a:lnSpc>
              <a:spcBef>
                <a:spcPts val="0"/>
              </a:spcBef>
              <a:spcAft>
                <a:spcPts val="600"/>
              </a:spcAft>
            </a:pPr>
            <a:r>
              <a:rPr sz="1440" b="0">
                <a:solidFill>
                  <a:srgbClr val="B8C2CC"/>
                </a:solidFill>
                <a:latin typeface="Archivo"/>
              </a:rPr>
              <a:t>The forearm FMG sensors capture what the patient is trying to do.</a:t>
            </a:r>
          </a:p>
        </p:txBody>
      </p:sp>
      <p:sp>
        <p:nvSpPr>
          <p:cNvPr id="20" name="Oval 19"/>
          <p:cNvSpPr/>
          <p:nvPr/>
        </p:nvSpPr>
        <p:spPr>
          <a:xfrm>
            <a:off x="1097280" y="5047486"/>
            <a:ext cx="192024" cy="192024"/>
          </a:xfrm>
          <a:prstGeom prst="ellipse">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6464" y="4924044"/>
            <a:ext cx="65836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Output — ground truth</a:t>
            </a:r>
          </a:p>
        </p:txBody>
      </p:sp>
      <p:sp>
        <p:nvSpPr>
          <p:cNvPr id="22" name="TextBox 21"/>
          <p:cNvSpPr txBox="1"/>
          <p:nvPr/>
        </p:nvSpPr>
        <p:spPr>
          <a:xfrm>
            <a:off x="1426464" y="5321808"/>
            <a:ext cx="6652260" cy="822960"/>
          </a:xfrm>
          <a:prstGeom prst="rect">
            <a:avLst/>
          </a:prstGeom>
          <a:noFill/>
        </p:spPr>
        <p:txBody>
          <a:bodyPr wrap="square" lIns="0" tIns="0" rIns="0" bIns="0" anchor="t">
            <a:spAutoFit/>
          </a:bodyPr>
          <a:lstStyle/>
          <a:p>
            <a:pPr algn="l">
              <a:lnSpc>
                <a:spcPct val="104000"/>
              </a:lnSpc>
              <a:spcBef>
                <a:spcPts val="0"/>
              </a:spcBef>
              <a:spcAft>
                <a:spcPts val="600"/>
              </a:spcAft>
            </a:pPr>
            <a:r>
              <a:rPr sz="1440" b="0">
                <a:solidFill>
                  <a:srgbClr val="B8C2CC"/>
                </a:solidFill>
                <a:latin typeface="Archivo"/>
              </a:rPr>
              <a:t>The motor encoders report the real joint positions, giving a matched (intent → motion) pair every moment — no extra lab equipment.</a:t>
            </a:r>
          </a:p>
        </p:txBody>
      </p:sp>
      <p:sp>
        <p:nvSpPr>
          <p:cNvPr id="23" name="Oval 22"/>
          <p:cNvSpPr/>
          <p:nvPr/>
        </p:nvSpPr>
        <p:spPr>
          <a:xfrm>
            <a:off x="1097280" y="6172200"/>
            <a:ext cx="192024" cy="192024"/>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426464" y="6048756"/>
            <a:ext cx="6583680" cy="411480"/>
          </a:xfrm>
          <a:prstGeom prst="rect">
            <a:avLst/>
          </a:prstGeom>
          <a:noFill/>
        </p:spPr>
        <p:txBody>
          <a:bodyPr wrap="square" lIns="0" tIns="0" rIns="0" bIns="0" anchor="t">
            <a:spAutoFit/>
          </a:bodyPr>
          <a:lstStyle/>
          <a:p>
            <a:pPr algn="l">
              <a:lnSpc>
                <a:spcPct val="100000"/>
              </a:lnSpc>
              <a:spcBef>
                <a:spcPts val="0"/>
              </a:spcBef>
              <a:spcAft>
                <a:spcPts val="600"/>
              </a:spcAft>
            </a:pPr>
            <a:r>
              <a:rPr sz="1695" b="1">
                <a:solidFill>
                  <a:srgbClr val="FFFFFF"/>
                </a:solidFill>
                <a:latin typeface="Archivo"/>
              </a:rPr>
              <a:t>Supervised calibration</a:t>
            </a:r>
          </a:p>
        </p:txBody>
      </p:sp>
      <p:sp>
        <p:nvSpPr>
          <p:cNvPr id="25" name="TextBox 24"/>
          <p:cNvSpPr txBox="1"/>
          <p:nvPr/>
        </p:nvSpPr>
        <p:spPr>
          <a:xfrm>
            <a:off x="1426464" y="6446520"/>
            <a:ext cx="6652260" cy="822960"/>
          </a:xfrm>
          <a:prstGeom prst="rect">
            <a:avLst/>
          </a:prstGeom>
          <a:noFill/>
        </p:spPr>
        <p:txBody>
          <a:bodyPr wrap="square" lIns="0" tIns="0" rIns="0" bIns="0" anchor="t">
            <a:spAutoFit/>
          </a:bodyPr>
          <a:lstStyle/>
          <a:p>
            <a:pPr algn="l">
              <a:lnSpc>
                <a:spcPct val="104000"/>
              </a:lnSpc>
              <a:spcBef>
                <a:spcPts val="0"/>
              </a:spcBef>
              <a:spcAft>
                <a:spcPts val="600"/>
              </a:spcAft>
            </a:pPr>
            <a:r>
              <a:rPr sz="1440" b="0">
                <a:solidFill>
                  <a:srgbClr val="B8C2CC"/>
                </a:solidFill>
                <a:latin typeface="Archivo"/>
              </a:rPr>
              <a:t>In a guided session the patient performs prescribed movements, so the collected pairs are trustworthy labels for learning.</a:t>
            </a:r>
          </a:p>
        </p:txBody>
      </p:sp>
      <p:sp>
        <p:nvSpPr>
          <p:cNvPr id="26" name="TextBox 25"/>
          <p:cNvSpPr txBox="1"/>
          <p:nvPr/>
        </p:nvSpPr>
        <p:spPr>
          <a:xfrm>
            <a:off x="8709660" y="3182112"/>
            <a:ext cx="8778240" cy="411480"/>
          </a:xfrm>
          <a:prstGeom prst="rect">
            <a:avLst/>
          </a:prstGeom>
          <a:noFill/>
        </p:spPr>
        <p:txBody>
          <a:bodyPr wrap="square" lIns="0" tIns="0" rIns="0" bIns="0" anchor="t">
            <a:spAutoFit/>
          </a:bodyPr>
          <a:lstStyle/>
          <a:p>
            <a:pPr algn="l">
              <a:lnSpc>
                <a:spcPct val="100000"/>
              </a:lnSpc>
              <a:spcBef>
                <a:spcPts val="0"/>
              </a:spcBef>
              <a:spcAft>
                <a:spcPts val="600"/>
              </a:spcAft>
            </a:pPr>
            <a:r>
              <a:rPr sz="1875" b="1">
                <a:solidFill>
                  <a:srgbClr val="FFFFFF"/>
                </a:solidFill>
                <a:latin typeface="Archivo"/>
              </a:rPr>
              <a:t>The personalisation loop</a:t>
            </a:r>
          </a:p>
        </p:txBody>
      </p:sp>
      <p:sp>
        <p:nvSpPr>
          <p:cNvPr id="27" name="Rounded Rectangle 26"/>
          <p:cNvSpPr/>
          <p:nvPr/>
        </p:nvSpPr>
        <p:spPr>
          <a:xfrm>
            <a:off x="9025128" y="3854196"/>
            <a:ext cx="3566160" cy="1371600"/>
          </a:xfrm>
          <a:prstGeom prst="roundRect">
            <a:avLst>
              <a:gd name="adj" fmla="val 12000"/>
            </a:avLst>
          </a:prstGeom>
          <a:solidFill>
            <a:srgbClr val="073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15400" y="3730752"/>
            <a:ext cx="3566160" cy="1371600"/>
          </a:xfrm>
          <a:prstGeom prst="roundRect">
            <a:avLst>
              <a:gd name="adj" fmla="val 12000"/>
            </a:avLst>
          </a:prstGeom>
          <a:gradFill>
            <a:gsLst>
              <a:gs pos="0">
                <a:srgbClr val="00D4FF"/>
              </a:gs>
              <a:gs pos="100000">
                <a:srgbClr val="00D4FF"/>
              </a:gs>
            </a:gsLst>
            <a:lin ang="4200000" scaled="1"/>
          </a:gra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15400" y="3730752"/>
            <a:ext cx="3566160" cy="123444"/>
          </a:xfrm>
          <a:prstGeom prst="rect">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07424" y="3895344"/>
            <a:ext cx="3182112" cy="1124712"/>
          </a:xfrm>
          <a:prstGeom prst="rect">
            <a:avLst/>
          </a:prstGeom>
          <a:noFill/>
        </p:spPr>
        <p:txBody>
          <a:bodyPr wrap="square" lIns="0" tIns="0" rIns="0" bIns="0" anchor="ctr">
            <a:spAutoFit/>
          </a:bodyPr>
          <a:lstStyle/>
          <a:p>
            <a:pPr algn="l">
              <a:lnSpc>
                <a:spcPct val="100000"/>
              </a:lnSpc>
              <a:spcBef>
                <a:spcPts val="0"/>
              </a:spcBef>
              <a:spcAft>
                <a:spcPts val="300"/>
              </a:spcAft>
            </a:pPr>
            <a:r>
              <a:rPr sz="1875" b="1">
                <a:solidFill>
                  <a:srgbClr val="0F1419"/>
                </a:solidFill>
                <a:latin typeface="Archivo"/>
              </a:rPr>
              <a:t>1 · Use / calibrate</a:t>
            </a:r>
          </a:p>
          <a:p>
            <a:pPr algn="l">
              <a:lnSpc>
                <a:spcPct val="100000"/>
              </a:lnSpc>
              <a:spcBef>
                <a:spcPts val="0"/>
              </a:spcBef>
              <a:spcAft>
                <a:spcPts val="300"/>
              </a:spcAft>
            </a:pPr>
            <a:r>
              <a:rPr sz="1395" b="0">
                <a:solidFill>
                  <a:srgbClr val="0F1419"/>
                </a:solidFill>
                <a:latin typeface="Archivo"/>
              </a:rPr>
              <a:t>FMG in · encoder angles out</a:t>
            </a:r>
          </a:p>
        </p:txBody>
      </p:sp>
      <p:sp>
        <p:nvSpPr>
          <p:cNvPr id="31" name="Rounded Rectangle 30"/>
          <p:cNvSpPr/>
          <p:nvPr/>
        </p:nvSpPr>
        <p:spPr>
          <a:xfrm>
            <a:off x="13962888" y="3854196"/>
            <a:ext cx="3566160" cy="1371600"/>
          </a:xfrm>
          <a:prstGeom prst="roundRect">
            <a:avLst>
              <a:gd name="adj" fmla="val 12000"/>
            </a:avLst>
          </a:prstGeom>
          <a:solidFill>
            <a:srgbClr val="103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3853160" y="3730752"/>
            <a:ext cx="3566160" cy="1371600"/>
          </a:xfrm>
          <a:prstGeom prst="roundRect">
            <a:avLst>
              <a:gd name="adj" fmla="val 12000"/>
            </a:avLst>
          </a:prstGeom>
          <a:gradFill>
            <a:gsLst>
              <a:gs pos="0">
                <a:srgbClr val="39D9A6"/>
              </a:gs>
              <a:gs pos="100000">
                <a:srgbClr val="39D9A6"/>
              </a:gs>
            </a:gsLst>
            <a:lin ang="4200000" scaled="1"/>
          </a:gra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3853160" y="3730752"/>
            <a:ext cx="3566160" cy="123444"/>
          </a:xfrm>
          <a:prstGeom prst="rect">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4045184" y="3895344"/>
            <a:ext cx="3182112" cy="1124712"/>
          </a:xfrm>
          <a:prstGeom prst="rect">
            <a:avLst/>
          </a:prstGeom>
          <a:noFill/>
        </p:spPr>
        <p:txBody>
          <a:bodyPr wrap="square" lIns="0" tIns="0" rIns="0" bIns="0" anchor="ctr">
            <a:spAutoFit/>
          </a:bodyPr>
          <a:lstStyle/>
          <a:p>
            <a:pPr algn="l">
              <a:lnSpc>
                <a:spcPct val="100000"/>
              </a:lnSpc>
              <a:spcBef>
                <a:spcPts val="0"/>
              </a:spcBef>
              <a:spcAft>
                <a:spcPts val="300"/>
              </a:spcAft>
            </a:pPr>
            <a:r>
              <a:rPr sz="1875" b="1">
                <a:solidFill>
                  <a:srgbClr val="0F1419"/>
                </a:solidFill>
                <a:latin typeface="Archivo"/>
              </a:rPr>
              <a:t>2 · Learn online</a:t>
            </a:r>
          </a:p>
          <a:p>
            <a:pPr algn="l">
              <a:lnSpc>
                <a:spcPct val="100000"/>
              </a:lnSpc>
              <a:spcBef>
                <a:spcPts val="0"/>
              </a:spcBef>
              <a:spcAft>
                <a:spcPts val="300"/>
              </a:spcAft>
            </a:pPr>
            <a:r>
              <a:rPr sz="1395" b="0">
                <a:solidFill>
                  <a:srgbClr val="0F1419"/>
                </a:solidFill>
                <a:latin typeface="Archivo"/>
              </a:rPr>
              <a:t>refine on this patient's data</a:t>
            </a:r>
          </a:p>
        </p:txBody>
      </p:sp>
      <p:sp>
        <p:nvSpPr>
          <p:cNvPr id="35" name="Rounded Rectangle 34"/>
          <p:cNvSpPr/>
          <p:nvPr/>
        </p:nvSpPr>
        <p:spPr>
          <a:xfrm>
            <a:off x="13962888" y="6089902"/>
            <a:ext cx="3566160" cy="1371600"/>
          </a:xfrm>
          <a:prstGeom prst="roundRect">
            <a:avLst>
              <a:gd name="adj" fmla="val 12000"/>
            </a:avLst>
          </a:prstGeom>
          <a:solidFill>
            <a:srgbClr val="3A2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3853160" y="5966458"/>
            <a:ext cx="3566160" cy="1371600"/>
          </a:xfrm>
          <a:prstGeom prst="roundRect">
            <a:avLst>
              <a:gd name="adj" fmla="val 12000"/>
            </a:avLst>
          </a:prstGeom>
          <a:gradFill>
            <a:gsLst>
              <a:gs pos="0">
                <a:srgbClr val="F2A01E"/>
              </a:gs>
              <a:gs pos="100000">
                <a:srgbClr val="F2A01E"/>
              </a:gs>
            </a:gsLst>
            <a:lin ang="4200000" scaled="1"/>
          </a:gra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3853160" y="5966458"/>
            <a:ext cx="3566160" cy="123444"/>
          </a:xfrm>
          <a:prstGeom prst="rect">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4045184" y="6131052"/>
            <a:ext cx="3182112" cy="1124712"/>
          </a:xfrm>
          <a:prstGeom prst="rect">
            <a:avLst/>
          </a:prstGeom>
          <a:noFill/>
        </p:spPr>
        <p:txBody>
          <a:bodyPr wrap="square" lIns="0" tIns="0" rIns="0" bIns="0" anchor="ctr">
            <a:spAutoFit/>
          </a:bodyPr>
          <a:lstStyle/>
          <a:p>
            <a:pPr algn="l">
              <a:lnSpc>
                <a:spcPct val="100000"/>
              </a:lnSpc>
              <a:spcBef>
                <a:spcPts val="0"/>
              </a:spcBef>
              <a:spcAft>
                <a:spcPts val="300"/>
              </a:spcAft>
            </a:pPr>
            <a:r>
              <a:rPr sz="1875" b="1">
                <a:solidFill>
                  <a:srgbClr val="0F1419"/>
                </a:solidFill>
                <a:latin typeface="Archivo"/>
              </a:rPr>
              <a:t>3 · Accuracy check</a:t>
            </a:r>
          </a:p>
          <a:p>
            <a:pPr algn="l">
              <a:lnSpc>
                <a:spcPct val="100000"/>
              </a:lnSpc>
              <a:spcBef>
                <a:spcPts val="0"/>
              </a:spcBef>
              <a:spcAft>
                <a:spcPts val="300"/>
              </a:spcAft>
            </a:pPr>
            <a:r>
              <a:rPr sz="1395" b="0">
                <a:solidFill>
                  <a:srgbClr val="0F1419"/>
                </a:solidFill>
                <a:latin typeface="Archivo"/>
              </a:rPr>
              <a:t>does it reach our target?</a:t>
            </a:r>
          </a:p>
        </p:txBody>
      </p:sp>
      <p:sp>
        <p:nvSpPr>
          <p:cNvPr id="39" name="Rounded Rectangle 38"/>
          <p:cNvSpPr/>
          <p:nvPr/>
        </p:nvSpPr>
        <p:spPr>
          <a:xfrm>
            <a:off x="9025128" y="6089902"/>
            <a:ext cx="3566160" cy="1371600"/>
          </a:xfrm>
          <a:prstGeom prst="roundRect">
            <a:avLst>
              <a:gd name="adj" fmla="val 12000"/>
            </a:avLst>
          </a:prstGeom>
          <a:solidFill>
            <a:srgbClr val="2A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8915400" y="5966458"/>
            <a:ext cx="3566160" cy="1371600"/>
          </a:xfrm>
          <a:prstGeom prst="roundRect">
            <a:avLst>
              <a:gd name="adj" fmla="val 12000"/>
            </a:avLst>
          </a:prstGeom>
          <a:gradFill>
            <a:gsLst>
              <a:gs pos="0">
                <a:srgbClr val="BCA2F2"/>
              </a:gs>
              <a:gs pos="100000">
                <a:srgbClr val="BCA2F2"/>
              </a:gs>
            </a:gsLst>
            <a:lin ang="4200000" scaled="1"/>
          </a:gra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915400" y="5966458"/>
            <a:ext cx="3566160" cy="123444"/>
          </a:xfrm>
          <a:prstGeom prst="rect">
            <a:avLst/>
          </a:prstGeom>
          <a:solidFill>
            <a:srgbClr val="5C69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107424" y="6131052"/>
            <a:ext cx="3182112" cy="1124712"/>
          </a:xfrm>
          <a:prstGeom prst="rect">
            <a:avLst/>
          </a:prstGeom>
          <a:noFill/>
        </p:spPr>
        <p:txBody>
          <a:bodyPr wrap="square" lIns="0" tIns="0" rIns="0" bIns="0" anchor="ctr">
            <a:spAutoFit/>
          </a:bodyPr>
          <a:lstStyle/>
          <a:p>
            <a:pPr algn="l">
              <a:lnSpc>
                <a:spcPct val="100000"/>
              </a:lnSpc>
              <a:spcBef>
                <a:spcPts val="0"/>
              </a:spcBef>
              <a:spcAft>
                <a:spcPts val="300"/>
              </a:spcAft>
            </a:pPr>
            <a:r>
              <a:rPr sz="1875" b="1">
                <a:solidFill>
                  <a:srgbClr val="0F1419"/>
                </a:solidFill>
                <a:latin typeface="Archivo"/>
              </a:rPr>
              <a:t>4 · Update weights</a:t>
            </a:r>
          </a:p>
          <a:p>
            <a:pPr algn="l">
              <a:lnSpc>
                <a:spcPct val="100000"/>
              </a:lnSpc>
              <a:spcBef>
                <a:spcPts val="0"/>
              </a:spcBef>
              <a:spcAft>
                <a:spcPts val="300"/>
              </a:spcAft>
            </a:pPr>
            <a:r>
              <a:rPr sz="1395" b="0">
                <a:solidFill>
                  <a:srgbClr val="0F1419"/>
                </a:solidFill>
                <a:latin typeface="Archivo"/>
              </a:rPr>
              <a:t>push refined weights to Teensy</a:t>
            </a:r>
          </a:p>
        </p:txBody>
      </p:sp>
      <p:cxnSp>
        <p:nvCxnSpPr>
          <p:cNvPr id="43" name="Connector 42"/>
          <p:cNvCxnSpPr/>
          <p:nvPr/>
        </p:nvCxnSpPr>
        <p:spPr>
          <a:xfrm>
            <a:off x="12481560" y="4416552"/>
            <a:ext cx="1371600" cy="0"/>
          </a:xfrm>
          <a:prstGeom prst="line">
            <a:avLst/>
          </a:prstGeom>
          <a:ln w="381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5636240" y="5102352"/>
            <a:ext cx="0" cy="864106"/>
          </a:xfrm>
          <a:prstGeom prst="line">
            <a:avLst/>
          </a:prstGeom>
          <a:ln w="381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2481560" y="6652260"/>
            <a:ext cx="1371600" cy="0"/>
          </a:xfrm>
          <a:prstGeom prst="line">
            <a:avLst/>
          </a:prstGeom>
          <a:ln w="381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698480" y="5102352"/>
            <a:ext cx="0" cy="864106"/>
          </a:xfrm>
          <a:prstGeom prst="line">
            <a:avLst/>
          </a:prstGeom>
          <a:ln w="38100">
            <a:solidFill>
              <a:srgbClr val="00D4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355580" y="5417820"/>
            <a:ext cx="5486400" cy="411480"/>
          </a:xfrm>
          <a:prstGeom prst="rect">
            <a:avLst/>
          </a:prstGeom>
          <a:noFill/>
        </p:spPr>
        <p:txBody>
          <a:bodyPr wrap="square" lIns="0" tIns="0" rIns="0" bIns="0" anchor="t">
            <a:spAutoFit/>
          </a:bodyPr>
          <a:lstStyle/>
          <a:p>
            <a:pPr algn="ctr">
              <a:lnSpc>
                <a:spcPct val="100000"/>
              </a:lnSpc>
              <a:spcBef>
                <a:spcPts val="0"/>
              </a:spcBef>
              <a:spcAft>
                <a:spcPts val="600"/>
              </a:spcAft>
            </a:pPr>
            <a:r>
              <a:rPr sz="1425" b="1" i="1">
                <a:solidFill>
                  <a:srgbClr val="F2A01E"/>
                </a:solidFill>
                <a:latin typeface="Archivo"/>
              </a:rPr>
              <a:t>once target accuracy is met</a:t>
            </a:r>
          </a:p>
        </p:txBody>
      </p:sp>
      <p:sp>
        <p:nvSpPr>
          <p:cNvPr id="48" name="Rounded Rectangle 47"/>
          <p:cNvSpPr/>
          <p:nvPr/>
        </p:nvSpPr>
        <p:spPr>
          <a:xfrm>
            <a:off x="754380" y="7475220"/>
            <a:ext cx="7543800" cy="1645920"/>
          </a:xfrm>
          <a:prstGeom prst="roundRect">
            <a:avLst>
              <a:gd name="adj" fmla="val 6000"/>
            </a:avLst>
          </a:prstGeom>
          <a:solidFill>
            <a:srgbClr val="0F1419"/>
          </a:solidFill>
          <a:ln>
            <a:noFill/>
          </a:ln>
          <a:effectLst>
            <a:outerShdw blurRad="80000" dist="30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97280" y="7612380"/>
            <a:ext cx="6858000" cy="411480"/>
          </a:xfrm>
          <a:prstGeom prst="rect">
            <a:avLst/>
          </a:prstGeom>
          <a:noFill/>
        </p:spPr>
        <p:txBody>
          <a:bodyPr wrap="square" lIns="0" tIns="0" rIns="0" bIns="0" anchor="t">
            <a:spAutoFit/>
          </a:bodyPr>
          <a:lstStyle/>
          <a:p>
            <a:pPr algn="l">
              <a:lnSpc>
                <a:spcPct val="100000"/>
              </a:lnSpc>
              <a:spcBef>
                <a:spcPts val="0"/>
              </a:spcBef>
              <a:spcAft>
                <a:spcPts val="600"/>
              </a:spcAft>
            </a:pPr>
            <a:r>
              <a:rPr sz="1650" b="1">
                <a:solidFill>
                  <a:srgbClr val="FFFFFF"/>
                </a:solidFill>
                <a:latin typeface="Archivo"/>
              </a:rPr>
              <a:t>Why online, per-patient</a:t>
            </a:r>
          </a:p>
        </p:txBody>
      </p:sp>
      <p:sp>
        <p:nvSpPr>
          <p:cNvPr id="50" name="TextBox 49"/>
          <p:cNvSpPr txBox="1"/>
          <p:nvPr/>
        </p:nvSpPr>
        <p:spPr>
          <a:xfrm>
            <a:off x="1097280" y="8037576"/>
            <a:ext cx="6858000" cy="1028700"/>
          </a:xfrm>
          <a:prstGeom prst="rect">
            <a:avLst/>
          </a:prstGeom>
          <a:noFill/>
        </p:spPr>
        <p:txBody>
          <a:bodyPr wrap="square" lIns="0" tIns="0" rIns="0" bIns="0" anchor="t">
            <a:spAutoFit/>
          </a:bodyPr>
          <a:lstStyle/>
          <a:p>
            <a:pPr algn="l">
              <a:lnSpc>
                <a:spcPct val="110000"/>
              </a:lnSpc>
              <a:spcBef>
                <a:spcPts val="0"/>
              </a:spcBef>
              <a:spcAft>
                <a:spcPts val="600"/>
              </a:spcAft>
            </a:pPr>
            <a:r>
              <a:rPr sz="1410" b="0">
                <a:solidFill>
                  <a:srgbClr val="8A97A6"/>
                </a:solidFill>
                <a:latin typeface="Archivo"/>
              </a:rPr>
              <a:t>Anatomy and muscle activation differ per person and drift over time, so a fixed model degrades. Encoders supply ground truth continuously, letting the system keep improving itself.</a:t>
            </a:r>
          </a:p>
        </p:txBody>
      </p:sp>
      <p:sp>
        <p:nvSpPr>
          <p:cNvPr id="51" name="TextBox 50"/>
          <p:cNvSpPr txBox="1"/>
          <p:nvPr/>
        </p:nvSpPr>
        <p:spPr>
          <a:xfrm>
            <a:off x="754380" y="9656064"/>
            <a:ext cx="10972800" cy="411480"/>
          </a:xfrm>
          <a:prstGeom prst="rect">
            <a:avLst/>
          </a:prstGeom>
          <a:noFill/>
        </p:spPr>
        <p:txBody>
          <a:bodyPr wrap="square" lIns="0" tIns="0" rIns="0" bIns="0" anchor="ctr">
            <a:spAutoFit/>
          </a:bodyPr>
          <a:lstStyle/>
          <a:p>
            <a:pPr algn="l">
              <a:lnSpc>
                <a:spcPct val="100000"/>
              </a:lnSpc>
              <a:spcBef>
                <a:spcPts val="0"/>
              </a:spcBef>
              <a:spcAft>
                <a:spcPts val="600"/>
              </a:spcAft>
            </a:pPr>
            <a:r>
              <a:rPr sz="1350" b="0">
                <a:solidFill>
                  <a:srgbClr val="B8C2CC"/>
                </a:solidFill>
                <a:latin typeface="JetBrains Mono"/>
              </a:rPr>
              <a:t>JoTouch — Technical Brief · Sensing, Control &amp; AI</a:t>
            </a:r>
          </a:p>
        </p:txBody>
      </p:sp>
      <p:sp>
        <p:nvSpPr>
          <p:cNvPr id="52" name="TextBox 51"/>
          <p:cNvSpPr txBox="1"/>
          <p:nvPr/>
        </p:nvSpPr>
        <p:spPr>
          <a:xfrm>
            <a:off x="15361920" y="9656064"/>
            <a:ext cx="2194560" cy="411480"/>
          </a:xfrm>
          <a:prstGeom prst="rect">
            <a:avLst/>
          </a:prstGeom>
          <a:noFill/>
        </p:spPr>
        <p:txBody>
          <a:bodyPr wrap="square" lIns="0" tIns="0" rIns="0" bIns="0" anchor="ctr">
            <a:spAutoFit/>
          </a:bodyPr>
          <a:lstStyle/>
          <a:p>
            <a:pPr algn="r">
              <a:lnSpc>
                <a:spcPct val="100000"/>
              </a:lnSpc>
              <a:spcBef>
                <a:spcPts val="0"/>
              </a:spcBef>
              <a:spcAft>
                <a:spcPts val="600"/>
              </a:spcAft>
            </a:pPr>
            <a:r>
              <a:rPr sz="1350" b="1">
                <a:solidFill>
                  <a:srgbClr val="B8C2CC"/>
                </a:solidFill>
                <a:latin typeface="JetBrains Mono"/>
              </a:rPr>
              <a:t>17 / 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Oval 1"/>
          <p:cNvSpPr/>
          <p:nvPr/>
        </p:nvSpPr>
        <p:spPr>
          <a:xfrm>
            <a:off x="754380" y="603504"/>
            <a:ext cx="411480" cy="4114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1371600" y="576072"/>
            <a:ext cx="15087600" cy="466344"/>
          </a:xfrm>
          <a:prstGeom prst="rect">
            <a:avLst/>
          </a:prstGeom>
          <a:noFill/>
        </p:spPr>
        <p:txBody>
          <a:bodyPr wrap="square" lIns="0" tIns="0" rIns="0" bIns="0" anchor="ctr">
            <a:spAutoFit/>
          </a:bodyPr>
          <a:lstStyle/>
          <a:p>
            <a:pPr algn="l">
              <a:lnSpc>
                <a:spcPct val="100000"/>
              </a:lnSpc>
              <a:spcAft>
                <a:spcPts val="600"/>
              </a:spcAft>
            </a:pPr>
            <a:r>
              <a:rPr sz="1875" b="1">
                <a:solidFill>
                  <a:srgbClr val="00D4FF"/>
                </a:solidFill>
                <a:latin typeface="JetBrains Mono"/>
              </a:rPr>
              <a:t>05 · TRAINING DATA &amp; RESULTS</a:t>
            </a:r>
          </a:p>
        </p:txBody>
      </p:sp>
      <p:sp>
        <p:nvSpPr>
          <p:cNvPr id="4" name="TextBox 3"/>
          <p:cNvSpPr txBox="1"/>
          <p:nvPr/>
        </p:nvSpPr>
        <p:spPr>
          <a:xfrm>
            <a:off x="754380" y="1069848"/>
            <a:ext cx="15087600" cy="822960"/>
          </a:xfrm>
          <a:prstGeom prst="rect">
            <a:avLst/>
          </a:prstGeom>
          <a:noFill/>
        </p:spPr>
        <p:txBody>
          <a:bodyPr wrap="square" lIns="0" tIns="0" rIns="0" bIns="0" anchor="t">
            <a:spAutoFit/>
          </a:bodyPr>
          <a:lstStyle/>
          <a:p>
            <a:pPr algn="l">
              <a:lnSpc>
                <a:spcPct val="100000"/>
              </a:lnSpc>
              <a:spcAft>
                <a:spcPts val="600"/>
              </a:spcAft>
            </a:pPr>
            <a:r>
              <a:rPr sz="4050" b="1">
                <a:solidFill>
                  <a:srgbClr val="FFFFFF"/>
                </a:solidFill>
                <a:latin typeface="Archivo"/>
              </a:rPr>
              <a:t>Trained and tested on open-source FMG datasets</a:t>
            </a:r>
          </a:p>
        </p:txBody>
      </p:sp>
      <p:sp>
        <p:nvSpPr>
          <p:cNvPr id="5" name="Rounded Rectangle 4"/>
          <p:cNvSpPr/>
          <p:nvPr/>
        </p:nvSpPr>
        <p:spPr>
          <a:xfrm>
            <a:off x="14676120" y="658368"/>
            <a:ext cx="2880360" cy="411480"/>
          </a:xfrm>
          <a:prstGeom prst="roundRect">
            <a:avLst>
              <a:gd name="adj" fmla="val 50000"/>
            </a:avLst>
          </a:prstGeom>
          <a:noFill/>
          <a:ln w="22860">
            <a:solidFill>
              <a:srgbClr val="39D9A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Oval 5"/>
          <p:cNvSpPr/>
          <p:nvPr/>
        </p:nvSpPr>
        <p:spPr>
          <a:xfrm>
            <a:off x="14840712" y="802386"/>
            <a:ext cx="137160" cy="137160"/>
          </a:xfrm>
          <a:prstGeom prst="ellipse">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5087600" y="658368"/>
            <a:ext cx="2400300" cy="411480"/>
          </a:xfrm>
          <a:prstGeom prst="rect">
            <a:avLst/>
          </a:prstGeom>
          <a:noFill/>
        </p:spPr>
        <p:txBody>
          <a:bodyPr wrap="square" lIns="0" tIns="0" rIns="0" bIns="0" anchor="ctr">
            <a:spAutoFit/>
          </a:bodyPr>
          <a:lstStyle/>
          <a:p>
            <a:pPr algn="l">
              <a:lnSpc>
                <a:spcPct val="100000"/>
              </a:lnSpc>
              <a:spcAft>
                <a:spcPts val="600"/>
              </a:spcAft>
            </a:pPr>
            <a:r>
              <a:rPr sz="1350" b="1">
                <a:solidFill>
                  <a:srgbClr val="39D9A6"/>
                </a:solidFill>
                <a:latin typeface="JetBrains Mono"/>
              </a:rPr>
              <a:t>OPEN DATA</a:t>
            </a:r>
          </a:p>
        </p:txBody>
      </p:sp>
      <p:sp>
        <p:nvSpPr>
          <p:cNvPr id="8" name="Rounded Rectangle 7"/>
          <p:cNvSpPr/>
          <p:nvPr/>
        </p:nvSpPr>
        <p:spPr>
          <a:xfrm>
            <a:off x="754380" y="1783080"/>
            <a:ext cx="16802100" cy="768096"/>
          </a:xfrm>
          <a:prstGeom prst="roundRect">
            <a:avLst>
              <a:gd name="adj" fmla="val 18000"/>
            </a:avLst>
          </a:prstGeom>
          <a:solidFill>
            <a:srgbClr val="0F2620"/>
          </a:solidFill>
          <a:ln w="19050">
            <a:solidFill>
              <a:srgbClr val="39D9A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097280" y="1783080"/>
            <a:ext cx="16459200" cy="768096"/>
          </a:xfrm>
          <a:prstGeom prst="rect">
            <a:avLst/>
          </a:prstGeom>
          <a:noFill/>
        </p:spPr>
        <p:txBody>
          <a:bodyPr wrap="square" lIns="0" tIns="0" rIns="0" bIns="0" anchor="ctr">
            <a:spAutoFit/>
          </a:bodyPr>
          <a:lstStyle/>
          <a:p>
            <a:pPr algn="l">
              <a:lnSpc>
                <a:spcPct val="100000"/>
              </a:lnSpc>
              <a:spcAft>
                <a:spcPts val="600"/>
              </a:spcAft>
            </a:pPr>
            <a:r>
              <a:rPr sz="1725" b="1">
                <a:solidFill>
                  <a:srgbClr val="39D9A6"/>
                </a:solidFill>
                <a:latin typeface="Archivo"/>
              </a:rPr>
              <a:t>To be precise:  </a:t>
            </a:r>
            <a:r>
              <a:rPr sz="1650" b="0">
                <a:solidFill>
                  <a:srgbClr val="FFFFFF"/>
                </a:solidFill>
                <a:latin typeface="Archivo"/>
              </a:rPr>
              <a:t>we have not run our own human trials yet. JoTouchModel was trained end-to-end on </a:t>
            </a:r>
            <a:r>
              <a:rPr sz="1650" b="1">
                <a:solidFill>
                  <a:srgbClr val="00D4FF"/>
                </a:solidFill>
                <a:latin typeface="Archivo"/>
              </a:rPr>
              <a:t>three published open-source FMG datasets</a:t>
            </a:r>
            <a:r>
              <a:rPr sz="1650" b="0">
                <a:solidFill>
                  <a:srgbClr val="FFFFFF"/>
                </a:solidFill>
                <a:latin typeface="Archivo"/>
              </a:rPr>
              <a:t>  —  </a:t>
            </a:r>
            <a:r>
              <a:rPr sz="1650" b="1">
                <a:solidFill>
                  <a:srgbClr val="39D9A6"/>
                </a:solidFill>
                <a:latin typeface="Archivo"/>
              </a:rPr>
              <a:t>37,500 windows</a:t>
            </a:r>
            <a:r>
              <a:rPr sz="1650" b="0">
                <a:solidFill>
                  <a:srgbClr val="FFFFFF"/>
                </a:solidFill>
                <a:latin typeface="Archivo"/>
              </a:rPr>
              <a:t> — and scored on a 15% test set it never saw while training.</a:t>
            </a:r>
          </a:p>
        </p:txBody>
      </p:sp>
      <p:sp>
        <p:nvSpPr>
          <p:cNvPr id="10" name="TextBox 9"/>
          <p:cNvSpPr txBox="1"/>
          <p:nvPr/>
        </p:nvSpPr>
        <p:spPr>
          <a:xfrm>
            <a:off x="754380" y="2880360"/>
            <a:ext cx="7680960" cy="411480"/>
          </a:xfrm>
          <a:prstGeom prst="rect">
            <a:avLst/>
          </a:prstGeom>
          <a:noFill/>
        </p:spPr>
        <p:txBody>
          <a:bodyPr wrap="square" lIns="0" tIns="0" rIns="0" bIns="0" anchor="t">
            <a:spAutoFit/>
          </a:bodyPr>
          <a:lstStyle/>
          <a:p>
            <a:pPr algn="l">
              <a:lnSpc>
                <a:spcPct val="100000"/>
              </a:lnSpc>
              <a:spcAft>
                <a:spcPts val="600"/>
              </a:spcAft>
            </a:pPr>
            <a:r>
              <a:rPr sz="1875" b="1">
                <a:solidFill>
                  <a:srgbClr val="FFFFFF"/>
                </a:solidFill>
                <a:latin typeface="Archivo"/>
              </a:rPr>
              <a:t>The three datasets</a:t>
            </a:r>
          </a:p>
        </p:txBody>
      </p:sp>
      <p:sp>
        <p:nvSpPr>
          <p:cNvPr id="11" name="Rounded Rectangle 10"/>
          <p:cNvSpPr/>
          <p:nvPr/>
        </p:nvSpPr>
        <p:spPr>
          <a:xfrm>
            <a:off x="754380" y="3374136"/>
            <a:ext cx="7680960" cy="1399032"/>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754380" y="3538728"/>
            <a:ext cx="109728" cy="1069848"/>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1097280" y="3525012"/>
            <a:ext cx="7063738" cy="384048"/>
          </a:xfrm>
          <a:prstGeom prst="rect">
            <a:avLst/>
          </a:prstGeom>
          <a:noFill/>
        </p:spPr>
        <p:txBody>
          <a:bodyPr wrap="square" lIns="0" tIns="0" rIns="0" bIns="0" anchor="t">
            <a:spAutoFit/>
          </a:bodyPr>
          <a:lstStyle/>
          <a:p>
            <a:pPr algn="l">
              <a:lnSpc>
                <a:spcPct val="100000"/>
              </a:lnSpc>
              <a:spcAft>
                <a:spcPts val="600"/>
              </a:spcAft>
            </a:pPr>
            <a:r>
              <a:rPr sz="1680" b="1">
                <a:solidFill>
                  <a:srgbClr val="FFFFFF"/>
                </a:solidFill>
                <a:latin typeface="Archivo"/>
              </a:rPr>
              <a:t>Zenodo MDPI FMG  ·  17 subjects</a:t>
            </a:r>
          </a:p>
        </p:txBody>
      </p:sp>
      <p:sp>
        <p:nvSpPr>
          <p:cNvPr id="14" name="TextBox 13"/>
          <p:cNvSpPr txBox="1"/>
          <p:nvPr/>
        </p:nvSpPr>
        <p:spPr>
          <a:xfrm>
            <a:off x="1097280" y="3922776"/>
            <a:ext cx="7063738" cy="713232"/>
          </a:xfrm>
          <a:prstGeom prst="rect">
            <a:avLst/>
          </a:prstGeom>
          <a:noFill/>
        </p:spPr>
        <p:txBody>
          <a:bodyPr wrap="square" lIns="0" tIns="0" rIns="0" bIns="0" anchor="t">
            <a:spAutoFit/>
          </a:bodyPr>
          <a:lstStyle/>
          <a:p>
            <a:pPr algn="l">
              <a:lnSpc>
                <a:spcPct val="105000"/>
              </a:lnSpc>
              <a:spcAft>
                <a:spcPts val="600"/>
              </a:spcAft>
            </a:pPr>
            <a:r>
              <a:rPr sz="1395" b="0">
                <a:solidFill>
                  <a:srgbClr val="B8C2CC"/>
                </a:solidFill>
                <a:latin typeface="Archivo"/>
              </a:rPr>
              <a:t>Zakia &amp; Menon, MDPI Data 2022  ·  5 stage motions
12,500 windows  ·  8 channels × 20 steps (200 ms)</a:t>
            </a:r>
          </a:p>
        </p:txBody>
      </p:sp>
      <p:sp>
        <p:nvSpPr>
          <p:cNvPr id="15" name="Rounded Rectangle 14"/>
          <p:cNvSpPr/>
          <p:nvPr/>
        </p:nvSpPr>
        <p:spPr>
          <a:xfrm>
            <a:off x="754380" y="4937760"/>
            <a:ext cx="7680960" cy="1399032"/>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754380" y="5102352"/>
            <a:ext cx="109728" cy="1069848"/>
          </a:xfrm>
          <a:prstGeom prst="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097280" y="5088636"/>
            <a:ext cx="7063738" cy="384048"/>
          </a:xfrm>
          <a:prstGeom prst="rect">
            <a:avLst/>
          </a:prstGeom>
          <a:noFill/>
        </p:spPr>
        <p:txBody>
          <a:bodyPr wrap="square" lIns="0" tIns="0" rIns="0" bIns="0" anchor="t">
            <a:spAutoFit/>
          </a:bodyPr>
          <a:lstStyle/>
          <a:p>
            <a:pPr algn="l">
              <a:lnSpc>
                <a:spcPct val="100000"/>
              </a:lnSpc>
              <a:spcAft>
                <a:spcPts val="600"/>
              </a:spcAft>
            </a:pPr>
            <a:r>
              <a:rPr sz="1680" b="1">
                <a:solidFill>
                  <a:srgbClr val="FFFFFF"/>
                </a:solidFill>
                <a:latin typeface="Archivo"/>
              </a:rPr>
              <a:t>Exoskelebox FMG benchmark  ·  20 subjects</a:t>
            </a:r>
          </a:p>
        </p:txBody>
      </p:sp>
      <p:sp>
        <p:nvSpPr>
          <p:cNvPr id="18" name="TextBox 17"/>
          <p:cNvSpPr txBox="1"/>
          <p:nvPr/>
        </p:nvSpPr>
        <p:spPr>
          <a:xfrm>
            <a:off x="1097280" y="5486400"/>
            <a:ext cx="7063738" cy="713232"/>
          </a:xfrm>
          <a:prstGeom prst="rect">
            <a:avLst/>
          </a:prstGeom>
          <a:noFill/>
        </p:spPr>
        <p:txBody>
          <a:bodyPr wrap="square" lIns="0" tIns="0" rIns="0" bIns="0" anchor="t">
            <a:spAutoFit/>
          </a:bodyPr>
          <a:lstStyle/>
          <a:p>
            <a:pPr algn="l">
              <a:lnSpc>
                <a:spcPct val="105000"/>
              </a:lnSpc>
              <a:spcAft>
                <a:spcPts val="600"/>
              </a:spcAft>
            </a:pPr>
            <a:r>
              <a:rPr sz="1395" b="0">
                <a:solidFill>
                  <a:srgbClr val="B8C2CC"/>
                </a:solidFill>
                <a:latin typeface="Archivo"/>
              </a:rPr>
              <a:t>arXiv:2007.14918  ·  6 gestures × 3 wrist orientations
15,000 windows  ·  8 forearm FSR @ ~100 Hz</a:t>
            </a:r>
          </a:p>
        </p:txBody>
      </p:sp>
      <p:sp>
        <p:nvSpPr>
          <p:cNvPr id="19" name="Rounded Rectangle 18"/>
          <p:cNvSpPr/>
          <p:nvPr/>
        </p:nvSpPr>
        <p:spPr>
          <a:xfrm>
            <a:off x="754380" y="6501384"/>
            <a:ext cx="7680960" cy="1399032"/>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754380" y="6665976"/>
            <a:ext cx="109728" cy="1069848"/>
          </a:xfrm>
          <a:prstGeom prst="rect">
            <a:avLst/>
          </a:prstGeom>
          <a:solidFill>
            <a:srgbClr val="BCA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1097280" y="6652260"/>
            <a:ext cx="7063738" cy="384048"/>
          </a:xfrm>
          <a:prstGeom prst="rect">
            <a:avLst/>
          </a:prstGeom>
          <a:noFill/>
        </p:spPr>
        <p:txBody>
          <a:bodyPr wrap="square" lIns="0" tIns="0" rIns="0" bIns="0" anchor="t">
            <a:spAutoFit/>
          </a:bodyPr>
          <a:lstStyle/>
          <a:p>
            <a:pPr algn="l">
              <a:lnSpc>
                <a:spcPct val="100000"/>
              </a:lnSpc>
              <a:spcAft>
                <a:spcPts val="600"/>
              </a:spcAft>
            </a:pPr>
            <a:r>
              <a:rPr sz="1680" b="1">
                <a:solidFill>
                  <a:srgbClr val="FFFFFF"/>
                </a:solidFill>
                <a:latin typeface="Archivo"/>
              </a:rPr>
              <a:t>PLoS ONE 2025 FMG  ·  27 participants</a:t>
            </a:r>
          </a:p>
        </p:txBody>
      </p:sp>
      <p:sp>
        <p:nvSpPr>
          <p:cNvPr id="22" name="TextBox 21"/>
          <p:cNvSpPr txBox="1"/>
          <p:nvPr/>
        </p:nvSpPr>
        <p:spPr>
          <a:xfrm>
            <a:off x="1097280" y="7050024"/>
            <a:ext cx="7063738" cy="713232"/>
          </a:xfrm>
          <a:prstGeom prst="rect">
            <a:avLst/>
          </a:prstGeom>
          <a:noFill/>
        </p:spPr>
        <p:txBody>
          <a:bodyPr wrap="square" lIns="0" tIns="0" rIns="0" bIns="0" anchor="t">
            <a:spAutoFit/>
          </a:bodyPr>
          <a:lstStyle/>
          <a:p>
            <a:pPr algn="l">
              <a:lnSpc>
                <a:spcPct val="105000"/>
              </a:lnSpc>
              <a:spcAft>
                <a:spcPts val="600"/>
              </a:spcAft>
            </a:pPr>
            <a:r>
              <a:rPr sz="1395" b="0">
                <a:solidFill>
                  <a:srgbClr val="B8C2CC"/>
                </a:solidFill>
                <a:latin typeface="Archivo"/>
              </a:rPr>
              <a:t>Young et al., e0321319  ·  4 grasps × 5 load levels
10,000 windows  ·  8 channels @ 100 Hz</a:t>
            </a:r>
          </a:p>
        </p:txBody>
      </p:sp>
      <p:sp>
        <p:nvSpPr>
          <p:cNvPr id="23" name="TextBox 22"/>
          <p:cNvSpPr txBox="1"/>
          <p:nvPr/>
        </p:nvSpPr>
        <p:spPr>
          <a:xfrm>
            <a:off x="8915400" y="2880360"/>
            <a:ext cx="8641080" cy="411480"/>
          </a:xfrm>
          <a:prstGeom prst="rect">
            <a:avLst/>
          </a:prstGeom>
          <a:noFill/>
        </p:spPr>
        <p:txBody>
          <a:bodyPr wrap="square" lIns="0" tIns="0" rIns="0" bIns="0" anchor="t">
            <a:spAutoFit/>
          </a:bodyPr>
          <a:lstStyle/>
          <a:p>
            <a:pPr algn="l">
              <a:lnSpc>
                <a:spcPct val="100000"/>
              </a:lnSpc>
              <a:spcAft>
                <a:spcPts val="600"/>
              </a:spcAft>
            </a:pPr>
            <a:r>
              <a:rPr sz="1875" b="1">
                <a:solidFill>
                  <a:srgbClr val="FFFFFF"/>
                </a:solidFill>
                <a:latin typeface="Archivo"/>
              </a:rPr>
              <a:t>Accuracy on the untouched test set</a:t>
            </a:r>
          </a:p>
        </p:txBody>
      </p:sp>
      <p:sp>
        <p:nvSpPr>
          <p:cNvPr id="24" name="Rectangle 23"/>
          <p:cNvSpPr/>
          <p:nvPr/>
        </p:nvSpPr>
        <p:spPr>
          <a:xfrm>
            <a:off x="8915400" y="3374136"/>
            <a:ext cx="8641080" cy="466344"/>
          </a:xfrm>
          <a:prstGeom prst="rect">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9189720" y="3374136"/>
            <a:ext cx="3497580" cy="466344"/>
          </a:xfrm>
          <a:prstGeom prst="rect">
            <a:avLst/>
          </a:prstGeom>
          <a:noFill/>
        </p:spPr>
        <p:txBody>
          <a:bodyPr wrap="square" lIns="0" tIns="0" rIns="0" bIns="0" anchor="ctr">
            <a:spAutoFit/>
          </a:bodyPr>
          <a:lstStyle/>
          <a:p>
            <a:pPr algn="l">
              <a:lnSpc>
                <a:spcPct val="100000"/>
              </a:lnSpc>
              <a:spcAft>
                <a:spcPts val="600"/>
              </a:spcAft>
            </a:pPr>
            <a:r>
              <a:rPr sz="1350" b="1">
                <a:solidFill>
                  <a:srgbClr val="8A97A6"/>
                </a:solidFill>
                <a:latin typeface="Archivo"/>
              </a:rPr>
              <a:t>Dataset</a:t>
            </a:r>
          </a:p>
        </p:txBody>
      </p:sp>
      <p:sp>
        <p:nvSpPr>
          <p:cNvPr id="26" name="TextBox 25"/>
          <p:cNvSpPr txBox="1"/>
          <p:nvPr/>
        </p:nvSpPr>
        <p:spPr>
          <a:xfrm>
            <a:off x="12961620" y="3374136"/>
            <a:ext cx="1988820" cy="466344"/>
          </a:xfrm>
          <a:prstGeom prst="rect">
            <a:avLst/>
          </a:prstGeom>
          <a:noFill/>
        </p:spPr>
        <p:txBody>
          <a:bodyPr wrap="square" lIns="0" tIns="0" rIns="0" bIns="0" anchor="ctr">
            <a:spAutoFit/>
          </a:bodyPr>
          <a:lstStyle/>
          <a:p>
            <a:pPr algn="r">
              <a:lnSpc>
                <a:spcPct val="100000"/>
              </a:lnSpc>
              <a:spcAft>
                <a:spcPts val="600"/>
              </a:spcAft>
            </a:pPr>
            <a:r>
              <a:rPr sz="1350" b="1">
                <a:solidFill>
                  <a:srgbClr val="8A97A6"/>
                </a:solidFill>
                <a:latin typeface="Archivo"/>
              </a:rPr>
              <a:t>Test accuracy</a:t>
            </a:r>
          </a:p>
        </p:txBody>
      </p:sp>
      <p:sp>
        <p:nvSpPr>
          <p:cNvPr id="27" name="TextBox 26"/>
          <p:cNvSpPr txBox="1"/>
          <p:nvPr/>
        </p:nvSpPr>
        <p:spPr>
          <a:xfrm>
            <a:off x="15087600" y="3374136"/>
            <a:ext cx="1440180" cy="466344"/>
          </a:xfrm>
          <a:prstGeom prst="rect">
            <a:avLst/>
          </a:prstGeom>
          <a:noFill/>
        </p:spPr>
        <p:txBody>
          <a:bodyPr wrap="square" lIns="0" tIns="0" rIns="0" bIns="0" anchor="ctr">
            <a:spAutoFit/>
          </a:bodyPr>
          <a:lstStyle/>
          <a:p>
            <a:pPr algn="r">
              <a:lnSpc>
                <a:spcPct val="100000"/>
              </a:lnSpc>
              <a:spcAft>
                <a:spcPts val="600"/>
              </a:spcAft>
            </a:pPr>
            <a:r>
              <a:rPr sz="1350" b="1">
                <a:solidFill>
                  <a:srgbClr val="8A97A6"/>
                </a:solidFill>
                <a:latin typeface="Archivo"/>
              </a:rPr>
              <a:t>Latency</a:t>
            </a:r>
          </a:p>
        </p:txBody>
      </p:sp>
      <p:sp>
        <p:nvSpPr>
          <p:cNvPr id="28" name="TextBox 27"/>
          <p:cNvSpPr txBox="1"/>
          <p:nvPr/>
        </p:nvSpPr>
        <p:spPr>
          <a:xfrm>
            <a:off x="16664940" y="3374136"/>
            <a:ext cx="685800" cy="466344"/>
          </a:xfrm>
          <a:prstGeom prst="rect">
            <a:avLst/>
          </a:prstGeom>
          <a:noFill/>
        </p:spPr>
        <p:txBody>
          <a:bodyPr wrap="square" lIns="0" tIns="0" rIns="0" bIns="0" anchor="ctr">
            <a:spAutoFit/>
          </a:bodyPr>
          <a:lstStyle/>
          <a:p>
            <a:pPr algn="r">
              <a:lnSpc>
                <a:spcPct val="100000"/>
              </a:lnSpc>
              <a:spcAft>
                <a:spcPts val="600"/>
              </a:spcAft>
            </a:pPr>
            <a:r>
              <a:rPr sz="1350" b="1">
                <a:solidFill>
                  <a:srgbClr val="8A97A6"/>
                </a:solidFill>
                <a:latin typeface="Archivo"/>
              </a:rPr>
              <a:t>Epochs</a:t>
            </a:r>
          </a:p>
        </p:txBody>
      </p:sp>
      <p:sp>
        <p:nvSpPr>
          <p:cNvPr id="29" name="Rounded Rectangle 28"/>
          <p:cNvSpPr/>
          <p:nvPr/>
        </p:nvSpPr>
        <p:spPr>
          <a:xfrm>
            <a:off x="8915400" y="3895344"/>
            <a:ext cx="8641080" cy="658368"/>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9189720" y="3895344"/>
            <a:ext cx="3497580" cy="658368"/>
          </a:xfrm>
          <a:prstGeom prst="rect">
            <a:avLst/>
          </a:prstGeom>
          <a:noFill/>
        </p:spPr>
        <p:txBody>
          <a:bodyPr wrap="square" lIns="0" tIns="0" rIns="0" bIns="0" anchor="ctr">
            <a:spAutoFit/>
          </a:bodyPr>
          <a:lstStyle/>
          <a:p>
            <a:pPr algn="l">
              <a:lnSpc>
                <a:spcPct val="100000"/>
              </a:lnSpc>
              <a:spcAft>
                <a:spcPts val="600"/>
              </a:spcAft>
            </a:pPr>
            <a:r>
              <a:rPr sz="1528" b="1">
                <a:solidFill>
                  <a:srgbClr val="FFFFFF"/>
                </a:solidFill>
                <a:latin typeface="Archivo"/>
              </a:rPr>
              <a:t>Zenodo  (5 motions)</a:t>
            </a:r>
          </a:p>
        </p:txBody>
      </p:sp>
      <p:sp>
        <p:nvSpPr>
          <p:cNvPr id="31" name="TextBox 30"/>
          <p:cNvSpPr txBox="1"/>
          <p:nvPr/>
        </p:nvSpPr>
        <p:spPr>
          <a:xfrm>
            <a:off x="12961620" y="3895344"/>
            <a:ext cx="1988820" cy="658368"/>
          </a:xfrm>
          <a:prstGeom prst="rect">
            <a:avLst/>
          </a:prstGeom>
          <a:noFill/>
        </p:spPr>
        <p:txBody>
          <a:bodyPr wrap="square" lIns="0" tIns="0" rIns="0" bIns="0" anchor="ctr">
            <a:spAutoFit/>
          </a:bodyPr>
          <a:lstStyle/>
          <a:p>
            <a:pPr algn="r">
              <a:lnSpc>
                <a:spcPct val="100000"/>
              </a:lnSpc>
              <a:spcAft>
                <a:spcPts val="600"/>
              </a:spcAft>
            </a:pPr>
            <a:r>
              <a:rPr sz="1950" b="1">
                <a:solidFill>
                  <a:srgbClr val="39D9A6"/>
                </a:solidFill>
                <a:latin typeface="Archivo"/>
              </a:rPr>
              <a:t>86.78%</a:t>
            </a:r>
          </a:p>
        </p:txBody>
      </p:sp>
      <p:sp>
        <p:nvSpPr>
          <p:cNvPr id="32" name="TextBox 31"/>
          <p:cNvSpPr txBox="1"/>
          <p:nvPr/>
        </p:nvSpPr>
        <p:spPr>
          <a:xfrm>
            <a:off x="15087600" y="3895344"/>
            <a:ext cx="1440180" cy="658368"/>
          </a:xfrm>
          <a:prstGeom prst="rect">
            <a:avLst/>
          </a:prstGeom>
          <a:noFill/>
        </p:spPr>
        <p:txBody>
          <a:bodyPr wrap="square" lIns="0" tIns="0" rIns="0" bIns="0" anchor="ctr">
            <a:spAutoFit/>
          </a:bodyPr>
          <a:lstStyle/>
          <a:p>
            <a:pPr algn="r">
              <a:lnSpc>
                <a:spcPct val="100000"/>
              </a:lnSpc>
              <a:spcAft>
                <a:spcPts val="600"/>
              </a:spcAft>
            </a:pPr>
            <a:r>
              <a:rPr sz="1470" b="0">
                <a:solidFill>
                  <a:srgbClr val="B8C2CC"/>
                </a:solidFill>
                <a:latin typeface="Archivo"/>
              </a:rPr>
              <a:t>3.57 ms</a:t>
            </a:r>
          </a:p>
        </p:txBody>
      </p:sp>
      <p:sp>
        <p:nvSpPr>
          <p:cNvPr id="33" name="TextBox 32"/>
          <p:cNvSpPr txBox="1"/>
          <p:nvPr/>
        </p:nvSpPr>
        <p:spPr>
          <a:xfrm>
            <a:off x="16664940" y="3895344"/>
            <a:ext cx="685800" cy="658368"/>
          </a:xfrm>
          <a:prstGeom prst="rect">
            <a:avLst/>
          </a:prstGeom>
          <a:noFill/>
        </p:spPr>
        <p:txBody>
          <a:bodyPr wrap="square" lIns="0" tIns="0" rIns="0" bIns="0" anchor="ctr">
            <a:spAutoFit/>
          </a:bodyPr>
          <a:lstStyle/>
          <a:p>
            <a:pPr algn="r">
              <a:lnSpc>
                <a:spcPct val="100000"/>
              </a:lnSpc>
              <a:spcAft>
                <a:spcPts val="600"/>
              </a:spcAft>
            </a:pPr>
            <a:r>
              <a:rPr sz="1470" b="0">
                <a:solidFill>
                  <a:srgbClr val="B8C2CC"/>
                </a:solidFill>
                <a:latin typeface="Archivo"/>
              </a:rPr>
              <a:t>13</a:t>
            </a:r>
          </a:p>
        </p:txBody>
      </p:sp>
      <p:sp>
        <p:nvSpPr>
          <p:cNvPr id="34" name="Rounded Rectangle 33"/>
          <p:cNvSpPr/>
          <p:nvPr/>
        </p:nvSpPr>
        <p:spPr>
          <a:xfrm>
            <a:off x="8915400" y="4636008"/>
            <a:ext cx="8641080" cy="658368"/>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9189720" y="4636008"/>
            <a:ext cx="3497580" cy="658368"/>
          </a:xfrm>
          <a:prstGeom prst="rect">
            <a:avLst/>
          </a:prstGeom>
          <a:noFill/>
        </p:spPr>
        <p:txBody>
          <a:bodyPr wrap="square" lIns="0" tIns="0" rIns="0" bIns="0" anchor="ctr">
            <a:spAutoFit/>
          </a:bodyPr>
          <a:lstStyle/>
          <a:p>
            <a:pPr algn="l">
              <a:lnSpc>
                <a:spcPct val="100000"/>
              </a:lnSpc>
              <a:spcAft>
                <a:spcPts val="600"/>
              </a:spcAft>
            </a:pPr>
            <a:r>
              <a:rPr sz="1528" b="1">
                <a:solidFill>
                  <a:srgbClr val="FFFFFF"/>
                </a:solidFill>
                <a:latin typeface="Archivo"/>
              </a:rPr>
              <a:t>Exoskelebox  (6 gestures)</a:t>
            </a:r>
          </a:p>
        </p:txBody>
      </p:sp>
      <p:sp>
        <p:nvSpPr>
          <p:cNvPr id="36" name="TextBox 35"/>
          <p:cNvSpPr txBox="1"/>
          <p:nvPr/>
        </p:nvSpPr>
        <p:spPr>
          <a:xfrm>
            <a:off x="12961620" y="4636008"/>
            <a:ext cx="1988820" cy="658368"/>
          </a:xfrm>
          <a:prstGeom prst="rect">
            <a:avLst/>
          </a:prstGeom>
          <a:noFill/>
        </p:spPr>
        <p:txBody>
          <a:bodyPr wrap="square" lIns="0" tIns="0" rIns="0" bIns="0" anchor="ctr">
            <a:spAutoFit/>
          </a:bodyPr>
          <a:lstStyle/>
          <a:p>
            <a:pPr algn="r">
              <a:lnSpc>
                <a:spcPct val="100000"/>
              </a:lnSpc>
              <a:spcAft>
                <a:spcPts val="600"/>
              </a:spcAft>
            </a:pPr>
            <a:r>
              <a:rPr sz="1950" b="1">
                <a:solidFill>
                  <a:srgbClr val="39D9A6"/>
                </a:solidFill>
                <a:latin typeface="Archivo"/>
              </a:rPr>
              <a:t>70.92%</a:t>
            </a:r>
          </a:p>
        </p:txBody>
      </p:sp>
      <p:sp>
        <p:nvSpPr>
          <p:cNvPr id="37" name="TextBox 36"/>
          <p:cNvSpPr txBox="1"/>
          <p:nvPr/>
        </p:nvSpPr>
        <p:spPr>
          <a:xfrm>
            <a:off x="15087600" y="4636008"/>
            <a:ext cx="1440180" cy="658368"/>
          </a:xfrm>
          <a:prstGeom prst="rect">
            <a:avLst/>
          </a:prstGeom>
          <a:noFill/>
        </p:spPr>
        <p:txBody>
          <a:bodyPr wrap="square" lIns="0" tIns="0" rIns="0" bIns="0" anchor="ctr">
            <a:spAutoFit/>
          </a:bodyPr>
          <a:lstStyle/>
          <a:p>
            <a:pPr algn="r">
              <a:lnSpc>
                <a:spcPct val="100000"/>
              </a:lnSpc>
              <a:spcAft>
                <a:spcPts val="600"/>
              </a:spcAft>
            </a:pPr>
            <a:r>
              <a:rPr sz="1470" b="0">
                <a:solidFill>
                  <a:srgbClr val="B8C2CC"/>
                </a:solidFill>
                <a:latin typeface="Archivo"/>
              </a:rPr>
              <a:t>3.07 ms</a:t>
            </a:r>
          </a:p>
        </p:txBody>
      </p:sp>
      <p:sp>
        <p:nvSpPr>
          <p:cNvPr id="38" name="TextBox 37"/>
          <p:cNvSpPr txBox="1"/>
          <p:nvPr/>
        </p:nvSpPr>
        <p:spPr>
          <a:xfrm>
            <a:off x="16664940" y="4636008"/>
            <a:ext cx="685800" cy="658368"/>
          </a:xfrm>
          <a:prstGeom prst="rect">
            <a:avLst/>
          </a:prstGeom>
          <a:noFill/>
        </p:spPr>
        <p:txBody>
          <a:bodyPr wrap="square" lIns="0" tIns="0" rIns="0" bIns="0" anchor="ctr">
            <a:spAutoFit/>
          </a:bodyPr>
          <a:lstStyle/>
          <a:p>
            <a:pPr algn="r">
              <a:lnSpc>
                <a:spcPct val="100000"/>
              </a:lnSpc>
              <a:spcAft>
                <a:spcPts val="600"/>
              </a:spcAft>
            </a:pPr>
            <a:r>
              <a:rPr sz="1470" b="0">
                <a:solidFill>
                  <a:srgbClr val="B8C2CC"/>
                </a:solidFill>
                <a:latin typeface="Archivo"/>
              </a:rPr>
              <a:t>40</a:t>
            </a:r>
          </a:p>
        </p:txBody>
      </p:sp>
      <p:sp>
        <p:nvSpPr>
          <p:cNvPr id="39" name="Rounded Rectangle 38"/>
          <p:cNvSpPr/>
          <p:nvPr/>
        </p:nvSpPr>
        <p:spPr>
          <a:xfrm>
            <a:off x="8915400" y="5376672"/>
            <a:ext cx="8641080" cy="658368"/>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9189720" y="5376672"/>
            <a:ext cx="3497580" cy="658368"/>
          </a:xfrm>
          <a:prstGeom prst="rect">
            <a:avLst/>
          </a:prstGeom>
          <a:noFill/>
        </p:spPr>
        <p:txBody>
          <a:bodyPr wrap="square" lIns="0" tIns="0" rIns="0" bIns="0" anchor="ctr">
            <a:spAutoFit/>
          </a:bodyPr>
          <a:lstStyle/>
          <a:p>
            <a:pPr algn="l">
              <a:lnSpc>
                <a:spcPct val="100000"/>
              </a:lnSpc>
              <a:spcAft>
                <a:spcPts val="600"/>
              </a:spcAft>
            </a:pPr>
            <a:r>
              <a:rPr sz="1528" b="1">
                <a:solidFill>
                  <a:srgbClr val="FFFFFF"/>
                </a:solidFill>
                <a:latin typeface="Archivo"/>
              </a:rPr>
              <a:t>PLoS ONE  (4 grasps)</a:t>
            </a:r>
          </a:p>
        </p:txBody>
      </p:sp>
      <p:sp>
        <p:nvSpPr>
          <p:cNvPr id="41" name="TextBox 40"/>
          <p:cNvSpPr txBox="1"/>
          <p:nvPr/>
        </p:nvSpPr>
        <p:spPr>
          <a:xfrm>
            <a:off x="12961620" y="5376672"/>
            <a:ext cx="1988820" cy="658368"/>
          </a:xfrm>
          <a:prstGeom prst="rect">
            <a:avLst/>
          </a:prstGeom>
          <a:noFill/>
        </p:spPr>
        <p:txBody>
          <a:bodyPr wrap="square" lIns="0" tIns="0" rIns="0" bIns="0" anchor="ctr">
            <a:spAutoFit/>
          </a:bodyPr>
          <a:lstStyle/>
          <a:p>
            <a:pPr algn="r">
              <a:lnSpc>
                <a:spcPct val="100000"/>
              </a:lnSpc>
              <a:spcAft>
                <a:spcPts val="600"/>
              </a:spcAft>
            </a:pPr>
            <a:r>
              <a:rPr sz="1950" b="1">
                <a:solidFill>
                  <a:srgbClr val="F2A01E"/>
                </a:solidFill>
                <a:latin typeface="Archivo"/>
              </a:rPr>
              <a:t>42.61%</a:t>
            </a:r>
          </a:p>
        </p:txBody>
      </p:sp>
      <p:sp>
        <p:nvSpPr>
          <p:cNvPr id="42" name="TextBox 41"/>
          <p:cNvSpPr txBox="1"/>
          <p:nvPr/>
        </p:nvSpPr>
        <p:spPr>
          <a:xfrm>
            <a:off x="15087600" y="5376672"/>
            <a:ext cx="1440180" cy="658368"/>
          </a:xfrm>
          <a:prstGeom prst="rect">
            <a:avLst/>
          </a:prstGeom>
          <a:noFill/>
        </p:spPr>
        <p:txBody>
          <a:bodyPr wrap="square" lIns="0" tIns="0" rIns="0" bIns="0" anchor="ctr">
            <a:spAutoFit/>
          </a:bodyPr>
          <a:lstStyle/>
          <a:p>
            <a:pPr algn="r">
              <a:lnSpc>
                <a:spcPct val="100000"/>
              </a:lnSpc>
              <a:spcAft>
                <a:spcPts val="600"/>
              </a:spcAft>
            </a:pPr>
            <a:r>
              <a:rPr sz="1470" b="0">
                <a:solidFill>
                  <a:srgbClr val="B8C2CC"/>
                </a:solidFill>
                <a:latin typeface="Archivo"/>
              </a:rPr>
              <a:t>2.06 ms</a:t>
            </a:r>
          </a:p>
        </p:txBody>
      </p:sp>
      <p:sp>
        <p:nvSpPr>
          <p:cNvPr id="43" name="TextBox 42"/>
          <p:cNvSpPr txBox="1"/>
          <p:nvPr/>
        </p:nvSpPr>
        <p:spPr>
          <a:xfrm>
            <a:off x="16664940" y="5376672"/>
            <a:ext cx="685800" cy="658368"/>
          </a:xfrm>
          <a:prstGeom prst="rect">
            <a:avLst/>
          </a:prstGeom>
          <a:noFill/>
        </p:spPr>
        <p:txBody>
          <a:bodyPr wrap="square" lIns="0" tIns="0" rIns="0" bIns="0" anchor="ctr">
            <a:spAutoFit/>
          </a:bodyPr>
          <a:lstStyle/>
          <a:p>
            <a:pPr algn="r">
              <a:lnSpc>
                <a:spcPct val="100000"/>
              </a:lnSpc>
              <a:spcAft>
                <a:spcPts val="600"/>
              </a:spcAft>
            </a:pPr>
            <a:r>
              <a:rPr sz="1470" b="0">
                <a:solidFill>
                  <a:srgbClr val="B8C2CC"/>
                </a:solidFill>
                <a:latin typeface="Archivo"/>
              </a:rPr>
              <a:t>12</a:t>
            </a:r>
          </a:p>
        </p:txBody>
      </p:sp>
      <p:sp>
        <p:nvSpPr>
          <p:cNvPr id="44" name="Rounded Rectangle 43"/>
          <p:cNvSpPr/>
          <p:nvPr/>
        </p:nvSpPr>
        <p:spPr>
          <a:xfrm>
            <a:off x="8915400" y="6227064"/>
            <a:ext cx="8641080" cy="1673352"/>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Rectangle 44"/>
          <p:cNvSpPr/>
          <p:nvPr/>
        </p:nvSpPr>
        <p:spPr>
          <a:xfrm>
            <a:off x="8915400" y="6391656"/>
            <a:ext cx="109728" cy="1344168"/>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TextBox 45"/>
          <p:cNvSpPr txBox="1"/>
          <p:nvPr/>
        </p:nvSpPr>
        <p:spPr>
          <a:xfrm>
            <a:off x="9258300" y="6377940"/>
            <a:ext cx="8023860" cy="384048"/>
          </a:xfrm>
          <a:prstGeom prst="rect">
            <a:avLst/>
          </a:prstGeom>
          <a:noFill/>
        </p:spPr>
        <p:txBody>
          <a:bodyPr wrap="square" lIns="0" tIns="0" rIns="0" bIns="0" anchor="t">
            <a:spAutoFit/>
          </a:bodyPr>
          <a:lstStyle/>
          <a:p>
            <a:pPr algn="l">
              <a:lnSpc>
                <a:spcPct val="100000"/>
              </a:lnSpc>
              <a:spcAft>
                <a:spcPts val="600"/>
              </a:spcAft>
            </a:pPr>
            <a:r>
              <a:rPr sz="1740" b="1">
                <a:solidFill>
                  <a:srgbClr val="FFFFFF"/>
                </a:solidFill>
                <a:latin typeface="Archivo"/>
              </a:rPr>
              <a:t>One model, small enough for the hand itself</a:t>
            </a:r>
          </a:p>
        </p:txBody>
      </p:sp>
      <p:sp>
        <p:nvSpPr>
          <p:cNvPr id="47" name="TextBox 46"/>
          <p:cNvSpPr txBox="1"/>
          <p:nvPr/>
        </p:nvSpPr>
        <p:spPr>
          <a:xfrm>
            <a:off x="9258300" y="6775704"/>
            <a:ext cx="8023860" cy="987552"/>
          </a:xfrm>
          <a:prstGeom prst="rect">
            <a:avLst/>
          </a:prstGeom>
          <a:noFill/>
        </p:spPr>
        <p:txBody>
          <a:bodyPr wrap="square" lIns="0" tIns="0" rIns="0" bIns="0" anchor="t">
            <a:spAutoFit/>
          </a:bodyPr>
          <a:lstStyle/>
          <a:p>
            <a:pPr algn="l">
              <a:lnSpc>
                <a:spcPct val="105000"/>
              </a:lnSpc>
              <a:spcAft>
                <a:spcPts val="600"/>
              </a:spcAft>
            </a:pPr>
            <a:r>
              <a:rPr sz="1440" b="0">
                <a:solidFill>
                  <a:srgbClr val="B8C2CC"/>
                </a:solidFill>
                <a:latin typeface="Archivo"/>
              </a:rPr>
              <a:t>65.8 K parameters  ·  257 KB  ·  2–3.6 ms per window on a plain CPU. The window is 200 ms and refreshes every 50 ms, so prediction uses only a few percent of the time we have — the latency budget is not the bottleneck.</a:t>
            </a:r>
          </a:p>
        </p:txBody>
      </p:sp>
      <p:sp>
        <p:nvSpPr>
          <p:cNvPr id="48" name="Rectangle 47"/>
          <p:cNvSpPr/>
          <p:nvPr/>
        </p:nvSpPr>
        <p:spPr>
          <a:xfrm>
            <a:off x="754380" y="8037576"/>
            <a:ext cx="16802100" cy="1481328"/>
          </a:xfrm>
          <a:prstGeom prst="rect">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TextBox 48"/>
          <p:cNvSpPr txBox="1"/>
          <p:nvPr/>
        </p:nvSpPr>
        <p:spPr>
          <a:xfrm>
            <a:off x="1097280" y="8188452"/>
            <a:ext cx="16116300" cy="411480"/>
          </a:xfrm>
          <a:prstGeom prst="rect">
            <a:avLst/>
          </a:prstGeom>
          <a:noFill/>
        </p:spPr>
        <p:txBody>
          <a:bodyPr wrap="square" lIns="0" tIns="0" rIns="0" bIns="0" anchor="t">
            <a:spAutoFit/>
          </a:bodyPr>
          <a:lstStyle/>
          <a:p>
            <a:pPr algn="l">
              <a:lnSpc>
                <a:spcPct val="100000"/>
              </a:lnSpc>
              <a:spcAft>
                <a:spcPts val="600"/>
              </a:spcAft>
            </a:pPr>
            <a:r>
              <a:rPr sz="1680" b="1">
                <a:solidFill>
                  <a:srgbClr val="39D9A6"/>
                </a:solidFill>
                <a:latin typeface="Archivo"/>
              </a:rPr>
              <a:t>How these numbers were produced</a:t>
            </a:r>
          </a:p>
        </p:txBody>
      </p:sp>
      <p:sp>
        <p:nvSpPr>
          <p:cNvPr id="50" name="TextBox 49"/>
          <p:cNvSpPr txBox="1"/>
          <p:nvPr/>
        </p:nvSpPr>
        <p:spPr>
          <a:xfrm>
            <a:off x="1097280" y="8613648"/>
            <a:ext cx="16116300" cy="768096"/>
          </a:xfrm>
          <a:prstGeom prst="rect">
            <a:avLst/>
          </a:prstGeom>
          <a:noFill/>
        </p:spPr>
        <p:txBody>
          <a:bodyPr wrap="square" lIns="0" tIns="0" rIns="0" bIns="0" anchor="t">
            <a:spAutoFit/>
          </a:bodyPr>
          <a:lstStyle/>
          <a:p>
            <a:pPr algn="l">
              <a:lnSpc>
                <a:spcPct val="112000"/>
              </a:lnSpc>
              <a:spcAft>
                <a:spcPts val="600"/>
              </a:spcAft>
            </a:pPr>
            <a:r>
              <a:rPr sz="1410" b="0">
                <a:solidFill>
                  <a:srgbClr val="8A97A6"/>
                </a:solidFill>
                <a:latin typeface="Archivo"/>
              </a:rPr>
              <a:t>The data is public and cited, so anyone can reproduce this. One model per dataset — the label sets mean different things, so merging them into a single classifier would be dishonest. Identical pipeline for all three: AdamW + OneCycleLR + gradient clipping + early stopping (patience 8), up to 40 epochs, batch 64, lr 0.001, split 70% train / 15% validation / 15% untouched test.</a:t>
            </a:r>
          </a:p>
        </p:txBody>
      </p:sp>
      <p:sp>
        <p:nvSpPr>
          <p:cNvPr id="51" name="TextBox 50"/>
          <p:cNvSpPr txBox="1"/>
          <p:nvPr/>
        </p:nvSpPr>
        <p:spPr>
          <a:xfrm>
            <a:off x="754380" y="9656064"/>
            <a:ext cx="10972800" cy="411480"/>
          </a:xfrm>
          <a:prstGeom prst="rect">
            <a:avLst/>
          </a:prstGeom>
          <a:noFill/>
        </p:spPr>
        <p:txBody>
          <a:bodyPr wrap="square" lIns="0" tIns="0" rIns="0" bIns="0" anchor="ctr">
            <a:spAutoFit/>
          </a:bodyPr>
          <a:lstStyle/>
          <a:p>
            <a:pPr algn="l">
              <a:lnSpc>
                <a:spcPct val="100000"/>
              </a:lnSpc>
              <a:spcAft>
                <a:spcPts val="600"/>
              </a:spcAft>
            </a:pPr>
            <a:r>
              <a:rPr sz="1350" b="0">
                <a:solidFill>
                  <a:srgbClr val="B8C2CC"/>
                </a:solidFill>
                <a:latin typeface="JetBrains Mono"/>
              </a:rPr>
              <a:t>JoTouch — Technical Brief · Sensing, Control &amp; AI</a:t>
            </a:r>
          </a:p>
        </p:txBody>
      </p:sp>
      <p:sp>
        <p:nvSpPr>
          <p:cNvPr id="52" name="TextBox 51"/>
          <p:cNvSpPr txBox="1"/>
          <p:nvPr/>
        </p:nvSpPr>
        <p:spPr>
          <a:xfrm>
            <a:off x="15361920" y="9656064"/>
            <a:ext cx="2194560" cy="411480"/>
          </a:xfrm>
          <a:prstGeom prst="rect">
            <a:avLst/>
          </a:prstGeom>
          <a:noFill/>
        </p:spPr>
        <p:txBody>
          <a:bodyPr wrap="square" lIns="0" tIns="0" rIns="0" bIns="0" anchor="ctr">
            <a:spAutoFit/>
          </a:bodyPr>
          <a:lstStyle/>
          <a:p>
            <a:pPr algn="r">
              <a:lnSpc>
                <a:spcPct val="100000"/>
              </a:lnSpc>
              <a:spcAft>
                <a:spcPts val="600"/>
              </a:spcAft>
            </a:pPr>
            <a:r>
              <a:rPr sz="1350" b="1">
                <a:solidFill>
                  <a:srgbClr val="B8C2CC"/>
                </a:solidFill>
                <a:latin typeface="JetBrains Mono"/>
              </a:rPr>
              <a:t>18 / 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Oval 1"/>
          <p:cNvSpPr/>
          <p:nvPr/>
        </p:nvSpPr>
        <p:spPr>
          <a:xfrm>
            <a:off x="754380" y="603504"/>
            <a:ext cx="411480" cy="411480"/>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1371600" y="576072"/>
            <a:ext cx="15087600" cy="466344"/>
          </a:xfrm>
          <a:prstGeom prst="rect">
            <a:avLst/>
          </a:prstGeom>
          <a:noFill/>
        </p:spPr>
        <p:txBody>
          <a:bodyPr wrap="square" lIns="0" tIns="0" rIns="0" bIns="0" anchor="ctr">
            <a:spAutoFit/>
          </a:bodyPr>
          <a:lstStyle/>
          <a:p>
            <a:pPr algn="l">
              <a:lnSpc>
                <a:spcPct val="100000"/>
              </a:lnSpc>
              <a:spcAft>
                <a:spcPts val="600"/>
              </a:spcAft>
            </a:pPr>
            <a:r>
              <a:rPr sz="1875" b="1">
                <a:solidFill>
                  <a:srgbClr val="00D4FF"/>
                </a:solidFill>
                <a:latin typeface="JetBrains Mono"/>
              </a:rPr>
              <a:t>06 · HOW WELL IT GENERALISES</a:t>
            </a:r>
          </a:p>
        </p:txBody>
      </p:sp>
      <p:sp>
        <p:nvSpPr>
          <p:cNvPr id="4" name="TextBox 3"/>
          <p:cNvSpPr txBox="1"/>
          <p:nvPr/>
        </p:nvSpPr>
        <p:spPr>
          <a:xfrm>
            <a:off x="754380" y="1069848"/>
            <a:ext cx="15087600" cy="822960"/>
          </a:xfrm>
          <a:prstGeom prst="rect">
            <a:avLst/>
          </a:prstGeom>
          <a:noFill/>
        </p:spPr>
        <p:txBody>
          <a:bodyPr wrap="square" lIns="0" tIns="0" rIns="0" bIns="0" anchor="t">
            <a:spAutoFit/>
          </a:bodyPr>
          <a:lstStyle/>
          <a:p>
            <a:pPr algn="l">
              <a:lnSpc>
                <a:spcPct val="100000"/>
              </a:lnSpc>
              <a:spcAft>
                <a:spcPts val="600"/>
              </a:spcAft>
            </a:pPr>
            <a:r>
              <a:rPr sz="4050" b="1">
                <a:solidFill>
                  <a:srgbClr val="FFFFFF"/>
                </a:solidFill>
                <a:latin typeface="Archivo"/>
              </a:rPr>
              <a:t>The same subject vs. an unseen subject</a:t>
            </a:r>
          </a:p>
        </p:txBody>
      </p:sp>
      <p:sp>
        <p:nvSpPr>
          <p:cNvPr id="5" name="Rounded Rectangle 4"/>
          <p:cNvSpPr/>
          <p:nvPr/>
        </p:nvSpPr>
        <p:spPr>
          <a:xfrm>
            <a:off x="14676120" y="658368"/>
            <a:ext cx="2880360" cy="411480"/>
          </a:xfrm>
          <a:prstGeom prst="roundRect">
            <a:avLst>
              <a:gd name="adj" fmla="val 50000"/>
            </a:avLst>
          </a:prstGeom>
          <a:noFill/>
          <a:ln w="22860">
            <a:solidFill>
              <a:srgbClr val="F2A01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Oval 5"/>
          <p:cNvSpPr/>
          <p:nvPr/>
        </p:nvSpPr>
        <p:spPr>
          <a:xfrm>
            <a:off x="14840712" y="802386"/>
            <a:ext cx="137160" cy="137160"/>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5087600" y="658368"/>
            <a:ext cx="2400300" cy="411480"/>
          </a:xfrm>
          <a:prstGeom prst="rect">
            <a:avLst/>
          </a:prstGeom>
          <a:noFill/>
        </p:spPr>
        <p:txBody>
          <a:bodyPr wrap="square" lIns="0" tIns="0" rIns="0" bIns="0" anchor="ctr">
            <a:spAutoFit/>
          </a:bodyPr>
          <a:lstStyle/>
          <a:p>
            <a:pPr algn="l">
              <a:lnSpc>
                <a:spcPct val="100000"/>
              </a:lnSpc>
              <a:spcAft>
                <a:spcPts val="600"/>
              </a:spcAft>
            </a:pPr>
            <a:r>
              <a:rPr sz="1350" b="1">
                <a:solidFill>
                  <a:srgbClr val="F2A01E"/>
                </a:solidFill>
                <a:latin typeface="JetBrains Mono"/>
              </a:rPr>
              <a:t>HONEST LIMITS</a:t>
            </a:r>
          </a:p>
        </p:txBody>
      </p:sp>
      <p:sp>
        <p:nvSpPr>
          <p:cNvPr id="8" name="Rounded Rectangle 7"/>
          <p:cNvSpPr/>
          <p:nvPr/>
        </p:nvSpPr>
        <p:spPr>
          <a:xfrm>
            <a:off x="754380" y="1783080"/>
            <a:ext cx="16802100" cy="768096"/>
          </a:xfrm>
          <a:prstGeom prst="roundRect">
            <a:avLst>
              <a:gd name="adj" fmla="val 18000"/>
            </a:avLst>
          </a:prstGeom>
          <a:solidFill>
            <a:srgbClr val="2A2109"/>
          </a:solidFill>
          <a:ln w="19050">
            <a:solidFill>
              <a:srgbClr val="F2A01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097280" y="1783080"/>
            <a:ext cx="16459200" cy="768096"/>
          </a:xfrm>
          <a:prstGeom prst="rect">
            <a:avLst/>
          </a:prstGeom>
          <a:noFill/>
        </p:spPr>
        <p:txBody>
          <a:bodyPr wrap="square" lIns="0" tIns="0" rIns="0" bIns="0" anchor="ctr">
            <a:spAutoFit/>
          </a:bodyPr>
          <a:lstStyle/>
          <a:p>
            <a:pPr algn="l">
              <a:lnSpc>
                <a:spcPct val="100000"/>
              </a:lnSpc>
              <a:spcAft>
                <a:spcPts val="600"/>
              </a:spcAft>
            </a:pPr>
            <a:r>
              <a:rPr sz="1725" b="1">
                <a:solidFill>
                  <a:srgbClr val="F2A01E"/>
                </a:solidFill>
                <a:latin typeface="Archivo"/>
              </a:rPr>
              <a:t>The limit we do not hide:  </a:t>
            </a:r>
            <a:r>
              <a:rPr sz="1650" b="0">
                <a:solidFill>
                  <a:srgbClr val="FFFFFF"/>
                </a:solidFill>
                <a:latin typeface="Archivo"/>
              </a:rPr>
              <a:t>accuracy measured on </a:t>
            </a:r>
            <a:r>
              <a:rPr sz="1650" b="1">
                <a:solidFill>
                  <a:srgbClr val="F2A01E"/>
                </a:solidFill>
                <a:latin typeface="Archivo"/>
              </a:rPr>
              <a:t>a subject the model has never seen</a:t>
            </a:r>
            <a:r>
              <a:rPr sz="1650" b="0">
                <a:solidFill>
                  <a:srgbClr val="FFFFFF"/>
                </a:solidFill>
                <a:latin typeface="Archivo"/>
              </a:rPr>
              <a:t> is far lower than accuracy on the subjects it trained on. We tested this on purpose, with leave-one-subject-out cross-validation.</a:t>
            </a:r>
          </a:p>
        </p:txBody>
      </p:sp>
      <p:sp>
        <p:nvSpPr>
          <p:cNvPr id="10" name="TextBox 9"/>
          <p:cNvSpPr txBox="1"/>
          <p:nvPr/>
        </p:nvSpPr>
        <p:spPr>
          <a:xfrm>
            <a:off x="754380" y="2880360"/>
            <a:ext cx="10149840" cy="411480"/>
          </a:xfrm>
          <a:prstGeom prst="rect">
            <a:avLst/>
          </a:prstGeom>
          <a:noFill/>
        </p:spPr>
        <p:txBody>
          <a:bodyPr wrap="square" lIns="0" tIns="0" rIns="0" bIns="0" anchor="t">
            <a:spAutoFit/>
          </a:bodyPr>
          <a:lstStyle/>
          <a:p>
            <a:pPr algn="l">
              <a:lnSpc>
                <a:spcPct val="100000"/>
              </a:lnSpc>
              <a:spcAft>
                <a:spcPts val="600"/>
              </a:spcAft>
            </a:pPr>
            <a:r>
              <a:rPr sz="1875" b="1">
                <a:solidFill>
                  <a:srgbClr val="FFFFFF"/>
                </a:solidFill>
                <a:latin typeface="Archivo"/>
              </a:rPr>
              <a:t>Identical training, two ways of splitting the data</a:t>
            </a:r>
          </a:p>
        </p:txBody>
      </p:sp>
      <p:sp>
        <p:nvSpPr>
          <p:cNvPr id="11" name="Rounded Rectangle 10"/>
          <p:cNvSpPr/>
          <p:nvPr/>
        </p:nvSpPr>
        <p:spPr>
          <a:xfrm>
            <a:off x="754380" y="3374136"/>
            <a:ext cx="10149840" cy="4526280"/>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Oval 11"/>
          <p:cNvSpPr/>
          <p:nvPr/>
        </p:nvSpPr>
        <p:spPr>
          <a:xfrm>
            <a:off x="1097280" y="3586734"/>
            <a:ext cx="178308" cy="178308"/>
          </a:xfrm>
          <a:prstGeom prst="ellipse">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1371600" y="3511296"/>
            <a:ext cx="3566160" cy="329184"/>
          </a:xfrm>
          <a:prstGeom prst="rect">
            <a:avLst/>
          </a:prstGeom>
          <a:noFill/>
        </p:spPr>
        <p:txBody>
          <a:bodyPr wrap="square" lIns="0" tIns="0" rIns="0" bIns="0" anchor="ctr">
            <a:spAutoFit/>
          </a:bodyPr>
          <a:lstStyle/>
          <a:p>
            <a:pPr algn="l">
              <a:lnSpc>
                <a:spcPct val="100000"/>
              </a:lnSpc>
              <a:spcAft>
                <a:spcPts val="600"/>
              </a:spcAft>
            </a:pPr>
            <a:r>
              <a:rPr sz="1320" b="0">
                <a:solidFill>
                  <a:srgbClr val="B8C2CC"/>
                </a:solidFill>
                <a:latin typeface="Archivo"/>
              </a:rPr>
              <a:t>Same subjects (random split)</a:t>
            </a:r>
          </a:p>
        </p:txBody>
      </p:sp>
      <p:sp>
        <p:nvSpPr>
          <p:cNvPr id="14" name="Oval 13"/>
          <p:cNvSpPr/>
          <p:nvPr/>
        </p:nvSpPr>
        <p:spPr>
          <a:xfrm>
            <a:off x="5143500" y="3586734"/>
            <a:ext cx="178308" cy="178308"/>
          </a:xfrm>
          <a:prstGeom prst="ellipse">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5417820" y="3511296"/>
            <a:ext cx="4937760" cy="329184"/>
          </a:xfrm>
          <a:prstGeom prst="rect">
            <a:avLst/>
          </a:prstGeom>
          <a:noFill/>
        </p:spPr>
        <p:txBody>
          <a:bodyPr wrap="square" lIns="0" tIns="0" rIns="0" bIns="0" anchor="ctr">
            <a:spAutoFit/>
          </a:bodyPr>
          <a:lstStyle/>
          <a:p>
            <a:pPr algn="l">
              <a:lnSpc>
                <a:spcPct val="100000"/>
              </a:lnSpc>
              <a:spcAft>
                <a:spcPts val="600"/>
              </a:spcAft>
            </a:pPr>
            <a:r>
              <a:rPr sz="1320" b="0">
                <a:solidFill>
                  <a:srgbClr val="B8C2CC"/>
                </a:solidFill>
                <a:latin typeface="Archivo"/>
              </a:rPr>
              <a:t>Unseen subject (leave-one-subject-out)</a:t>
            </a:r>
          </a:p>
        </p:txBody>
      </p:sp>
      <p:sp>
        <p:nvSpPr>
          <p:cNvPr id="16" name="TextBox 15"/>
          <p:cNvSpPr txBox="1"/>
          <p:nvPr/>
        </p:nvSpPr>
        <p:spPr>
          <a:xfrm>
            <a:off x="1069848" y="4059936"/>
            <a:ext cx="3017520" cy="356616"/>
          </a:xfrm>
          <a:prstGeom prst="rect">
            <a:avLst/>
          </a:prstGeom>
          <a:noFill/>
        </p:spPr>
        <p:txBody>
          <a:bodyPr wrap="square" lIns="0" tIns="0" rIns="0" bIns="0" anchor="t">
            <a:spAutoFit/>
          </a:bodyPr>
          <a:lstStyle/>
          <a:p>
            <a:pPr algn="l">
              <a:lnSpc>
                <a:spcPct val="100000"/>
              </a:lnSpc>
              <a:spcAft>
                <a:spcPts val="600"/>
              </a:spcAft>
            </a:pPr>
            <a:r>
              <a:rPr sz="1590" b="1">
                <a:solidFill>
                  <a:srgbClr val="FFFFFF"/>
                </a:solidFill>
                <a:latin typeface="Archivo"/>
              </a:rPr>
              <a:t>Zenodo</a:t>
            </a:r>
          </a:p>
        </p:txBody>
      </p:sp>
      <p:sp>
        <p:nvSpPr>
          <p:cNvPr id="17" name="TextBox 16"/>
          <p:cNvSpPr txBox="1"/>
          <p:nvPr/>
        </p:nvSpPr>
        <p:spPr>
          <a:xfrm>
            <a:off x="1069848" y="4416552"/>
            <a:ext cx="3154680" cy="329184"/>
          </a:xfrm>
          <a:prstGeom prst="rect">
            <a:avLst/>
          </a:prstGeom>
          <a:noFill/>
        </p:spPr>
        <p:txBody>
          <a:bodyPr wrap="square" lIns="0" tIns="0" rIns="0" bIns="0" anchor="t">
            <a:spAutoFit/>
          </a:bodyPr>
          <a:lstStyle/>
          <a:p>
            <a:pPr algn="l">
              <a:lnSpc>
                <a:spcPct val="100000"/>
              </a:lnSpc>
              <a:spcAft>
                <a:spcPts val="600"/>
              </a:spcAft>
            </a:pPr>
            <a:r>
              <a:rPr sz="1260" b="0">
                <a:solidFill>
                  <a:srgbClr val="B8C2CC"/>
                </a:solidFill>
                <a:latin typeface="Archivo"/>
              </a:rPr>
              <a:t>17 subjects · 5 classes · chance 20%</a:t>
            </a:r>
          </a:p>
        </p:txBody>
      </p:sp>
      <p:sp>
        <p:nvSpPr>
          <p:cNvPr id="18" name="Rectangle 17"/>
          <p:cNvSpPr/>
          <p:nvPr/>
        </p:nvSpPr>
        <p:spPr>
          <a:xfrm>
            <a:off x="4183380" y="4114800"/>
            <a:ext cx="5280660" cy="329184"/>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4183380" y="4114800"/>
            <a:ext cx="5109566" cy="329184"/>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9402674" y="4114800"/>
            <a:ext cx="1920240" cy="329184"/>
          </a:xfrm>
          <a:prstGeom prst="rect">
            <a:avLst/>
          </a:prstGeom>
          <a:noFill/>
        </p:spPr>
        <p:txBody>
          <a:bodyPr wrap="square" lIns="0" tIns="0" rIns="0" bIns="0" anchor="ctr">
            <a:spAutoFit/>
          </a:bodyPr>
          <a:lstStyle/>
          <a:p>
            <a:pPr algn="l">
              <a:lnSpc>
                <a:spcPct val="100000"/>
              </a:lnSpc>
              <a:spcAft>
                <a:spcPts val="600"/>
              </a:spcAft>
            </a:pPr>
            <a:r>
              <a:rPr sz="1410" b="1">
                <a:solidFill>
                  <a:srgbClr val="00D4FF"/>
                </a:solidFill>
                <a:latin typeface="Archivo"/>
              </a:rPr>
              <a:t>96.8%</a:t>
            </a:r>
          </a:p>
        </p:txBody>
      </p:sp>
      <p:sp>
        <p:nvSpPr>
          <p:cNvPr id="21" name="Rectangle 20"/>
          <p:cNvSpPr/>
          <p:nvPr/>
        </p:nvSpPr>
        <p:spPr>
          <a:xfrm>
            <a:off x="4183380" y="4526280"/>
            <a:ext cx="5280660" cy="329184"/>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4183380" y="4526280"/>
            <a:ext cx="1868296" cy="329184"/>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161404" y="4526280"/>
            <a:ext cx="1920240" cy="329184"/>
          </a:xfrm>
          <a:prstGeom prst="rect">
            <a:avLst/>
          </a:prstGeom>
          <a:noFill/>
        </p:spPr>
        <p:txBody>
          <a:bodyPr wrap="square" lIns="0" tIns="0" rIns="0" bIns="0" anchor="ctr">
            <a:spAutoFit/>
          </a:bodyPr>
          <a:lstStyle/>
          <a:p>
            <a:pPr algn="l">
              <a:lnSpc>
                <a:spcPct val="100000"/>
              </a:lnSpc>
              <a:spcAft>
                <a:spcPts val="600"/>
              </a:spcAft>
            </a:pPr>
            <a:r>
              <a:rPr sz="1410" b="1">
                <a:solidFill>
                  <a:srgbClr val="F2A01E"/>
                </a:solidFill>
                <a:latin typeface="Archivo"/>
              </a:rPr>
              <a:t>35.4%  ±9.6</a:t>
            </a:r>
          </a:p>
        </p:txBody>
      </p:sp>
      <p:sp>
        <p:nvSpPr>
          <p:cNvPr id="24" name="TextBox 23"/>
          <p:cNvSpPr txBox="1"/>
          <p:nvPr/>
        </p:nvSpPr>
        <p:spPr>
          <a:xfrm>
            <a:off x="1069848" y="5239512"/>
            <a:ext cx="3017520" cy="356616"/>
          </a:xfrm>
          <a:prstGeom prst="rect">
            <a:avLst/>
          </a:prstGeom>
          <a:noFill/>
        </p:spPr>
        <p:txBody>
          <a:bodyPr wrap="square" lIns="0" tIns="0" rIns="0" bIns="0" anchor="t">
            <a:spAutoFit/>
          </a:bodyPr>
          <a:lstStyle/>
          <a:p>
            <a:pPr algn="l">
              <a:lnSpc>
                <a:spcPct val="100000"/>
              </a:lnSpc>
              <a:spcAft>
                <a:spcPts val="600"/>
              </a:spcAft>
            </a:pPr>
            <a:r>
              <a:rPr sz="1590" b="1">
                <a:solidFill>
                  <a:srgbClr val="FFFFFF"/>
                </a:solidFill>
                <a:latin typeface="Archivo"/>
              </a:rPr>
              <a:t>Exoskelebox</a:t>
            </a:r>
          </a:p>
        </p:txBody>
      </p:sp>
      <p:sp>
        <p:nvSpPr>
          <p:cNvPr id="25" name="TextBox 24"/>
          <p:cNvSpPr txBox="1"/>
          <p:nvPr/>
        </p:nvSpPr>
        <p:spPr>
          <a:xfrm>
            <a:off x="1069848" y="5596128"/>
            <a:ext cx="3154680" cy="329184"/>
          </a:xfrm>
          <a:prstGeom prst="rect">
            <a:avLst/>
          </a:prstGeom>
          <a:noFill/>
        </p:spPr>
        <p:txBody>
          <a:bodyPr wrap="square" lIns="0" tIns="0" rIns="0" bIns="0" anchor="t">
            <a:spAutoFit/>
          </a:bodyPr>
          <a:lstStyle/>
          <a:p>
            <a:pPr algn="l">
              <a:lnSpc>
                <a:spcPct val="100000"/>
              </a:lnSpc>
              <a:spcAft>
                <a:spcPts val="600"/>
              </a:spcAft>
            </a:pPr>
            <a:r>
              <a:rPr sz="1260" b="0">
                <a:solidFill>
                  <a:srgbClr val="B8C2CC"/>
                </a:solidFill>
                <a:latin typeface="Archivo"/>
              </a:rPr>
              <a:t>20 subjects · 6 classes · chance 17%</a:t>
            </a:r>
          </a:p>
        </p:txBody>
      </p:sp>
      <p:sp>
        <p:nvSpPr>
          <p:cNvPr id="26" name="Rectangle 25"/>
          <p:cNvSpPr/>
          <p:nvPr/>
        </p:nvSpPr>
        <p:spPr>
          <a:xfrm>
            <a:off x="4183380" y="5294376"/>
            <a:ext cx="5280660" cy="329184"/>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p:cNvSpPr/>
          <p:nvPr/>
        </p:nvSpPr>
        <p:spPr>
          <a:xfrm>
            <a:off x="4183380" y="5294376"/>
            <a:ext cx="3404440" cy="329184"/>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7697548" y="5294376"/>
            <a:ext cx="1920240" cy="329184"/>
          </a:xfrm>
          <a:prstGeom prst="rect">
            <a:avLst/>
          </a:prstGeom>
          <a:noFill/>
        </p:spPr>
        <p:txBody>
          <a:bodyPr wrap="square" lIns="0" tIns="0" rIns="0" bIns="0" anchor="ctr">
            <a:spAutoFit/>
          </a:bodyPr>
          <a:lstStyle/>
          <a:p>
            <a:pPr algn="l">
              <a:lnSpc>
                <a:spcPct val="100000"/>
              </a:lnSpc>
              <a:spcAft>
                <a:spcPts val="600"/>
              </a:spcAft>
            </a:pPr>
            <a:r>
              <a:rPr sz="1410" b="1">
                <a:solidFill>
                  <a:srgbClr val="00D4FF"/>
                </a:solidFill>
                <a:latin typeface="Archivo"/>
              </a:rPr>
              <a:t>64.5%</a:t>
            </a:r>
          </a:p>
        </p:txBody>
      </p:sp>
      <p:sp>
        <p:nvSpPr>
          <p:cNvPr id="29" name="Rectangle 28"/>
          <p:cNvSpPr/>
          <p:nvPr/>
        </p:nvSpPr>
        <p:spPr>
          <a:xfrm>
            <a:off x="4183380" y="5705856"/>
            <a:ext cx="5280660" cy="329184"/>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4183380" y="5705856"/>
            <a:ext cx="1121084" cy="329184"/>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5414192" y="5705856"/>
            <a:ext cx="1920240" cy="329184"/>
          </a:xfrm>
          <a:prstGeom prst="rect">
            <a:avLst/>
          </a:prstGeom>
          <a:noFill/>
        </p:spPr>
        <p:txBody>
          <a:bodyPr wrap="square" lIns="0" tIns="0" rIns="0" bIns="0" anchor="ctr">
            <a:spAutoFit/>
          </a:bodyPr>
          <a:lstStyle/>
          <a:p>
            <a:pPr algn="l">
              <a:lnSpc>
                <a:spcPct val="100000"/>
              </a:lnSpc>
              <a:spcAft>
                <a:spcPts val="600"/>
              </a:spcAft>
            </a:pPr>
            <a:r>
              <a:rPr sz="1410" b="1">
                <a:solidFill>
                  <a:srgbClr val="F2A01E"/>
                </a:solidFill>
                <a:latin typeface="Archivo"/>
              </a:rPr>
              <a:t>21.2%  ±2.7</a:t>
            </a:r>
          </a:p>
        </p:txBody>
      </p:sp>
      <p:sp>
        <p:nvSpPr>
          <p:cNvPr id="32" name="TextBox 31"/>
          <p:cNvSpPr txBox="1"/>
          <p:nvPr/>
        </p:nvSpPr>
        <p:spPr>
          <a:xfrm>
            <a:off x="1069848" y="6419088"/>
            <a:ext cx="3017520" cy="356616"/>
          </a:xfrm>
          <a:prstGeom prst="rect">
            <a:avLst/>
          </a:prstGeom>
          <a:noFill/>
        </p:spPr>
        <p:txBody>
          <a:bodyPr wrap="square" lIns="0" tIns="0" rIns="0" bIns="0" anchor="t">
            <a:spAutoFit/>
          </a:bodyPr>
          <a:lstStyle/>
          <a:p>
            <a:pPr algn="l">
              <a:lnSpc>
                <a:spcPct val="100000"/>
              </a:lnSpc>
              <a:spcAft>
                <a:spcPts val="600"/>
              </a:spcAft>
            </a:pPr>
            <a:r>
              <a:rPr sz="1590" b="1">
                <a:solidFill>
                  <a:srgbClr val="FFFFFF"/>
                </a:solidFill>
                <a:latin typeface="Archivo"/>
              </a:rPr>
              <a:t>PLoS ONE</a:t>
            </a:r>
          </a:p>
        </p:txBody>
      </p:sp>
      <p:sp>
        <p:nvSpPr>
          <p:cNvPr id="33" name="TextBox 32"/>
          <p:cNvSpPr txBox="1"/>
          <p:nvPr/>
        </p:nvSpPr>
        <p:spPr>
          <a:xfrm>
            <a:off x="1069848" y="6775704"/>
            <a:ext cx="3154680" cy="329184"/>
          </a:xfrm>
          <a:prstGeom prst="rect">
            <a:avLst/>
          </a:prstGeom>
          <a:noFill/>
        </p:spPr>
        <p:txBody>
          <a:bodyPr wrap="square" lIns="0" tIns="0" rIns="0" bIns="0" anchor="t">
            <a:spAutoFit/>
          </a:bodyPr>
          <a:lstStyle/>
          <a:p>
            <a:pPr algn="l">
              <a:lnSpc>
                <a:spcPct val="100000"/>
              </a:lnSpc>
              <a:spcAft>
                <a:spcPts val="600"/>
              </a:spcAft>
            </a:pPr>
            <a:r>
              <a:rPr sz="1260" b="0">
                <a:solidFill>
                  <a:srgbClr val="B8C2CC"/>
                </a:solidFill>
                <a:latin typeface="Archivo"/>
              </a:rPr>
              <a:t>27 subjects · 4 classes · chance 25%</a:t>
            </a:r>
          </a:p>
        </p:txBody>
      </p:sp>
      <p:sp>
        <p:nvSpPr>
          <p:cNvPr id="34" name="Rectangle 33"/>
          <p:cNvSpPr/>
          <p:nvPr/>
        </p:nvSpPr>
        <p:spPr>
          <a:xfrm>
            <a:off x="4183380" y="6473952"/>
            <a:ext cx="5280660" cy="329184"/>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Rectangle 34"/>
          <p:cNvSpPr/>
          <p:nvPr/>
        </p:nvSpPr>
        <p:spPr>
          <a:xfrm>
            <a:off x="4183380" y="6473952"/>
            <a:ext cx="2674653" cy="329184"/>
          </a:xfrm>
          <a:prstGeom prst="rect">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6967761" y="6473952"/>
            <a:ext cx="1920240" cy="329184"/>
          </a:xfrm>
          <a:prstGeom prst="rect">
            <a:avLst/>
          </a:prstGeom>
          <a:noFill/>
        </p:spPr>
        <p:txBody>
          <a:bodyPr wrap="square" lIns="0" tIns="0" rIns="0" bIns="0" anchor="ctr">
            <a:spAutoFit/>
          </a:bodyPr>
          <a:lstStyle/>
          <a:p>
            <a:pPr algn="l">
              <a:lnSpc>
                <a:spcPct val="100000"/>
              </a:lnSpc>
              <a:spcAft>
                <a:spcPts val="600"/>
              </a:spcAft>
            </a:pPr>
            <a:r>
              <a:rPr sz="1410" b="1">
                <a:solidFill>
                  <a:srgbClr val="00D4FF"/>
                </a:solidFill>
                <a:latin typeface="Archivo"/>
              </a:rPr>
              <a:t>50.6%</a:t>
            </a:r>
          </a:p>
        </p:txBody>
      </p:sp>
      <p:sp>
        <p:nvSpPr>
          <p:cNvPr id="37" name="Rectangle 36"/>
          <p:cNvSpPr/>
          <p:nvPr/>
        </p:nvSpPr>
        <p:spPr>
          <a:xfrm>
            <a:off x="4183380" y="6885432"/>
            <a:ext cx="5280660" cy="329184"/>
          </a:xfrm>
          <a:prstGeom prst="rect">
            <a:avLst/>
          </a:prstGeom>
          <a:solidFill>
            <a:srgbClr val="161D2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Rectangle 37"/>
          <p:cNvSpPr/>
          <p:nvPr/>
        </p:nvSpPr>
        <p:spPr>
          <a:xfrm>
            <a:off x="4183380" y="6885432"/>
            <a:ext cx="1550402" cy="329184"/>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5843510" y="6885432"/>
            <a:ext cx="1920240" cy="329184"/>
          </a:xfrm>
          <a:prstGeom prst="rect">
            <a:avLst/>
          </a:prstGeom>
          <a:noFill/>
        </p:spPr>
        <p:txBody>
          <a:bodyPr wrap="square" lIns="0" tIns="0" rIns="0" bIns="0" anchor="ctr">
            <a:spAutoFit/>
          </a:bodyPr>
          <a:lstStyle/>
          <a:p>
            <a:pPr algn="l">
              <a:lnSpc>
                <a:spcPct val="100000"/>
              </a:lnSpc>
              <a:spcAft>
                <a:spcPts val="600"/>
              </a:spcAft>
            </a:pPr>
            <a:r>
              <a:rPr sz="1410" b="1">
                <a:solidFill>
                  <a:srgbClr val="F2A01E"/>
                </a:solidFill>
                <a:latin typeface="Archivo"/>
              </a:rPr>
              <a:t>29.4%  ±1.5</a:t>
            </a:r>
          </a:p>
        </p:txBody>
      </p:sp>
      <p:cxnSp>
        <p:nvCxnSpPr>
          <p:cNvPr id="40" name="Connector 39"/>
          <p:cNvCxnSpPr/>
          <p:nvPr/>
        </p:nvCxnSpPr>
        <p:spPr>
          <a:xfrm>
            <a:off x="1097280" y="7379208"/>
            <a:ext cx="9464040" cy="0"/>
          </a:xfrm>
          <a:prstGeom prst="line">
            <a:avLst/>
          </a:prstGeom>
          <a:ln w="19050">
            <a:solidFill>
              <a:srgbClr val="1C273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97280" y="7475220"/>
            <a:ext cx="9464040" cy="384048"/>
          </a:xfrm>
          <a:prstGeom prst="rect">
            <a:avLst/>
          </a:prstGeom>
          <a:noFill/>
        </p:spPr>
        <p:txBody>
          <a:bodyPr wrap="square" lIns="0" tIns="0" rIns="0" bIns="0" anchor="t">
            <a:spAutoFit/>
          </a:bodyPr>
          <a:lstStyle/>
          <a:p>
            <a:pPr algn="l">
              <a:lnSpc>
                <a:spcPct val="100000"/>
              </a:lnSpc>
              <a:spcAft>
                <a:spcPts val="600"/>
              </a:spcAft>
            </a:pPr>
            <a:r>
              <a:rPr sz="1320" b="0">
                <a:solidFill>
                  <a:srgbClr val="B8C2CC"/>
                </a:solidFill>
                <a:latin typeface="Archivo"/>
              </a:rPr>
              <a:t>Both bars come from the identical 12-epoch protocol on identical data — only the split differs.</a:t>
            </a:r>
          </a:p>
        </p:txBody>
      </p:sp>
      <p:sp>
        <p:nvSpPr>
          <p:cNvPr id="42" name="TextBox 41"/>
          <p:cNvSpPr txBox="1"/>
          <p:nvPr/>
        </p:nvSpPr>
        <p:spPr>
          <a:xfrm>
            <a:off x="11247118" y="2880360"/>
            <a:ext cx="6309360" cy="411480"/>
          </a:xfrm>
          <a:prstGeom prst="rect">
            <a:avLst/>
          </a:prstGeom>
          <a:noFill/>
        </p:spPr>
        <p:txBody>
          <a:bodyPr wrap="square" lIns="0" tIns="0" rIns="0" bIns="0" anchor="t">
            <a:spAutoFit/>
          </a:bodyPr>
          <a:lstStyle/>
          <a:p>
            <a:pPr algn="l">
              <a:lnSpc>
                <a:spcPct val="100000"/>
              </a:lnSpc>
              <a:spcAft>
                <a:spcPts val="600"/>
              </a:spcAft>
            </a:pPr>
            <a:r>
              <a:rPr sz="1875" b="1">
                <a:solidFill>
                  <a:srgbClr val="FFFFFF"/>
                </a:solidFill>
                <a:latin typeface="Archivo"/>
              </a:rPr>
              <a:t>Why — and what we do about it</a:t>
            </a:r>
          </a:p>
        </p:txBody>
      </p:sp>
      <p:sp>
        <p:nvSpPr>
          <p:cNvPr id="43" name="Rounded Rectangle 42"/>
          <p:cNvSpPr/>
          <p:nvPr/>
        </p:nvSpPr>
        <p:spPr>
          <a:xfrm>
            <a:off x="11247118" y="3374136"/>
            <a:ext cx="6309360" cy="1837944"/>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43"/>
          <p:cNvSpPr/>
          <p:nvPr/>
        </p:nvSpPr>
        <p:spPr>
          <a:xfrm>
            <a:off x="11247118" y="3538728"/>
            <a:ext cx="109728" cy="1508760"/>
          </a:xfrm>
          <a:prstGeom prst="rect">
            <a:avLst/>
          </a:prstGeom>
          <a:solidFill>
            <a:srgbClr val="F2A0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11590018" y="3525012"/>
            <a:ext cx="5692138" cy="384048"/>
          </a:xfrm>
          <a:prstGeom prst="rect">
            <a:avLst/>
          </a:prstGeom>
          <a:noFill/>
        </p:spPr>
        <p:txBody>
          <a:bodyPr wrap="square" lIns="0" tIns="0" rIns="0" bIns="0" anchor="t">
            <a:spAutoFit/>
          </a:bodyPr>
          <a:lstStyle/>
          <a:p>
            <a:pPr algn="l">
              <a:lnSpc>
                <a:spcPct val="100000"/>
              </a:lnSpc>
              <a:spcAft>
                <a:spcPts val="600"/>
              </a:spcAft>
            </a:pPr>
            <a:r>
              <a:rPr sz="1710" b="1">
                <a:solidFill>
                  <a:srgbClr val="FFFFFF"/>
                </a:solidFill>
                <a:latin typeface="Archivo"/>
              </a:rPr>
              <a:t>Why the drop happens</a:t>
            </a:r>
          </a:p>
        </p:txBody>
      </p:sp>
      <p:sp>
        <p:nvSpPr>
          <p:cNvPr id="46" name="TextBox 45"/>
          <p:cNvSpPr txBox="1"/>
          <p:nvPr/>
        </p:nvSpPr>
        <p:spPr>
          <a:xfrm>
            <a:off x="11590018" y="3922776"/>
            <a:ext cx="5692138" cy="1152144"/>
          </a:xfrm>
          <a:prstGeom prst="rect">
            <a:avLst/>
          </a:prstGeom>
          <a:noFill/>
        </p:spPr>
        <p:txBody>
          <a:bodyPr wrap="square" lIns="0" tIns="0" rIns="0" bIns="0" anchor="t">
            <a:spAutoFit/>
          </a:bodyPr>
          <a:lstStyle/>
          <a:p>
            <a:pPr algn="l">
              <a:lnSpc>
                <a:spcPct val="105000"/>
              </a:lnSpc>
              <a:spcAft>
                <a:spcPts val="600"/>
              </a:spcAft>
            </a:pPr>
            <a:r>
              <a:rPr sz="1410" b="0">
                <a:solidFill>
                  <a:srgbClr val="B8C2CC"/>
                </a:solidFill>
                <a:latin typeface="Archivo"/>
              </a:rPr>
              <a:t>FMG reads the muscle bulging under the skin. Forearm size, fat layer, band tightness and the exact rotation of the band differ from person to person, so the same gesture produces a different 8-channel pattern on a new arm.</a:t>
            </a:r>
          </a:p>
        </p:txBody>
      </p:sp>
      <p:sp>
        <p:nvSpPr>
          <p:cNvPr id="47" name="Rounded Rectangle 46"/>
          <p:cNvSpPr/>
          <p:nvPr/>
        </p:nvSpPr>
        <p:spPr>
          <a:xfrm>
            <a:off x="11247118" y="5376672"/>
            <a:ext cx="6309360" cy="1837944"/>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Rectangle 47"/>
          <p:cNvSpPr/>
          <p:nvPr/>
        </p:nvSpPr>
        <p:spPr>
          <a:xfrm>
            <a:off x="11247118" y="5541264"/>
            <a:ext cx="109728" cy="1508760"/>
          </a:xfrm>
          <a:prstGeom prst="rect">
            <a:avLst/>
          </a:prstGeom>
          <a:solidFill>
            <a:srgbClr val="39D9A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TextBox 48"/>
          <p:cNvSpPr txBox="1"/>
          <p:nvPr/>
        </p:nvSpPr>
        <p:spPr>
          <a:xfrm>
            <a:off x="11590018" y="5527548"/>
            <a:ext cx="5692138" cy="384048"/>
          </a:xfrm>
          <a:prstGeom prst="rect">
            <a:avLst/>
          </a:prstGeom>
          <a:noFill/>
        </p:spPr>
        <p:txBody>
          <a:bodyPr wrap="square" lIns="0" tIns="0" rIns="0" bIns="0" anchor="t">
            <a:spAutoFit/>
          </a:bodyPr>
          <a:lstStyle/>
          <a:p>
            <a:pPr algn="l">
              <a:lnSpc>
                <a:spcPct val="100000"/>
              </a:lnSpc>
              <a:spcAft>
                <a:spcPts val="600"/>
              </a:spcAft>
            </a:pPr>
            <a:r>
              <a:rPr sz="1710" b="1">
                <a:solidFill>
                  <a:srgbClr val="FFFFFF"/>
                </a:solidFill>
                <a:latin typeface="Archivo"/>
              </a:rPr>
              <a:t>Why this is not a dead end</a:t>
            </a:r>
          </a:p>
        </p:txBody>
      </p:sp>
      <p:sp>
        <p:nvSpPr>
          <p:cNvPr id="50" name="TextBox 49"/>
          <p:cNvSpPr txBox="1"/>
          <p:nvPr/>
        </p:nvSpPr>
        <p:spPr>
          <a:xfrm>
            <a:off x="11590018" y="5925312"/>
            <a:ext cx="5692138" cy="1152144"/>
          </a:xfrm>
          <a:prstGeom prst="rect">
            <a:avLst/>
          </a:prstGeom>
          <a:noFill/>
        </p:spPr>
        <p:txBody>
          <a:bodyPr wrap="square" lIns="0" tIns="0" rIns="0" bIns="0" anchor="t">
            <a:spAutoFit/>
          </a:bodyPr>
          <a:lstStyle/>
          <a:p>
            <a:pPr algn="l">
              <a:lnSpc>
                <a:spcPct val="105000"/>
              </a:lnSpc>
              <a:spcAft>
                <a:spcPts val="600"/>
              </a:spcAft>
            </a:pPr>
            <a:r>
              <a:rPr sz="1410" b="0">
                <a:solidFill>
                  <a:srgbClr val="B8C2CC"/>
                </a:solidFill>
                <a:latin typeface="Archivo"/>
              </a:rPr>
              <a:t>This is exactly the case for per-patient training (slide 3). The motor encoders supply ground truth for free, so the hand calibrates on its own user instead of depending on a stranger's forearm.</a:t>
            </a:r>
          </a:p>
        </p:txBody>
      </p:sp>
      <p:sp>
        <p:nvSpPr>
          <p:cNvPr id="51" name="Rounded Rectangle 50"/>
          <p:cNvSpPr/>
          <p:nvPr/>
        </p:nvSpPr>
        <p:spPr>
          <a:xfrm>
            <a:off x="11247118" y="7379208"/>
            <a:ext cx="6309360" cy="521208"/>
          </a:xfrm>
          <a:prstGeom prst="roundRect">
            <a:avLst>
              <a:gd name="adj" fmla="val 6000"/>
            </a:avLst>
          </a:prstGeom>
          <a:solidFill>
            <a:srgbClr val="12181F"/>
          </a:solidFill>
          <a:ln w="19050">
            <a:solidFill>
              <a:srgbClr val="1C273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TextBox 51"/>
          <p:cNvSpPr txBox="1"/>
          <p:nvPr/>
        </p:nvSpPr>
        <p:spPr>
          <a:xfrm>
            <a:off x="11548872" y="7379208"/>
            <a:ext cx="5760720" cy="521208"/>
          </a:xfrm>
          <a:prstGeom prst="rect">
            <a:avLst/>
          </a:prstGeom>
          <a:noFill/>
        </p:spPr>
        <p:txBody>
          <a:bodyPr wrap="square" lIns="0" tIns="0" rIns="0" bIns="0" anchor="ctr">
            <a:spAutoFit/>
          </a:bodyPr>
          <a:lstStyle/>
          <a:p>
            <a:pPr algn="l">
              <a:lnSpc>
                <a:spcPct val="100000"/>
              </a:lnSpc>
              <a:spcAft>
                <a:spcPts val="600"/>
              </a:spcAft>
            </a:pPr>
            <a:r>
              <a:rPr sz="1335" b="1">
                <a:solidFill>
                  <a:srgbClr val="FFFFFF"/>
                </a:solidFill>
                <a:latin typeface="Archivo"/>
              </a:rPr>
              <a:t>Regression too:  </a:t>
            </a:r>
            <a:r>
              <a:rPr sz="1335" b="0">
                <a:solidFill>
                  <a:srgbClr val="B8C2CC"/>
                </a:solidFill>
                <a:latin typeface="Archivo"/>
              </a:rPr>
              <a:t>R² 0.85 → 0.03 on an unseen subject (Zenodo).</a:t>
            </a:r>
          </a:p>
        </p:txBody>
      </p:sp>
      <p:sp>
        <p:nvSpPr>
          <p:cNvPr id="53" name="Rectangle 52"/>
          <p:cNvSpPr/>
          <p:nvPr/>
        </p:nvSpPr>
        <p:spPr>
          <a:xfrm>
            <a:off x="754380" y="8037576"/>
            <a:ext cx="16802100" cy="1481328"/>
          </a:xfrm>
          <a:prstGeom prst="rect">
            <a:avLst/>
          </a:prstGeom>
          <a:solidFill>
            <a:srgbClr val="0F141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TextBox 53"/>
          <p:cNvSpPr txBox="1"/>
          <p:nvPr/>
        </p:nvSpPr>
        <p:spPr>
          <a:xfrm>
            <a:off x="1097280" y="8188452"/>
            <a:ext cx="16116300" cy="411480"/>
          </a:xfrm>
          <a:prstGeom prst="rect">
            <a:avLst/>
          </a:prstGeom>
          <a:noFill/>
        </p:spPr>
        <p:txBody>
          <a:bodyPr wrap="square" lIns="0" tIns="0" rIns="0" bIns="0" anchor="t">
            <a:spAutoFit/>
          </a:bodyPr>
          <a:lstStyle/>
          <a:p>
            <a:pPr algn="l">
              <a:lnSpc>
                <a:spcPct val="100000"/>
              </a:lnSpc>
              <a:spcAft>
                <a:spcPts val="600"/>
              </a:spcAft>
            </a:pPr>
            <a:r>
              <a:rPr sz="1680" b="1">
                <a:solidFill>
                  <a:srgbClr val="F2A01E"/>
                </a:solidFill>
                <a:latin typeface="Archivo"/>
              </a:rPr>
              <a:t>What we claim — and what we do not</a:t>
            </a:r>
          </a:p>
        </p:txBody>
      </p:sp>
      <p:sp>
        <p:nvSpPr>
          <p:cNvPr id="55" name="TextBox 54"/>
          <p:cNvSpPr txBox="1"/>
          <p:nvPr/>
        </p:nvSpPr>
        <p:spPr>
          <a:xfrm>
            <a:off x="1097280" y="8613648"/>
            <a:ext cx="16116300" cy="768096"/>
          </a:xfrm>
          <a:prstGeom prst="rect">
            <a:avLst/>
          </a:prstGeom>
          <a:noFill/>
        </p:spPr>
        <p:txBody>
          <a:bodyPr wrap="square" lIns="0" tIns="0" rIns="0" bIns="0" anchor="t">
            <a:spAutoFit/>
          </a:bodyPr>
          <a:lstStyle/>
          <a:p>
            <a:pPr algn="l">
              <a:lnSpc>
                <a:spcPct val="112000"/>
              </a:lnSpc>
              <a:spcAft>
                <a:spcPts val="600"/>
              </a:spcAft>
            </a:pPr>
            <a:r>
              <a:rPr sz="1410" b="0">
                <a:solidFill>
                  <a:srgbClr val="8A97A6"/>
                </a:solidFill>
                <a:latin typeface="Archivo"/>
              </a:rPr>
              <a:t>We claim a real-time model that learns an individual subject's FMG signal well on published open data, and runs inside the hand's time and power budget. We do not claim a plug-and-play model that works on an unseen arm out of the box — no published FMG model does — and we have not yet collected data from our own patients. The per-patient calibration step is where that happens, and it is the engineering answer to this limit, not a workaround for it.</a:t>
            </a:r>
          </a:p>
        </p:txBody>
      </p:sp>
      <p:sp>
        <p:nvSpPr>
          <p:cNvPr id="56" name="TextBox 55"/>
          <p:cNvSpPr txBox="1"/>
          <p:nvPr/>
        </p:nvSpPr>
        <p:spPr>
          <a:xfrm>
            <a:off x="754380" y="9656064"/>
            <a:ext cx="10972800" cy="411480"/>
          </a:xfrm>
          <a:prstGeom prst="rect">
            <a:avLst/>
          </a:prstGeom>
          <a:noFill/>
        </p:spPr>
        <p:txBody>
          <a:bodyPr wrap="square" lIns="0" tIns="0" rIns="0" bIns="0" anchor="ctr">
            <a:spAutoFit/>
          </a:bodyPr>
          <a:lstStyle/>
          <a:p>
            <a:pPr algn="l">
              <a:lnSpc>
                <a:spcPct val="100000"/>
              </a:lnSpc>
              <a:spcAft>
                <a:spcPts val="600"/>
              </a:spcAft>
            </a:pPr>
            <a:r>
              <a:rPr sz="1350" b="0">
                <a:solidFill>
                  <a:srgbClr val="B8C2CC"/>
                </a:solidFill>
                <a:latin typeface="JetBrains Mono"/>
              </a:rPr>
              <a:t>JoTouch — Technical Brief · Sensing, Control &amp; AI</a:t>
            </a:r>
          </a:p>
        </p:txBody>
      </p:sp>
      <p:sp>
        <p:nvSpPr>
          <p:cNvPr id="57" name="TextBox 56"/>
          <p:cNvSpPr txBox="1"/>
          <p:nvPr/>
        </p:nvSpPr>
        <p:spPr>
          <a:xfrm>
            <a:off x="15361920" y="9656064"/>
            <a:ext cx="2194560" cy="411480"/>
          </a:xfrm>
          <a:prstGeom prst="rect">
            <a:avLst/>
          </a:prstGeom>
          <a:noFill/>
        </p:spPr>
        <p:txBody>
          <a:bodyPr wrap="square" lIns="0" tIns="0" rIns="0" bIns="0" anchor="ctr">
            <a:spAutoFit/>
          </a:bodyPr>
          <a:lstStyle/>
          <a:p>
            <a:pPr algn="r">
              <a:lnSpc>
                <a:spcPct val="100000"/>
              </a:lnSpc>
              <a:spcAft>
                <a:spcPts val="600"/>
              </a:spcAft>
            </a:pPr>
            <a:r>
              <a:rPr sz="1350" b="1">
                <a:solidFill>
                  <a:srgbClr val="B8C2CC"/>
                </a:solidFill>
                <a:latin typeface="JetBrains Mono"/>
              </a:rPr>
              <a:t>19 / 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26" name="Text 0"/>
          <p:cNvSpPr/>
          <p:nvPr/>
        </p:nvSpPr>
        <p:spPr>
          <a:xfrm>
            <a:off x="1104840" y="876240"/>
            <a:ext cx="424296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562">
                <a:solidFill>
                  <a:srgbClr val="00D4FF"/>
                </a:solidFill>
                <a:latin typeface="JetBrains Mono"/>
                <a:ea typeface="JetBrains Mono"/>
              </a:rPr>
              <a:t>PHASE 1 · SOFTWARE</a:t>
            </a:r>
            <a:endParaRPr lang="en-US" sz="1870" b="0" strike="noStrike" spc="-1">
              <a:solidFill>
                <a:srgbClr val="FFFFFF"/>
              </a:solidFill>
              <a:latin typeface="Arial"/>
            </a:endParaRPr>
          </a:p>
        </p:txBody>
      </p:sp>
      <p:sp>
        <p:nvSpPr>
          <p:cNvPr id="227" name="Text 1"/>
          <p:cNvSpPr/>
          <p:nvPr/>
        </p:nvSpPr>
        <p:spPr>
          <a:xfrm>
            <a:off x="15882840" y="876240"/>
            <a:ext cx="14299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35" dirty="0">
                <a:solidFill>
                  <a:srgbClr val="5C6977"/>
                </a:solidFill>
                <a:latin typeface="JetBrains Mono"/>
                <a:ea typeface="JetBrains Mono"/>
              </a:rPr>
              <a:t>20 / 22</a:t>
            </a:r>
            <a:endParaRPr lang="en-US" sz="1870" b="0" strike="noStrike" spc="-1" dirty="0">
              <a:solidFill>
                <a:srgbClr val="FFFFFF"/>
              </a:solidFill>
              <a:latin typeface="Arial"/>
            </a:endParaRPr>
          </a:p>
        </p:txBody>
      </p:sp>
      <p:sp>
        <p:nvSpPr>
          <p:cNvPr id="228" name="Text 2"/>
          <p:cNvSpPr/>
          <p:nvPr/>
        </p:nvSpPr>
        <p:spPr>
          <a:xfrm>
            <a:off x="1104840" y="1479600"/>
            <a:ext cx="5663520" cy="628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10000"/>
          </a:bodyPr>
          <a:lstStyle/>
          <a:p>
            <a:pPr defTabSz="914400">
              <a:lnSpc>
                <a:spcPct val="100000"/>
              </a:lnSpc>
              <a:tabLst>
                <a:tab pos="0" algn="l"/>
              </a:tabLst>
            </a:pPr>
            <a:r>
              <a:rPr lang="en-US" sz="4650" b="1" strike="noStrike" spc="-1">
                <a:solidFill>
                  <a:srgbClr val="FFFFFF"/>
                </a:solidFill>
                <a:latin typeface="Archivo Black"/>
                <a:ea typeface="Archivo Black"/>
              </a:rPr>
              <a:t>ROS 2 Dataflow</a:t>
            </a:r>
            <a:endParaRPr lang="en-US" sz="4650" b="0" strike="noStrike" spc="-1">
              <a:solidFill>
                <a:srgbClr val="FFFFFF"/>
              </a:solidFill>
              <a:latin typeface="Arial"/>
            </a:endParaRPr>
          </a:p>
        </p:txBody>
      </p:sp>
      <p:sp>
        <p:nvSpPr>
          <p:cNvPr id="229" name="Shape 3"/>
          <p:cNvSpPr/>
          <p:nvPr/>
        </p:nvSpPr>
        <p:spPr>
          <a:xfrm>
            <a:off x="13266360" y="1820880"/>
            <a:ext cx="151920" cy="15192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30" name="Text 4"/>
          <p:cNvSpPr/>
          <p:nvPr/>
        </p:nvSpPr>
        <p:spPr>
          <a:xfrm>
            <a:off x="13533120" y="1746360"/>
            <a:ext cx="761760" cy="33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800" b="0" strike="noStrike" spc="-1">
                <a:solidFill>
                  <a:srgbClr val="8A97A6"/>
                </a:solidFill>
                <a:latin typeface="JetBrains Mono"/>
                <a:ea typeface="JetBrains Mono"/>
              </a:rPr>
              <a:t>INPUT</a:t>
            </a:r>
            <a:endParaRPr lang="en-US" sz="1800" b="0" strike="noStrike" spc="-1">
              <a:solidFill>
                <a:srgbClr val="FFFFFF"/>
              </a:solidFill>
              <a:latin typeface="Arial"/>
            </a:endParaRPr>
          </a:p>
        </p:txBody>
      </p:sp>
      <p:sp>
        <p:nvSpPr>
          <p:cNvPr id="231" name="Shape 5"/>
          <p:cNvSpPr/>
          <p:nvPr/>
        </p:nvSpPr>
        <p:spPr>
          <a:xfrm>
            <a:off x="14542920" y="1820880"/>
            <a:ext cx="151920" cy="151920"/>
          </a:xfrm>
          <a:prstGeom prst="rect">
            <a:avLst/>
          </a:prstGeom>
          <a:solidFill>
            <a:srgbClr val="39D9A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32" name="Text 6"/>
          <p:cNvSpPr/>
          <p:nvPr/>
        </p:nvSpPr>
        <p:spPr>
          <a:xfrm>
            <a:off x="14809320" y="1746360"/>
            <a:ext cx="1036080" cy="33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3333"/>
          </a:bodyPr>
          <a:lstStyle/>
          <a:p>
            <a:pPr defTabSz="914400">
              <a:lnSpc>
                <a:spcPct val="100000"/>
              </a:lnSpc>
              <a:tabLst>
                <a:tab pos="0" algn="l"/>
              </a:tabLst>
            </a:pPr>
            <a:r>
              <a:rPr lang="en-US" sz="1800" b="0" strike="noStrike" spc="-1">
                <a:solidFill>
                  <a:srgbClr val="8A97A6"/>
                </a:solidFill>
                <a:latin typeface="JetBrains Mono"/>
                <a:ea typeface="JetBrains Mono"/>
              </a:rPr>
              <a:t>COMPUTE</a:t>
            </a:r>
            <a:endParaRPr lang="en-US" sz="1800" b="0" strike="noStrike" spc="-1">
              <a:solidFill>
                <a:srgbClr val="FFFFFF"/>
              </a:solidFill>
              <a:latin typeface="Arial"/>
            </a:endParaRPr>
          </a:p>
        </p:txBody>
      </p:sp>
      <p:sp>
        <p:nvSpPr>
          <p:cNvPr id="233" name="Shape 7"/>
          <p:cNvSpPr/>
          <p:nvPr/>
        </p:nvSpPr>
        <p:spPr>
          <a:xfrm>
            <a:off x="16093440" y="1820880"/>
            <a:ext cx="151920" cy="151920"/>
          </a:xfrm>
          <a:prstGeom prst="rect">
            <a:avLst/>
          </a:prstGeom>
          <a:solidFill>
            <a:srgbClr val="BCA2F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34" name="Text 8"/>
          <p:cNvSpPr/>
          <p:nvPr/>
        </p:nvSpPr>
        <p:spPr>
          <a:xfrm>
            <a:off x="16360200" y="1746360"/>
            <a:ext cx="898920" cy="33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93333"/>
          </a:bodyPr>
          <a:lstStyle/>
          <a:p>
            <a:pPr defTabSz="914400">
              <a:lnSpc>
                <a:spcPct val="100000"/>
              </a:lnSpc>
              <a:tabLst>
                <a:tab pos="0" algn="l"/>
              </a:tabLst>
            </a:pPr>
            <a:r>
              <a:rPr lang="en-US" sz="1800" b="0" strike="noStrike" spc="-1">
                <a:solidFill>
                  <a:srgbClr val="8A97A6"/>
                </a:solidFill>
                <a:latin typeface="JetBrains Mono"/>
                <a:ea typeface="JetBrains Mono"/>
              </a:rPr>
              <a:t>OUTPUT</a:t>
            </a:r>
            <a:endParaRPr lang="en-US" sz="1800" b="0" strike="noStrike" spc="-1">
              <a:solidFill>
                <a:srgbClr val="FFFFFF"/>
              </a:solidFill>
              <a:latin typeface="Arial"/>
            </a:endParaRPr>
          </a:p>
        </p:txBody>
      </p:sp>
      <p:sp>
        <p:nvSpPr>
          <p:cNvPr id="235" name="Shape 9"/>
          <p:cNvSpPr/>
          <p:nvPr/>
        </p:nvSpPr>
        <p:spPr>
          <a:xfrm>
            <a:off x="1805535" y="4138849"/>
            <a:ext cx="2857320" cy="1420560"/>
          </a:xfrm>
          <a:prstGeom prst="rect">
            <a:avLst/>
          </a:prstGeom>
          <a:solidFill>
            <a:srgbClr val="1218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36" name="Shape 10"/>
          <p:cNvSpPr/>
          <p:nvPr/>
        </p:nvSpPr>
        <p:spPr>
          <a:xfrm>
            <a:off x="1805535" y="5551489"/>
            <a:ext cx="28573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37" name="Shape 11"/>
          <p:cNvSpPr/>
          <p:nvPr/>
        </p:nvSpPr>
        <p:spPr>
          <a:xfrm>
            <a:off x="1805535" y="4138849"/>
            <a:ext cx="28573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38" name="Shape 12"/>
          <p:cNvSpPr/>
          <p:nvPr/>
        </p:nvSpPr>
        <p:spPr>
          <a:xfrm>
            <a:off x="1805535" y="4138849"/>
            <a:ext cx="31320" cy="142056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39" name="Shape 13"/>
          <p:cNvSpPr/>
          <p:nvPr/>
        </p:nvSpPr>
        <p:spPr>
          <a:xfrm>
            <a:off x="4655295" y="4138849"/>
            <a:ext cx="9000" cy="142056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0" name="Text 14"/>
          <p:cNvSpPr/>
          <p:nvPr/>
        </p:nvSpPr>
        <p:spPr>
          <a:xfrm>
            <a:off x="2103975" y="4394449"/>
            <a:ext cx="2512440" cy="379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020" b="1" strike="noStrike" spc="-1" dirty="0">
                <a:solidFill>
                  <a:srgbClr val="FFFFFF"/>
                </a:solidFill>
                <a:latin typeface="JetBrains Mono"/>
                <a:ea typeface="JetBrains Mono"/>
              </a:rPr>
              <a:t>/</a:t>
            </a:r>
            <a:r>
              <a:rPr lang="en-US" sz="2020" b="1" strike="noStrike" spc="-1" dirty="0" err="1">
                <a:solidFill>
                  <a:srgbClr val="FFFFFF"/>
                </a:solidFill>
                <a:latin typeface="JetBrains Mono"/>
                <a:ea typeface="JetBrains Mono"/>
              </a:rPr>
              <a:t>jotouch_fmg</a:t>
            </a:r>
            <a:endParaRPr lang="en-US" sz="2020" b="0" strike="noStrike" spc="-1" dirty="0">
              <a:solidFill>
                <a:srgbClr val="FFFFFF"/>
              </a:solidFill>
              <a:latin typeface="Arial"/>
            </a:endParaRPr>
          </a:p>
        </p:txBody>
      </p:sp>
      <p:sp>
        <p:nvSpPr>
          <p:cNvPr id="241" name="Text 15"/>
          <p:cNvSpPr/>
          <p:nvPr/>
        </p:nvSpPr>
        <p:spPr>
          <a:xfrm>
            <a:off x="2103975" y="4811689"/>
            <a:ext cx="2360160" cy="529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a:bodyPr>
          <a:lstStyle/>
          <a:p>
            <a:pPr defTabSz="914400">
              <a:lnSpc>
                <a:spcPct val="100000"/>
              </a:lnSpc>
              <a:tabLst>
                <a:tab pos="0" algn="l"/>
              </a:tabLst>
            </a:pPr>
            <a:r>
              <a:rPr lang="en-US" sz="1800" b="0" strike="noStrike" spc="-1">
                <a:solidFill>
                  <a:srgbClr val="8A97A6"/>
                </a:solidFill>
                <a:latin typeface="Archivo"/>
                <a:ea typeface="Archivo"/>
              </a:rPr>
              <a:t>synthetic FMG @ 200 Hz</a:t>
            </a:r>
            <a:endParaRPr lang="en-US" sz="1800" b="0" strike="noStrike" spc="-1">
              <a:solidFill>
                <a:srgbClr val="FFFFFF"/>
              </a:solidFill>
              <a:latin typeface="Arial"/>
            </a:endParaRPr>
          </a:p>
        </p:txBody>
      </p:sp>
      <p:sp>
        <p:nvSpPr>
          <p:cNvPr id="242" name="Text 16"/>
          <p:cNvSpPr/>
          <p:nvPr/>
        </p:nvSpPr>
        <p:spPr>
          <a:xfrm>
            <a:off x="5182181" y="4346849"/>
            <a:ext cx="1504440" cy="641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000" b="0" strike="noStrike" spc="-1" dirty="0">
                <a:solidFill>
                  <a:srgbClr val="5C6977"/>
                </a:solidFill>
                <a:latin typeface="JetBrains Mono"/>
                <a:ea typeface="JetBrains Mono"/>
              </a:rPr>
              <a:t>/</a:t>
            </a:r>
            <a:r>
              <a:rPr lang="en-US" sz="2000" spc="-1" dirty="0" err="1">
                <a:solidFill>
                  <a:srgbClr val="5C6977"/>
                </a:solidFill>
                <a:latin typeface="JetBrains Mono"/>
                <a:ea typeface="JetBrains Mono"/>
              </a:rPr>
              <a:t>jotouch</a:t>
            </a:r>
            <a:r>
              <a:rPr lang="en-US" sz="2000" spc="-1" dirty="0">
                <a:solidFill>
                  <a:srgbClr val="5C6977"/>
                </a:solidFill>
                <a:latin typeface="JetBrains Mono"/>
                <a:ea typeface="JetBrains Mono"/>
              </a:rPr>
              <a:t>/</a:t>
            </a:r>
            <a:r>
              <a:rPr lang="en-US" sz="2000" spc="-1" dirty="0" err="1">
                <a:solidFill>
                  <a:srgbClr val="5C6977"/>
                </a:solidFill>
                <a:latin typeface="JetBrains Mono"/>
                <a:ea typeface="JetBrains Mono"/>
              </a:rPr>
              <a:t>fmg</a:t>
            </a:r>
            <a:endParaRPr lang="en-US" sz="2000" b="0" strike="noStrike" spc="-1" dirty="0">
              <a:solidFill>
                <a:srgbClr val="FFFFFF"/>
              </a:solidFill>
              <a:latin typeface="Arial"/>
            </a:endParaRPr>
          </a:p>
        </p:txBody>
      </p:sp>
      <p:sp>
        <p:nvSpPr>
          <p:cNvPr id="243" name="Text 17"/>
          <p:cNvSpPr/>
          <p:nvPr/>
        </p:nvSpPr>
        <p:spPr>
          <a:xfrm>
            <a:off x="5683427" y="4764420"/>
            <a:ext cx="659520" cy="379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lnSpcReduction="10000"/>
          </a:bodyPr>
          <a:lstStyle/>
          <a:p>
            <a:pPr defTabSz="914400">
              <a:lnSpc>
                <a:spcPct val="100000"/>
              </a:lnSpc>
              <a:tabLst>
                <a:tab pos="0" algn="l"/>
              </a:tabLst>
            </a:pPr>
            <a:r>
              <a:rPr lang="en-US" sz="2250" b="0" strike="noStrike" spc="-151" dirty="0">
                <a:solidFill>
                  <a:srgbClr val="00D4FF"/>
                </a:solidFill>
                <a:latin typeface="Archivo"/>
                <a:ea typeface="Archivo"/>
              </a:rPr>
              <a:t>───▸</a:t>
            </a:r>
            <a:endParaRPr lang="en-US" sz="2250" b="0" strike="noStrike" spc="-1" dirty="0">
              <a:solidFill>
                <a:srgbClr val="FFFFFF"/>
              </a:solidFill>
              <a:latin typeface="Arial"/>
            </a:endParaRPr>
          </a:p>
        </p:txBody>
      </p:sp>
      <p:sp>
        <p:nvSpPr>
          <p:cNvPr id="244" name="Shape 18"/>
          <p:cNvSpPr/>
          <p:nvPr/>
        </p:nvSpPr>
        <p:spPr>
          <a:xfrm>
            <a:off x="7308315" y="4138849"/>
            <a:ext cx="2857320" cy="1420560"/>
          </a:xfrm>
          <a:prstGeom prst="rect">
            <a:avLst/>
          </a:prstGeom>
          <a:solidFill>
            <a:srgbClr val="1218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45" name="Shape 19"/>
          <p:cNvSpPr/>
          <p:nvPr/>
        </p:nvSpPr>
        <p:spPr>
          <a:xfrm>
            <a:off x="7308315" y="5551489"/>
            <a:ext cx="28573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46" name="Shape 20"/>
          <p:cNvSpPr/>
          <p:nvPr/>
        </p:nvSpPr>
        <p:spPr>
          <a:xfrm>
            <a:off x="7308315" y="4138849"/>
            <a:ext cx="28573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47" name="Shape 21"/>
          <p:cNvSpPr/>
          <p:nvPr/>
        </p:nvSpPr>
        <p:spPr>
          <a:xfrm>
            <a:off x="7308315" y="4138849"/>
            <a:ext cx="31320" cy="1420560"/>
          </a:xfrm>
          <a:prstGeom prst="rect">
            <a:avLst/>
          </a:prstGeom>
          <a:solidFill>
            <a:srgbClr val="39D9A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8" name="Shape 22"/>
          <p:cNvSpPr/>
          <p:nvPr/>
        </p:nvSpPr>
        <p:spPr>
          <a:xfrm>
            <a:off x="10158075" y="4138849"/>
            <a:ext cx="9000" cy="142056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9" name="Text 23"/>
          <p:cNvSpPr/>
          <p:nvPr/>
        </p:nvSpPr>
        <p:spPr>
          <a:xfrm>
            <a:off x="7606755" y="4394449"/>
            <a:ext cx="2512440" cy="379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020" b="1" strike="noStrike" spc="-1" dirty="0">
                <a:solidFill>
                  <a:srgbClr val="FFFFFF"/>
                </a:solidFill>
                <a:latin typeface="JetBrains Mono"/>
                <a:ea typeface="JetBrains Mono"/>
              </a:rPr>
              <a:t>/</a:t>
            </a:r>
            <a:r>
              <a:rPr lang="en-US" sz="2020" b="1" strike="noStrike" spc="-1" dirty="0" err="1">
                <a:solidFill>
                  <a:srgbClr val="FFFFFF"/>
                </a:solidFill>
                <a:latin typeface="JetBrains Mono"/>
                <a:ea typeface="JetBrains Mono"/>
              </a:rPr>
              <a:t>jotouch_brain</a:t>
            </a:r>
            <a:endParaRPr lang="en-US" sz="2020" b="0" strike="noStrike" spc="-1" dirty="0">
              <a:solidFill>
                <a:srgbClr val="FFFFFF"/>
              </a:solidFill>
              <a:latin typeface="Arial"/>
            </a:endParaRPr>
          </a:p>
        </p:txBody>
      </p:sp>
      <p:sp>
        <p:nvSpPr>
          <p:cNvPr id="250" name="Text 24"/>
          <p:cNvSpPr/>
          <p:nvPr/>
        </p:nvSpPr>
        <p:spPr>
          <a:xfrm>
            <a:off x="7606755" y="4811689"/>
            <a:ext cx="2360160" cy="529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87222" lnSpcReduction="10000"/>
          </a:bodyPr>
          <a:lstStyle/>
          <a:p>
            <a:pPr defTabSz="914400">
              <a:lnSpc>
                <a:spcPct val="100000"/>
              </a:lnSpc>
              <a:tabLst>
                <a:tab pos="0" algn="l"/>
              </a:tabLst>
            </a:pPr>
            <a:r>
              <a:rPr lang="en-US" sz="1800" b="0" strike="noStrike" spc="-1">
                <a:solidFill>
                  <a:srgbClr val="8A97A6"/>
                </a:solidFill>
                <a:latin typeface="Archivo"/>
                <a:ea typeface="Archivo"/>
              </a:rPr>
              <a:t>ML inference · dummy model</a:t>
            </a:r>
            <a:endParaRPr lang="en-US" sz="1800" b="0" strike="noStrike" spc="-1">
              <a:solidFill>
                <a:srgbClr val="FFFFFF"/>
              </a:solidFill>
              <a:latin typeface="Arial"/>
            </a:endParaRPr>
          </a:p>
        </p:txBody>
      </p:sp>
      <p:sp>
        <p:nvSpPr>
          <p:cNvPr id="251" name="Text 25"/>
          <p:cNvSpPr/>
          <p:nvPr/>
        </p:nvSpPr>
        <p:spPr>
          <a:xfrm>
            <a:off x="10356104" y="4343580"/>
            <a:ext cx="2776516" cy="5290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2000" b="0" strike="noStrike" spc="-1" dirty="0">
                <a:solidFill>
                  <a:srgbClr val="5C6977"/>
                </a:solidFill>
                <a:latin typeface="JetBrains Mono"/>
                <a:ea typeface="JetBrains Mono"/>
              </a:rPr>
              <a:t>/</a:t>
            </a:r>
            <a:r>
              <a:rPr lang="en-US" sz="2000" b="0" strike="noStrike" spc="-1" dirty="0" err="1">
                <a:solidFill>
                  <a:srgbClr val="5C6977"/>
                </a:solidFill>
                <a:latin typeface="JetBrains Mono"/>
                <a:ea typeface="JetBrains Mono"/>
              </a:rPr>
              <a:t>jotouch</a:t>
            </a:r>
            <a:r>
              <a:rPr lang="en-US" sz="2000" b="0" strike="noStrike" spc="-1" dirty="0">
                <a:solidFill>
                  <a:srgbClr val="5C6977"/>
                </a:solidFill>
                <a:latin typeface="JetBrains Mono"/>
                <a:ea typeface="JetBrains Mono"/>
              </a:rPr>
              <a:t>/</a:t>
            </a:r>
            <a:r>
              <a:rPr lang="en-US" sz="2000" b="0" strike="noStrike" spc="-1" dirty="0" err="1">
                <a:solidFill>
                  <a:srgbClr val="5C6977"/>
                </a:solidFill>
                <a:latin typeface="JetBrains Mono"/>
                <a:ea typeface="JetBrains Mono"/>
              </a:rPr>
              <a:t>joint_command</a:t>
            </a:r>
            <a:endParaRPr lang="en-US" sz="2000" b="0" strike="noStrike" spc="-1" dirty="0">
              <a:solidFill>
                <a:srgbClr val="FFFFFF"/>
              </a:solidFill>
              <a:latin typeface="Arial"/>
            </a:endParaRPr>
          </a:p>
        </p:txBody>
      </p:sp>
      <p:sp>
        <p:nvSpPr>
          <p:cNvPr id="252" name="Text 26"/>
          <p:cNvSpPr/>
          <p:nvPr/>
        </p:nvSpPr>
        <p:spPr>
          <a:xfrm>
            <a:off x="11298764" y="4720992"/>
            <a:ext cx="891196" cy="4297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250" b="0" strike="noStrike" spc="-151">
                <a:solidFill>
                  <a:srgbClr val="00D4FF"/>
                </a:solidFill>
                <a:latin typeface="Archivo"/>
                <a:ea typeface="Archivo"/>
              </a:rPr>
              <a:t>───▸</a:t>
            </a:r>
            <a:endParaRPr lang="en-US" sz="2250" b="0" strike="noStrike" spc="-1">
              <a:solidFill>
                <a:srgbClr val="FFFFFF"/>
              </a:solidFill>
              <a:latin typeface="Arial"/>
            </a:endParaRPr>
          </a:p>
        </p:txBody>
      </p:sp>
      <p:sp>
        <p:nvSpPr>
          <p:cNvPr id="253" name="Shape 27"/>
          <p:cNvSpPr/>
          <p:nvPr/>
        </p:nvSpPr>
        <p:spPr>
          <a:xfrm>
            <a:off x="13418280" y="4273560"/>
            <a:ext cx="3350160" cy="1198080"/>
          </a:xfrm>
          <a:prstGeom prst="rect">
            <a:avLst/>
          </a:prstGeom>
          <a:solidFill>
            <a:srgbClr val="1218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54" name="Shape 28"/>
          <p:cNvSpPr/>
          <p:nvPr/>
        </p:nvSpPr>
        <p:spPr>
          <a:xfrm>
            <a:off x="13418280" y="5464440"/>
            <a:ext cx="335016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55" name="Shape 29"/>
          <p:cNvSpPr/>
          <p:nvPr/>
        </p:nvSpPr>
        <p:spPr>
          <a:xfrm>
            <a:off x="13418280" y="4273560"/>
            <a:ext cx="335016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56" name="Shape 30"/>
          <p:cNvSpPr/>
          <p:nvPr/>
        </p:nvSpPr>
        <p:spPr>
          <a:xfrm>
            <a:off x="13418280" y="4273560"/>
            <a:ext cx="31320" cy="1198080"/>
          </a:xfrm>
          <a:prstGeom prst="rect">
            <a:avLst/>
          </a:prstGeom>
          <a:solidFill>
            <a:srgbClr val="39D9A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7" name="Shape 31"/>
          <p:cNvSpPr/>
          <p:nvPr/>
        </p:nvSpPr>
        <p:spPr>
          <a:xfrm>
            <a:off x="16760880" y="4273560"/>
            <a:ext cx="9000" cy="119808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8" name="Text 32"/>
          <p:cNvSpPr/>
          <p:nvPr/>
        </p:nvSpPr>
        <p:spPr>
          <a:xfrm>
            <a:off x="13716720" y="4529160"/>
            <a:ext cx="3054960" cy="379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020" b="1" strike="noStrike" spc="-1" dirty="0">
                <a:solidFill>
                  <a:srgbClr val="FFFFFF"/>
                </a:solidFill>
                <a:latin typeface="JetBrains Mono"/>
                <a:ea typeface="JetBrains Mono"/>
              </a:rPr>
              <a:t>/</a:t>
            </a:r>
            <a:r>
              <a:rPr lang="en-US" sz="2020" b="1" strike="noStrike" spc="-1" dirty="0" err="1">
                <a:solidFill>
                  <a:srgbClr val="FFFFFF"/>
                </a:solidFill>
                <a:latin typeface="JetBrains Mono"/>
                <a:ea typeface="JetBrains Mono"/>
              </a:rPr>
              <a:t>jotouch_kinematics</a:t>
            </a:r>
            <a:endParaRPr lang="en-US" sz="2020" b="0" strike="noStrike" spc="-1" dirty="0">
              <a:solidFill>
                <a:srgbClr val="FFFFFF"/>
              </a:solidFill>
              <a:latin typeface="Arial"/>
            </a:endParaRPr>
          </a:p>
        </p:txBody>
      </p:sp>
      <p:sp>
        <p:nvSpPr>
          <p:cNvPr id="259" name="Text 33"/>
          <p:cNvSpPr/>
          <p:nvPr/>
        </p:nvSpPr>
        <p:spPr>
          <a:xfrm>
            <a:off x="13716720" y="4946760"/>
            <a:ext cx="3054960" cy="307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lnSpcReduction="10000"/>
          </a:bodyPr>
          <a:lstStyle/>
          <a:p>
            <a:pPr defTabSz="914400">
              <a:lnSpc>
                <a:spcPct val="100000"/>
              </a:lnSpc>
              <a:tabLst>
                <a:tab pos="0" algn="l"/>
              </a:tabLst>
            </a:pPr>
            <a:r>
              <a:rPr lang="en-US" sz="1800" b="0" strike="noStrike" spc="-1">
                <a:solidFill>
                  <a:srgbClr val="8A97A6"/>
                </a:solidFill>
                <a:latin typeface="Archivo"/>
                <a:ea typeface="Archivo"/>
              </a:rPr>
              <a:t>7 DOF → 14 joint angles</a:t>
            </a:r>
            <a:endParaRPr lang="en-US" sz="1800" b="0" strike="noStrike" spc="-1">
              <a:solidFill>
                <a:srgbClr val="FFFFFF"/>
              </a:solidFill>
              <a:latin typeface="Arial"/>
            </a:endParaRPr>
          </a:p>
        </p:txBody>
      </p:sp>
      <p:sp>
        <p:nvSpPr>
          <p:cNvPr id="260" name="Text 34"/>
          <p:cNvSpPr/>
          <p:nvPr/>
        </p:nvSpPr>
        <p:spPr>
          <a:xfrm>
            <a:off x="7708140" y="5936760"/>
            <a:ext cx="196092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
                <a:solidFill>
                  <a:srgbClr val="5C6977"/>
                </a:solidFill>
                <a:latin typeface="JetBrains Mono"/>
                <a:ea typeface="JetBrains Mono"/>
              </a:rPr>
              <a:t>/joint_states</a:t>
            </a:r>
            <a:endParaRPr lang="en-US" sz="1800" b="0" strike="noStrike" spc="-1">
              <a:solidFill>
                <a:srgbClr val="FFFFFF"/>
              </a:solidFill>
              <a:latin typeface="Arial"/>
            </a:endParaRPr>
          </a:p>
        </p:txBody>
      </p:sp>
      <p:sp>
        <p:nvSpPr>
          <p:cNvPr id="261" name="Text 35"/>
          <p:cNvSpPr/>
          <p:nvPr/>
        </p:nvSpPr>
        <p:spPr>
          <a:xfrm>
            <a:off x="9144000" y="5962806"/>
            <a:ext cx="295560" cy="379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lnSpcReduction="10000"/>
          </a:bodyPr>
          <a:lstStyle/>
          <a:p>
            <a:pPr defTabSz="914400">
              <a:lnSpc>
                <a:spcPct val="100000"/>
              </a:lnSpc>
              <a:tabLst>
                <a:tab pos="0" algn="l"/>
              </a:tabLst>
            </a:pPr>
            <a:r>
              <a:rPr lang="en-US" sz="2250" b="0" strike="noStrike" spc="-1" dirty="0">
                <a:solidFill>
                  <a:srgbClr val="00D4FF"/>
                </a:solidFill>
                <a:latin typeface="Archivo"/>
                <a:ea typeface="Archivo"/>
              </a:rPr>
              <a:t>▼</a:t>
            </a:r>
            <a:endParaRPr lang="en-US" sz="2250" b="0" strike="noStrike" spc="-1" dirty="0">
              <a:solidFill>
                <a:srgbClr val="FFFFFF"/>
              </a:solidFill>
              <a:latin typeface="Arial"/>
            </a:endParaRPr>
          </a:p>
        </p:txBody>
      </p:sp>
      <p:sp>
        <p:nvSpPr>
          <p:cNvPr id="262" name="Shape 36"/>
          <p:cNvSpPr/>
          <p:nvPr/>
        </p:nvSpPr>
        <p:spPr>
          <a:xfrm>
            <a:off x="3359637" y="6606720"/>
            <a:ext cx="3098880" cy="1366560"/>
          </a:xfrm>
          <a:prstGeom prst="rect">
            <a:avLst/>
          </a:prstGeom>
          <a:solidFill>
            <a:srgbClr val="1218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63" name="Shape 37"/>
          <p:cNvSpPr/>
          <p:nvPr/>
        </p:nvSpPr>
        <p:spPr>
          <a:xfrm>
            <a:off x="3359637" y="7965720"/>
            <a:ext cx="309888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64" name="Shape 38"/>
          <p:cNvSpPr/>
          <p:nvPr/>
        </p:nvSpPr>
        <p:spPr>
          <a:xfrm>
            <a:off x="3359637" y="6606720"/>
            <a:ext cx="309888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65" name="Shape 39"/>
          <p:cNvSpPr/>
          <p:nvPr/>
        </p:nvSpPr>
        <p:spPr>
          <a:xfrm>
            <a:off x="3359637" y="6606720"/>
            <a:ext cx="31320" cy="1366560"/>
          </a:xfrm>
          <a:prstGeom prst="rect">
            <a:avLst/>
          </a:prstGeom>
          <a:solidFill>
            <a:srgbClr val="39D9A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6" name="Shape 40"/>
          <p:cNvSpPr/>
          <p:nvPr/>
        </p:nvSpPr>
        <p:spPr>
          <a:xfrm>
            <a:off x="6450957" y="6606720"/>
            <a:ext cx="9000" cy="136656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7" name="Text 41"/>
          <p:cNvSpPr/>
          <p:nvPr/>
        </p:nvSpPr>
        <p:spPr>
          <a:xfrm>
            <a:off x="3658077" y="6843240"/>
            <a:ext cx="277812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1" strike="noStrike" spc="-1" dirty="0">
                <a:solidFill>
                  <a:srgbClr val="FFFFFF"/>
                </a:solidFill>
                <a:latin typeface="JetBrains Mono"/>
                <a:ea typeface="JetBrains Mono"/>
              </a:rPr>
              <a:t>/</a:t>
            </a:r>
            <a:r>
              <a:rPr lang="en-US" sz="1950" b="1" strike="noStrike" spc="-1" dirty="0" err="1">
                <a:solidFill>
                  <a:srgbClr val="FFFFFF"/>
                </a:solidFill>
                <a:latin typeface="JetBrains Mono"/>
                <a:ea typeface="JetBrains Mono"/>
              </a:rPr>
              <a:t>jotouch_spine_sim</a:t>
            </a:r>
            <a:endParaRPr lang="en-US" sz="1950" b="0" strike="noStrike" spc="-1" dirty="0">
              <a:solidFill>
                <a:srgbClr val="FFFFFF"/>
              </a:solidFill>
              <a:latin typeface="Arial"/>
            </a:endParaRPr>
          </a:p>
        </p:txBody>
      </p:sp>
      <p:sp>
        <p:nvSpPr>
          <p:cNvPr id="268" name="Text 42"/>
          <p:cNvSpPr/>
          <p:nvPr/>
        </p:nvSpPr>
        <p:spPr>
          <a:xfrm>
            <a:off x="3658077" y="7245000"/>
            <a:ext cx="2601720" cy="529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a:bodyPr>
          <a:lstStyle/>
          <a:p>
            <a:pPr defTabSz="914400">
              <a:lnSpc>
                <a:spcPct val="100000"/>
              </a:lnSpc>
              <a:tabLst>
                <a:tab pos="0" algn="l"/>
              </a:tabLst>
            </a:pPr>
            <a:r>
              <a:rPr lang="en-US" sz="1800" b="0" strike="noStrike" spc="-1">
                <a:solidFill>
                  <a:srgbClr val="8A97A6"/>
                </a:solidFill>
                <a:latin typeface="Archivo"/>
                <a:ea typeface="Archivo"/>
              </a:rPr>
              <a:t>fake Teensy · 1st-order lag</a:t>
            </a:r>
            <a:endParaRPr lang="en-US" sz="1800" b="0" strike="noStrike" spc="-1">
              <a:solidFill>
                <a:srgbClr val="FFFFFF"/>
              </a:solidFill>
              <a:latin typeface="Arial"/>
            </a:endParaRPr>
          </a:p>
        </p:txBody>
      </p:sp>
      <p:sp>
        <p:nvSpPr>
          <p:cNvPr id="269" name="Shape 43"/>
          <p:cNvSpPr/>
          <p:nvPr/>
        </p:nvSpPr>
        <p:spPr>
          <a:xfrm>
            <a:off x="7448729" y="6606720"/>
            <a:ext cx="2857320" cy="1390320"/>
          </a:xfrm>
          <a:prstGeom prst="rect">
            <a:avLst/>
          </a:prstGeom>
          <a:solidFill>
            <a:srgbClr val="1218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70" name="Shape 44"/>
          <p:cNvSpPr/>
          <p:nvPr/>
        </p:nvSpPr>
        <p:spPr>
          <a:xfrm>
            <a:off x="7448729" y="7989480"/>
            <a:ext cx="28573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71" name="Shape 45"/>
          <p:cNvSpPr/>
          <p:nvPr/>
        </p:nvSpPr>
        <p:spPr>
          <a:xfrm>
            <a:off x="7448729" y="6606720"/>
            <a:ext cx="285732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72" name="Shape 46"/>
          <p:cNvSpPr/>
          <p:nvPr/>
        </p:nvSpPr>
        <p:spPr>
          <a:xfrm>
            <a:off x="7448729" y="6606720"/>
            <a:ext cx="31320" cy="1390320"/>
          </a:xfrm>
          <a:prstGeom prst="rect">
            <a:avLst/>
          </a:prstGeom>
          <a:solidFill>
            <a:srgbClr val="BCA2F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3" name="Shape 47"/>
          <p:cNvSpPr/>
          <p:nvPr/>
        </p:nvSpPr>
        <p:spPr>
          <a:xfrm>
            <a:off x="10298489" y="6606720"/>
            <a:ext cx="9000" cy="139032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4" name="Text 48"/>
          <p:cNvSpPr/>
          <p:nvPr/>
        </p:nvSpPr>
        <p:spPr>
          <a:xfrm>
            <a:off x="7747169" y="6843240"/>
            <a:ext cx="251244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1" strike="noStrike" spc="-1" dirty="0">
                <a:solidFill>
                  <a:srgbClr val="FFFFFF"/>
                </a:solidFill>
                <a:latin typeface="JetBrains Mono"/>
                <a:ea typeface="JetBrains Mono"/>
              </a:rPr>
              <a:t>/</a:t>
            </a:r>
            <a:r>
              <a:rPr lang="en-US" sz="1950" b="1" strike="noStrike" spc="-1" dirty="0" err="1">
                <a:solidFill>
                  <a:srgbClr val="FFFFFF"/>
                </a:solidFill>
                <a:latin typeface="JetBrains Mono"/>
                <a:ea typeface="JetBrains Mono"/>
              </a:rPr>
              <a:t>robot_state_pub</a:t>
            </a:r>
            <a:endParaRPr lang="en-US" sz="1950" b="0" strike="noStrike" spc="-1" dirty="0">
              <a:solidFill>
                <a:srgbClr val="FFFFFF"/>
              </a:solidFill>
              <a:latin typeface="Arial"/>
            </a:endParaRPr>
          </a:p>
        </p:txBody>
      </p:sp>
      <p:sp>
        <p:nvSpPr>
          <p:cNvPr id="275" name="Text 49"/>
          <p:cNvSpPr/>
          <p:nvPr/>
        </p:nvSpPr>
        <p:spPr>
          <a:xfrm>
            <a:off x="7747169" y="7245000"/>
            <a:ext cx="2360160" cy="553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a:bodyPr>
          <a:lstStyle/>
          <a:p>
            <a:pPr defTabSz="914400">
              <a:lnSpc>
                <a:spcPct val="100000"/>
              </a:lnSpc>
              <a:tabLst>
                <a:tab pos="0" algn="l"/>
              </a:tabLst>
            </a:pPr>
            <a:r>
              <a:rPr lang="en-US" sz="1800" b="0" strike="noStrike" spc="-1">
                <a:solidFill>
                  <a:srgbClr val="8A97A6"/>
                </a:solidFill>
                <a:latin typeface="Archivo"/>
                <a:ea typeface="Archivo"/>
              </a:rPr>
              <a:t>forward kinematics → /tf</a:t>
            </a:r>
            <a:endParaRPr lang="en-US" sz="1800" b="0" strike="noStrike" spc="-1">
              <a:solidFill>
                <a:srgbClr val="FFFFFF"/>
              </a:solidFill>
              <a:latin typeface="Arial"/>
            </a:endParaRPr>
          </a:p>
        </p:txBody>
      </p:sp>
      <p:sp>
        <p:nvSpPr>
          <p:cNvPr id="276" name="Text 50"/>
          <p:cNvSpPr/>
          <p:nvPr/>
        </p:nvSpPr>
        <p:spPr>
          <a:xfrm>
            <a:off x="10935360" y="6766560"/>
            <a:ext cx="48744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
                <a:solidFill>
                  <a:srgbClr val="5C6977"/>
                </a:solidFill>
                <a:latin typeface="JetBrains Mono"/>
                <a:ea typeface="JetBrains Mono"/>
              </a:rPr>
              <a:t>/tf</a:t>
            </a:r>
            <a:endParaRPr lang="en-US" sz="1800" b="0" strike="noStrike" spc="-1">
              <a:solidFill>
                <a:srgbClr val="FFFFFF"/>
              </a:solidFill>
              <a:latin typeface="Arial"/>
            </a:endParaRPr>
          </a:p>
        </p:txBody>
      </p:sp>
      <p:sp>
        <p:nvSpPr>
          <p:cNvPr id="277" name="Text 51"/>
          <p:cNvSpPr/>
          <p:nvPr/>
        </p:nvSpPr>
        <p:spPr>
          <a:xfrm>
            <a:off x="10849320" y="7125480"/>
            <a:ext cx="659520" cy="379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lnSpcReduction="10000"/>
          </a:bodyPr>
          <a:lstStyle/>
          <a:p>
            <a:pPr defTabSz="914400">
              <a:lnSpc>
                <a:spcPct val="100000"/>
              </a:lnSpc>
              <a:tabLst>
                <a:tab pos="0" algn="l"/>
              </a:tabLst>
            </a:pPr>
            <a:r>
              <a:rPr lang="en-US" sz="2250" b="0" strike="noStrike" spc="-151">
                <a:solidFill>
                  <a:srgbClr val="00D4FF"/>
                </a:solidFill>
                <a:latin typeface="Archivo"/>
                <a:ea typeface="Archivo"/>
              </a:rPr>
              <a:t>───▸</a:t>
            </a:r>
            <a:endParaRPr lang="en-US" sz="2250" b="0" strike="noStrike" spc="-1">
              <a:solidFill>
                <a:srgbClr val="FFFFFF"/>
              </a:solidFill>
              <a:latin typeface="Arial"/>
            </a:endParaRPr>
          </a:p>
        </p:txBody>
      </p:sp>
      <p:sp>
        <p:nvSpPr>
          <p:cNvPr id="278" name="Shape 52"/>
          <p:cNvSpPr/>
          <p:nvPr/>
        </p:nvSpPr>
        <p:spPr>
          <a:xfrm>
            <a:off x="12255840" y="6678360"/>
            <a:ext cx="2285640" cy="1136160"/>
          </a:xfrm>
          <a:prstGeom prst="rect">
            <a:avLst/>
          </a:prstGeom>
          <a:solidFill>
            <a:srgbClr val="12181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79" name="Shape 53"/>
          <p:cNvSpPr/>
          <p:nvPr/>
        </p:nvSpPr>
        <p:spPr>
          <a:xfrm>
            <a:off x="12255840" y="7806960"/>
            <a:ext cx="228564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80" name="Shape 54"/>
          <p:cNvSpPr/>
          <p:nvPr/>
        </p:nvSpPr>
        <p:spPr>
          <a:xfrm>
            <a:off x="12255840" y="6678360"/>
            <a:ext cx="228564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281" name="Shape 55"/>
          <p:cNvSpPr/>
          <p:nvPr/>
        </p:nvSpPr>
        <p:spPr>
          <a:xfrm>
            <a:off x="12255840" y="6678360"/>
            <a:ext cx="31320" cy="1136160"/>
          </a:xfrm>
          <a:prstGeom prst="rect">
            <a:avLst/>
          </a:prstGeom>
          <a:solidFill>
            <a:srgbClr val="BCA2F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2" name="Shape 56"/>
          <p:cNvSpPr/>
          <p:nvPr/>
        </p:nvSpPr>
        <p:spPr>
          <a:xfrm>
            <a:off x="14533920" y="6678360"/>
            <a:ext cx="9000" cy="113616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3" name="Text 57"/>
          <p:cNvSpPr/>
          <p:nvPr/>
        </p:nvSpPr>
        <p:spPr>
          <a:xfrm>
            <a:off x="12554280" y="6914880"/>
            <a:ext cx="1883880" cy="379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2020" b="1" strike="noStrike" spc="-1">
                <a:solidFill>
                  <a:srgbClr val="FFFFFF"/>
                </a:solidFill>
                <a:latin typeface="JetBrains Mono"/>
                <a:ea typeface="JetBrains Mono"/>
              </a:rPr>
              <a:t>RViz</a:t>
            </a:r>
            <a:endParaRPr lang="en-US" sz="2020" b="0" strike="noStrike" spc="-1">
              <a:solidFill>
                <a:srgbClr val="FFFFFF"/>
              </a:solidFill>
              <a:latin typeface="Arial"/>
            </a:endParaRPr>
          </a:p>
        </p:txBody>
      </p:sp>
      <p:sp>
        <p:nvSpPr>
          <p:cNvPr id="284" name="Text 58"/>
          <p:cNvSpPr/>
          <p:nvPr/>
        </p:nvSpPr>
        <p:spPr>
          <a:xfrm>
            <a:off x="12554280" y="7332480"/>
            <a:ext cx="1883880" cy="283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87222" lnSpcReduction="10000"/>
          </a:bodyPr>
          <a:lstStyle/>
          <a:p>
            <a:pPr defTabSz="914400">
              <a:lnSpc>
                <a:spcPct val="100000"/>
              </a:lnSpc>
              <a:tabLst>
                <a:tab pos="0" algn="l"/>
              </a:tabLst>
            </a:pPr>
            <a:r>
              <a:rPr lang="en-US" sz="1800" b="0" strike="noStrike" spc="-1">
                <a:solidFill>
                  <a:srgbClr val="8A97A6"/>
                </a:solidFill>
                <a:latin typeface="Archivo"/>
                <a:ea typeface="Archivo"/>
              </a:rPr>
              <a:t>3D visualization</a:t>
            </a:r>
            <a:endParaRPr lang="en-US" sz="1800" b="0" strike="noStrike" spc="-1">
              <a:solidFill>
                <a:srgbClr val="FFFFFF"/>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85" name="Text 0"/>
          <p:cNvSpPr/>
          <p:nvPr/>
        </p:nvSpPr>
        <p:spPr>
          <a:xfrm>
            <a:off x="1104840" y="876240"/>
            <a:ext cx="424296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562">
                <a:solidFill>
                  <a:srgbClr val="00D4FF"/>
                </a:solidFill>
                <a:latin typeface="JetBrains Mono"/>
                <a:ea typeface="JetBrains Mono"/>
              </a:rPr>
              <a:t>PHASE 1 · SOFTWARE</a:t>
            </a:r>
            <a:endParaRPr lang="en-US" sz="1870" b="0" strike="noStrike" spc="-1">
              <a:solidFill>
                <a:srgbClr val="FFFFFF"/>
              </a:solidFill>
              <a:latin typeface="Arial"/>
            </a:endParaRPr>
          </a:p>
        </p:txBody>
      </p:sp>
      <p:sp>
        <p:nvSpPr>
          <p:cNvPr id="286" name="Text 1"/>
          <p:cNvSpPr/>
          <p:nvPr/>
        </p:nvSpPr>
        <p:spPr>
          <a:xfrm>
            <a:off x="15882840" y="876240"/>
            <a:ext cx="14299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35" dirty="0">
                <a:solidFill>
                  <a:srgbClr val="5C6977"/>
                </a:solidFill>
                <a:latin typeface="JetBrains Mono"/>
                <a:ea typeface="JetBrains Mono"/>
              </a:rPr>
              <a:t>21 / 22</a:t>
            </a:r>
            <a:endParaRPr lang="en-US" sz="1870" b="0" strike="noStrike" spc="-1" dirty="0">
              <a:solidFill>
                <a:srgbClr val="FFFFFF"/>
              </a:solidFill>
              <a:latin typeface="Arial"/>
            </a:endParaRPr>
          </a:p>
        </p:txBody>
      </p:sp>
      <p:sp>
        <p:nvSpPr>
          <p:cNvPr id="287" name="Text 2"/>
          <p:cNvSpPr/>
          <p:nvPr/>
        </p:nvSpPr>
        <p:spPr>
          <a:xfrm>
            <a:off x="1104840" y="1517760"/>
            <a:ext cx="17685720" cy="628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1388" lnSpcReduction="10000"/>
          </a:bodyPr>
          <a:lstStyle/>
          <a:p>
            <a:pPr defTabSz="914400">
              <a:lnSpc>
                <a:spcPct val="100000"/>
              </a:lnSpc>
              <a:tabLst>
                <a:tab pos="0" algn="l"/>
              </a:tabLst>
            </a:pPr>
            <a:r>
              <a:rPr lang="en-US" sz="4650" b="1" strike="noStrike" spc="-1">
                <a:solidFill>
                  <a:srgbClr val="FFFFFF"/>
                </a:solidFill>
                <a:latin typeface="Archivo Black"/>
                <a:ea typeface="Archivo Black"/>
              </a:rPr>
              <a:t>Tools &amp; Stack</a:t>
            </a:r>
            <a:endParaRPr lang="en-US" sz="4650" b="0" strike="noStrike" spc="-1">
              <a:solidFill>
                <a:srgbClr val="FFFFFF"/>
              </a:solidFill>
              <a:latin typeface="Arial"/>
            </a:endParaRPr>
          </a:p>
        </p:txBody>
      </p:sp>
      <p:sp>
        <p:nvSpPr>
          <p:cNvPr id="288" name="Shape 3"/>
          <p:cNvSpPr/>
          <p:nvPr/>
        </p:nvSpPr>
        <p:spPr>
          <a:xfrm>
            <a:off x="1104840" y="2527200"/>
            <a:ext cx="3833280" cy="338436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89" name="Shape 4"/>
          <p:cNvSpPr/>
          <p:nvPr/>
        </p:nvSpPr>
        <p:spPr>
          <a:xfrm>
            <a:off x="1436760" y="2859120"/>
            <a:ext cx="209160" cy="20916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90" name="Text 5"/>
          <p:cNvSpPr/>
          <p:nvPr/>
        </p:nvSpPr>
        <p:spPr>
          <a:xfrm>
            <a:off x="1436760" y="4821120"/>
            <a:ext cx="3486960" cy="418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700" b="0" strike="noStrike" spc="-1">
                <a:solidFill>
                  <a:srgbClr val="FFFFFF"/>
                </a:solidFill>
                <a:latin typeface="Archivo Black"/>
                <a:ea typeface="Archivo Black"/>
              </a:rPr>
              <a:t>ROS 2 Jazzy</a:t>
            </a:r>
            <a:endParaRPr lang="en-US" sz="2700" b="0" strike="noStrike" spc="-1">
              <a:solidFill>
                <a:srgbClr val="FFFFFF"/>
              </a:solidFill>
              <a:latin typeface="Arial"/>
            </a:endParaRPr>
          </a:p>
        </p:txBody>
      </p:sp>
      <p:sp>
        <p:nvSpPr>
          <p:cNvPr id="291" name="Text 6"/>
          <p:cNvSpPr/>
          <p:nvPr/>
        </p:nvSpPr>
        <p:spPr>
          <a:xfrm>
            <a:off x="1436760" y="5278320"/>
            <a:ext cx="34869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43">
                <a:solidFill>
                  <a:srgbClr val="5C6977"/>
                </a:solidFill>
                <a:latin typeface="JetBrains Mono"/>
                <a:ea typeface="JetBrains Mono"/>
              </a:rPr>
              <a:t>MIDDLEWARE</a:t>
            </a:r>
            <a:endParaRPr lang="en-US" sz="1800" b="0" strike="noStrike" spc="-1">
              <a:solidFill>
                <a:srgbClr val="FFFFFF"/>
              </a:solidFill>
              <a:latin typeface="Arial"/>
            </a:endParaRPr>
          </a:p>
        </p:txBody>
      </p:sp>
      <p:sp>
        <p:nvSpPr>
          <p:cNvPr id="292" name="Shape 7"/>
          <p:cNvSpPr/>
          <p:nvPr/>
        </p:nvSpPr>
        <p:spPr>
          <a:xfrm>
            <a:off x="5186520" y="2527200"/>
            <a:ext cx="3833280" cy="338436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93" name="Shape 8"/>
          <p:cNvSpPr/>
          <p:nvPr/>
        </p:nvSpPr>
        <p:spPr>
          <a:xfrm>
            <a:off x="5518080" y="2859120"/>
            <a:ext cx="209160" cy="209160"/>
          </a:xfrm>
          <a:prstGeom prst="rect">
            <a:avLst/>
          </a:prstGeom>
          <a:noFill/>
          <a:ln w="23813">
            <a:solidFill>
              <a:srgbClr val="00D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94" name="Text 9"/>
          <p:cNvSpPr/>
          <p:nvPr/>
        </p:nvSpPr>
        <p:spPr>
          <a:xfrm>
            <a:off x="5518080" y="4821120"/>
            <a:ext cx="3486960" cy="418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700" b="0" strike="noStrike" spc="-1">
                <a:solidFill>
                  <a:srgbClr val="FFFFFF"/>
                </a:solidFill>
                <a:latin typeface="Archivo Black"/>
                <a:ea typeface="Archivo Black"/>
              </a:rPr>
              <a:t>Python 3.12</a:t>
            </a:r>
            <a:endParaRPr lang="en-US" sz="2700" b="0" strike="noStrike" spc="-1">
              <a:solidFill>
                <a:srgbClr val="FFFFFF"/>
              </a:solidFill>
              <a:latin typeface="Arial"/>
            </a:endParaRPr>
          </a:p>
        </p:txBody>
      </p:sp>
      <p:sp>
        <p:nvSpPr>
          <p:cNvPr id="295" name="Text 10"/>
          <p:cNvSpPr/>
          <p:nvPr/>
        </p:nvSpPr>
        <p:spPr>
          <a:xfrm>
            <a:off x="5518080" y="5278320"/>
            <a:ext cx="34869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43">
                <a:solidFill>
                  <a:srgbClr val="5C6977"/>
                </a:solidFill>
                <a:latin typeface="JetBrains Mono"/>
                <a:ea typeface="JetBrains Mono"/>
              </a:rPr>
              <a:t>ROS 2 NODES</a:t>
            </a:r>
            <a:endParaRPr lang="en-US" sz="1800" b="0" strike="noStrike" spc="-1">
              <a:solidFill>
                <a:srgbClr val="FFFFFF"/>
              </a:solidFill>
              <a:latin typeface="Arial"/>
            </a:endParaRPr>
          </a:p>
        </p:txBody>
      </p:sp>
      <p:sp>
        <p:nvSpPr>
          <p:cNvPr id="296" name="Shape 11"/>
          <p:cNvSpPr/>
          <p:nvPr/>
        </p:nvSpPr>
        <p:spPr>
          <a:xfrm>
            <a:off x="9267840" y="2527200"/>
            <a:ext cx="3833280" cy="338436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97" name="Shape 12"/>
          <p:cNvSpPr/>
          <p:nvPr/>
        </p:nvSpPr>
        <p:spPr>
          <a:xfrm rot="2700000">
            <a:off x="9599760" y="2859120"/>
            <a:ext cx="209160" cy="20916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98" name="Text 13"/>
          <p:cNvSpPr/>
          <p:nvPr/>
        </p:nvSpPr>
        <p:spPr>
          <a:xfrm>
            <a:off x="9599760" y="4821120"/>
            <a:ext cx="3486960" cy="418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700" b="0" strike="noStrike" spc="-1">
                <a:solidFill>
                  <a:srgbClr val="FFFFFF"/>
                </a:solidFill>
                <a:latin typeface="Archivo Black"/>
                <a:ea typeface="Archivo Black"/>
              </a:rPr>
              <a:t>C++</a:t>
            </a:r>
            <a:endParaRPr lang="en-US" sz="2700" b="0" strike="noStrike" spc="-1">
              <a:solidFill>
                <a:srgbClr val="FFFFFF"/>
              </a:solidFill>
              <a:latin typeface="Arial"/>
            </a:endParaRPr>
          </a:p>
        </p:txBody>
      </p:sp>
      <p:sp>
        <p:nvSpPr>
          <p:cNvPr id="299" name="Text 14"/>
          <p:cNvSpPr/>
          <p:nvPr/>
        </p:nvSpPr>
        <p:spPr>
          <a:xfrm>
            <a:off x="9599760" y="5278320"/>
            <a:ext cx="34869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43">
                <a:solidFill>
                  <a:srgbClr val="5C6977"/>
                </a:solidFill>
                <a:latin typeface="JetBrains Mono"/>
                <a:ea typeface="JetBrains Mono"/>
              </a:rPr>
              <a:t>TEENSY FIRMWARE</a:t>
            </a:r>
            <a:endParaRPr lang="en-US" sz="1800" b="0" strike="noStrike" spc="-1">
              <a:solidFill>
                <a:srgbClr val="FFFFFF"/>
              </a:solidFill>
              <a:latin typeface="Arial"/>
            </a:endParaRPr>
          </a:p>
        </p:txBody>
      </p:sp>
      <p:sp>
        <p:nvSpPr>
          <p:cNvPr id="300" name="Shape 15"/>
          <p:cNvSpPr/>
          <p:nvPr/>
        </p:nvSpPr>
        <p:spPr>
          <a:xfrm>
            <a:off x="13349160" y="2527200"/>
            <a:ext cx="3833280" cy="338436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1" name="Shape 16"/>
          <p:cNvSpPr/>
          <p:nvPr/>
        </p:nvSpPr>
        <p:spPr>
          <a:xfrm>
            <a:off x="13681080" y="2859120"/>
            <a:ext cx="209160" cy="209160"/>
          </a:xfrm>
          <a:prstGeom prst="ellipse">
            <a:avLst/>
          </a:prstGeom>
          <a:noFill/>
          <a:ln w="23813">
            <a:solidFill>
              <a:srgbClr val="00D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2" name="Text 17"/>
          <p:cNvSpPr/>
          <p:nvPr/>
        </p:nvSpPr>
        <p:spPr>
          <a:xfrm>
            <a:off x="13681080" y="4821120"/>
            <a:ext cx="3486960" cy="418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700" b="0" strike="noStrike" spc="-1">
                <a:solidFill>
                  <a:srgbClr val="FFFFFF"/>
                </a:solidFill>
                <a:latin typeface="Archivo Black"/>
                <a:ea typeface="Archivo Black"/>
              </a:rPr>
              <a:t>PlatformIO</a:t>
            </a:r>
            <a:endParaRPr lang="en-US" sz="2700" b="0" strike="noStrike" spc="-1">
              <a:solidFill>
                <a:srgbClr val="FFFFFF"/>
              </a:solidFill>
              <a:latin typeface="Arial"/>
            </a:endParaRPr>
          </a:p>
        </p:txBody>
      </p:sp>
      <p:sp>
        <p:nvSpPr>
          <p:cNvPr id="303" name="Text 18"/>
          <p:cNvSpPr/>
          <p:nvPr/>
        </p:nvSpPr>
        <p:spPr>
          <a:xfrm>
            <a:off x="13681080" y="5278320"/>
            <a:ext cx="34869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43">
                <a:solidFill>
                  <a:srgbClr val="5C6977"/>
                </a:solidFill>
                <a:latin typeface="JetBrains Mono"/>
                <a:ea typeface="JetBrains Mono"/>
              </a:rPr>
              <a:t>BUILD / FLASH</a:t>
            </a:r>
            <a:endParaRPr lang="en-US" sz="1800" b="0" strike="noStrike" spc="-1">
              <a:solidFill>
                <a:srgbClr val="FFFFFF"/>
              </a:solidFill>
              <a:latin typeface="Arial"/>
            </a:endParaRPr>
          </a:p>
        </p:txBody>
      </p:sp>
      <p:sp>
        <p:nvSpPr>
          <p:cNvPr id="304" name="Shape 19"/>
          <p:cNvSpPr/>
          <p:nvPr/>
        </p:nvSpPr>
        <p:spPr>
          <a:xfrm>
            <a:off x="1104840" y="6159600"/>
            <a:ext cx="3833280" cy="338436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5" name="Shape 20"/>
          <p:cNvSpPr/>
          <p:nvPr/>
        </p:nvSpPr>
        <p:spPr>
          <a:xfrm>
            <a:off x="1436760" y="6491160"/>
            <a:ext cx="209160" cy="20916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6" name="Text 21"/>
          <p:cNvSpPr/>
          <p:nvPr/>
        </p:nvSpPr>
        <p:spPr>
          <a:xfrm>
            <a:off x="1436760" y="8453520"/>
            <a:ext cx="3486960" cy="418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700" b="0" strike="noStrike" spc="-1">
                <a:solidFill>
                  <a:srgbClr val="FFFFFF"/>
                </a:solidFill>
                <a:latin typeface="Archivo Black"/>
                <a:ea typeface="Archivo Black"/>
              </a:rPr>
              <a:t>SimpleFOC</a:t>
            </a:r>
            <a:endParaRPr lang="en-US" sz="2700" b="0" strike="noStrike" spc="-1">
              <a:solidFill>
                <a:srgbClr val="FFFFFF"/>
              </a:solidFill>
              <a:latin typeface="Arial"/>
            </a:endParaRPr>
          </a:p>
        </p:txBody>
      </p:sp>
      <p:sp>
        <p:nvSpPr>
          <p:cNvPr id="307" name="Text 22"/>
          <p:cNvSpPr/>
          <p:nvPr/>
        </p:nvSpPr>
        <p:spPr>
          <a:xfrm>
            <a:off x="1436760" y="8910720"/>
            <a:ext cx="34869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43">
                <a:solidFill>
                  <a:srgbClr val="5C6977"/>
                </a:solidFill>
                <a:latin typeface="JetBrains Mono"/>
                <a:ea typeface="JetBrains Mono"/>
              </a:rPr>
              <a:t>FIELD-ORIENTED CTRL</a:t>
            </a:r>
            <a:endParaRPr lang="en-US" sz="1800" b="0" strike="noStrike" spc="-1">
              <a:solidFill>
                <a:srgbClr val="FFFFFF"/>
              </a:solidFill>
              <a:latin typeface="Arial"/>
            </a:endParaRPr>
          </a:p>
        </p:txBody>
      </p:sp>
      <p:sp>
        <p:nvSpPr>
          <p:cNvPr id="308" name="Shape 23"/>
          <p:cNvSpPr/>
          <p:nvPr/>
        </p:nvSpPr>
        <p:spPr>
          <a:xfrm>
            <a:off x="5186520" y="6159600"/>
            <a:ext cx="3833280" cy="338436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9" name="Shape 24"/>
          <p:cNvSpPr/>
          <p:nvPr/>
        </p:nvSpPr>
        <p:spPr>
          <a:xfrm>
            <a:off x="5518080" y="6491160"/>
            <a:ext cx="209160" cy="209160"/>
          </a:xfrm>
          <a:prstGeom prst="rect">
            <a:avLst/>
          </a:prstGeom>
          <a:noFill/>
          <a:ln w="23813">
            <a:solidFill>
              <a:srgbClr val="00D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10" name="Text 25"/>
          <p:cNvSpPr/>
          <p:nvPr/>
        </p:nvSpPr>
        <p:spPr>
          <a:xfrm>
            <a:off x="5518080" y="8453520"/>
            <a:ext cx="3486960" cy="418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700" b="0" strike="noStrike" spc="-1">
                <a:solidFill>
                  <a:srgbClr val="FFFFFF"/>
                </a:solidFill>
                <a:latin typeface="Archivo Black"/>
                <a:ea typeface="Archivo Black"/>
              </a:rPr>
              <a:t>micro-ROS</a:t>
            </a:r>
            <a:endParaRPr lang="en-US" sz="2700" b="0" strike="noStrike" spc="-1">
              <a:solidFill>
                <a:srgbClr val="FFFFFF"/>
              </a:solidFill>
              <a:latin typeface="Arial"/>
            </a:endParaRPr>
          </a:p>
        </p:txBody>
      </p:sp>
      <p:sp>
        <p:nvSpPr>
          <p:cNvPr id="311" name="Text 26"/>
          <p:cNvSpPr/>
          <p:nvPr/>
        </p:nvSpPr>
        <p:spPr>
          <a:xfrm>
            <a:off x="5518080" y="8910720"/>
            <a:ext cx="34869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43">
                <a:solidFill>
                  <a:srgbClr val="5C6977"/>
                </a:solidFill>
                <a:latin typeface="JetBrains Mono"/>
                <a:ea typeface="JetBrains Mono"/>
              </a:rPr>
              <a:t>BRAIN ↔ SPINE</a:t>
            </a:r>
            <a:endParaRPr lang="en-US" sz="1800" b="0" strike="noStrike" spc="-1">
              <a:solidFill>
                <a:srgbClr val="FFFFFF"/>
              </a:solidFill>
              <a:latin typeface="Arial"/>
            </a:endParaRPr>
          </a:p>
        </p:txBody>
      </p:sp>
      <p:sp>
        <p:nvSpPr>
          <p:cNvPr id="312" name="Shape 27"/>
          <p:cNvSpPr/>
          <p:nvPr/>
        </p:nvSpPr>
        <p:spPr>
          <a:xfrm>
            <a:off x="9267840" y="6159600"/>
            <a:ext cx="3833280" cy="338436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13" name="Shape 28"/>
          <p:cNvSpPr/>
          <p:nvPr/>
        </p:nvSpPr>
        <p:spPr>
          <a:xfrm rot="2700000">
            <a:off x="9599760" y="6491160"/>
            <a:ext cx="209160" cy="20916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14" name="Text 29"/>
          <p:cNvSpPr/>
          <p:nvPr/>
        </p:nvSpPr>
        <p:spPr>
          <a:xfrm>
            <a:off x="9599760" y="8524440"/>
            <a:ext cx="3486960" cy="347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88611" lnSpcReduction="20000"/>
          </a:bodyPr>
          <a:lstStyle/>
          <a:p>
            <a:pPr defTabSz="914400">
              <a:lnSpc>
                <a:spcPct val="105000"/>
              </a:lnSpc>
              <a:tabLst>
                <a:tab pos="0" algn="l"/>
              </a:tabLst>
            </a:pPr>
            <a:r>
              <a:rPr lang="en-US" sz="2320" b="0" strike="noStrike" spc="-1">
                <a:solidFill>
                  <a:srgbClr val="FFFFFF"/>
                </a:solidFill>
                <a:latin typeface="Archivo Black"/>
                <a:ea typeface="Archivo Black"/>
              </a:rPr>
              <a:t>TF Lite Micro</a:t>
            </a:r>
            <a:endParaRPr lang="en-US" sz="2320" b="0" strike="noStrike" spc="-1">
              <a:solidFill>
                <a:srgbClr val="FFFFFF"/>
              </a:solidFill>
              <a:latin typeface="Arial"/>
            </a:endParaRPr>
          </a:p>
        </p:txBody>
      </p:sp>
      <p:sp>
        <p:nvSpPr>
          <p:cNvPr id="315" name="Text 30"/>
          <p:cNvSpPr/>
          <p:nvPr/>
        </p:nvSpPr>
        <p:spPr>
          <a:xfrm>
            <a:off x="9599760" y="8910720"/>
            <a:ext cx="34869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43">
                <a:solidFill>
                  <a:srgbClr val="5C6977"/>
                </a:solidFill>
                <a:latin typeface="JetBrains Mono"/>
                <a:ea typeface="JetBrains Mono"/>
              </a:rPr>
              <a:t>DEPLOY TARGET</a:t>
            </a:r>
            <a:endParaRPr lang="en-US" sz="1800" b="0" strike="noStrike" spc="-1">
              <a:solidFill>
                <a:srgbClr val="FFFFFF"/>
              </a:solidFill>
              <a:latin typeface="Arial"/>
            </a:endParaRPr>
          </a:p>
        </p:txBody>
      </p:sp>
      <p:sp>
        <p:nvSpPr>
          <p:cNvPr id="316" name="Shape 31"/>
          <p:cNvSpPr/>
          <p:nvPr/>
        </p:nvSpPr>
        <p:spPr>
          <a:xfrm>
            <a:off x="13349160" y="6159600"/>
            <a:ext cx="3833280" cy="3384360"/>
          </a:xfrm>
          <a:prstGeom prst="rect">
            <a:avLst/>
          </a:prstGeom>
          <a:solidFill>
            <a:srgbClr val="12181F"/>
          </a:solidFill>
          <a:ln w="7937">
            <a:solidFill>
              <a:srgbClr val="FFFFFF">
                <a:alpha val="10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17" name="Shape 32"/>
          <p:cNvSpPr/>
          <p:nvPr/>
        </p:nvSpPr>
        <p:spPr>
          <a:xfrm>
            <a:off x="13681080" y="6491160"/>
            <a:ext cx="209160" cy="209160"/>
          </a:xfrm>
          <a:prstGeom prst="ellipse">
            <a:avLst/>
          </a:prstGeom>
          <a:noFill/>
          <a:ln w="23813">
            <a:solidFill>
              <a:srgbClr val="00D4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18" name="Text 33"/>
          <p:cNvSpPr/>
          <p:nvPr/>
        </p:nvSpPr>
        <p:spPr>
          <a:xfrm>
            <a:off x="13681080" y="8453520"/>
            <a:ext cx="3486960" cy="418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3333" lnSpcReduction="10000"/>
          </a:bodyPr>
          <a:lstStyle/>
          <a:p>
            <a:pPr defTabSz="914400">
              <a:lnSpc>
                <a:spcPct val="100000"/>
              </a:lnSpc>
              <a:tabLst>
                <a:tab pos="0" algn="l"/>
              </a:tabLst>
            </a:pPr>
            <a:r>
              <a:rPr lang="en-US" sz="2700" b="0" strike="noStrike" spc="-1">
                <a:solidFill>
                  <a:srgbClr val="FFFFFF"/>
                </a:solidFill>
                <a:latin typeface="Archivo Black"/>
                <a:ea typeface="Archivo Black"/>
              </a:rPr>
              <a:t>Obsidian</a:t>
            </a:r>
            <a:endParaRPr lang="en-US" sz="2700" b="0" strike="noStrike" spc="-1">
              <a:solidFill>
                <a:srgbClr val="FFFFFF"/>
              </a:solidFill>
              <a:latin typeface="Arial"/>
            </a:endParaRPr>
          </a:p>
        </p:txBody>
      </p:sp>
      <p:sp>
        <p:nvSpPr>
          <p:cNvPr id="319" name="Text 34"/>
          <p:cNvSpPr/>
          <p:nvPr/>
        </p:nvSpPr>
        <p:spPr>
          <a:xfrm>
            <a:off x="13681080" y="8910720"/>
            <a:ext cx="3486960" cy="339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00" b="0" strike="noStrike" spc="143">
                <a:solidFill>
                  <a:srgbClr val="5C6977"/>
                </a:solidFill>
                <a:latin typeface="JetBrains Mono"/>
                <a:ea typeface="JetBrains Mono"/>
              </a:rPr>
              <a:t>DOCUMENTATION</a:t>
            </a:r>
            <a:endParaRPr lang="en-US" sz="1800" b="0" strike="noStrike" spc="-1">
              <a:solidFill>
                <a:srgbClr val="FFFFFF"/>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0F13"/>
        </a:solidFill>
        <a:effectLst/>
      </p:bgPr>
    </p:bg>
    <p:spTree>
      <p:nvGrpSpPr>
        <p:cNvPr id="1" name=""/>
        <p:cNvGrpSpPr/>
        <p:nvPr/>
      </p:nvGrpSpPr>
      <p:grpSpPr>
        <a:xfrm>
          <a:off x="0" y="0"/>
          <a:ext cx="0" cy="0"/>
          <a:chOff x="0" y="0"/>
          <a:chExt cx="0" cy="0"/>
        </a:xfrm>
      </p:grpSpPr>
      <p:sp>
        <p:nvSpPr>
          <p:cNvPr id="428" name="Shape 0"/>
          <p:cNvSpPr/>
          <p:nvPr/>
        </p:nvSpPr>
        <p:spPr>
          <a:xfrm>
            <a:off x="-1143000" y="-1523880"/>
            <a:ext cx="6476760" cy="6476760"/>
          </a:xfrm>
          <a:prstGeom prst="rect">
            <a:avLst/>
          </a:prstGeom>
          <a:gradFill rotWithShape="0">
            <a:gsLst>
              <a:gs pos="0">
                <a:srgbClr val="00D4FF">
                  <a:alpha val="13000"/>
                </a:srgbClr>
              </a:gs>
              <a:gs pos="64000">
                <a:srgbClr val="00D4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29" name="Text 1"/>
          <p:cNvSpPr/>
          <p:nvPr/>
        </p:nvSpPr>
        <p:spPr>
          <a:xfrm>
            <a:off x="1104840" y="800280"/>
            <a:ext cx="267156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786">
                <a:solidFill>
                  <a:srgbClr val="00D4FF"/>
                </a:solidFill>
                <a:latin typeface="JetBrains Mono"/>
                <a:ea typeface="JetBrains Mono"/>
              </a:rPr>
              <a:t>JOTOUCH //</a:t>
            </a:r>
            <a:endParaRPr lang="en-US" sz="1870" b="0" strike="noStrike" spc="-1">
              <a:solidFill>
                <a:srgbClr val="FFFFFF"/>
              </a:solidFill>
              <a:latin typeface="Arial"/>
            </a:endParaRPr>
          </a:p>
        </p:txBody>
      </p:sp>
      <p:sp>
        <p:nvSpPr>
          <p:cNvPr id="430" name="Text 2"/>
          <p:cNvSpPr/>
          <p:nvPr/>
        </p:nvSpPr>
        <p:spPr>
          <a:xfrm>
            <a:off x="13754160" y="800280"/>
            <a:ext cx="3771720" cy="355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870" b="0" strike="noStrike" spc="372">
                <a:solidFill>
                  <a:srgbClr val="5C6977"/>
                </a:solidFill>
                <a:latin typeface="JetBrains Mono"/>
                <a:ea typeface="JetBrains Mono"/>
              </a:rPr>
              <a:t>PHASE 1 · COMPLETE</a:t>
            </a:r>
            <a:endParaRPr lang="en-US" sz="1870" b="0" strike="noStrike" spc="-1">
              <a:solidFill>
                <a:srgbClr val="FFFFFF"/>
              </a:solidFill>
              <a:latin typeface="Arial"/>
            </a:endParaRPr>
          </a:p>
        </p:txBody>
      </p:sp>
      <p:sp>
        <p:nvSpPr>
          <p:cNvPr id="431" name="Shape 3"/>
          <p:cNvSpPr/>
          <p:nvPr/>
        </p:nvSpPr>
        <p:spPr>
          <a:xfrm>
            <a:off x="1104840" y="3960720"/>
            <a:ext cx="742680" cy="37800"/>
          </a:xfrm>
          <a:prstGeom prst="rect">
            <a:avLst/>
          </a:prstGeom>
          <a:solidFill>
            <a:srgbClr val="00D4FF"/>
          </a:solid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strike="noStrike" spc="-1">
              <a:solidFill>
                <a:srgbClr val="FFFFFF"/>
              </a:solidFill>
              <a:latin typeface="Arial"/>
            </a:endParaRPr>
          </a:p>
        </p:txBody>
      </p:sp>
      <p:sp>
        <p:nvSpPr>
          <p:cNvPr id="432" name="Text 4"/>
          <p:cNvSpPr/>
          <p:nvPr/>
        </p:nvSpPr>
        <p:spPr>
          <a:xfrm>
            <a:off x="1104840" y="4341600"/>
            <a:ext cx="11482920" cy="1306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0277" lnSpcReduction="10000"/>
          </a:bodyPr>
          <a:lstStyle/>
          <a:p>
            <a:pPr defTabSz="914400">
              <a:lnSpc>
                <a:spcPct val="90000"/>
              </a:lnSpc>
              <a:tabLst>
                <a:tab pos="0" algn="l"/>
              </a:tabLst>
            </a:pPr>
            <a:r>
              <a:rPr lang="en-US" sz="11100" b="1" strike="noStrike" spc="-222">
                <a:solidFill>
                  <a:srgbClr val="FFFFFF"/>
                </a:solidFill>
                <a:latin typeface="Archivo Black"/>
                <a:ea typeface="Archivo Black"/>
              </a:rPr>
              <a:t>Questions?</a:t>
            </a:r>
            <a:endParaRPr lang="en-US" sz="11100" b="0" strike="noStrike" spc="-1">
              <a:solidFill>
                <a:srgbClr val="FFFFFF"/>
              </a:solidFill>
              <a:latin typeface="Arial"/>
            </a:endParaRPr>
          </a:p>
        </p:txBody>
      </p:sp>
      <p:sp>
        <p:nvSpPr>
          <p:cNvPr id="433" name="Text 5"/>
          <p:cNvSpPr/>
          <p:nvPr/>
        </p:nvSpPr>
        <p:spPr>
          <a:xfrm>
            <a:off x="1104840" y="5896080"/>
            <a:ext cx="11482920" cy="394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fontScale="94722" lnSpcReduction="10000"/>
          </a:bodyPr>
          <a:lstStyle/>
          <a:p>
            <a:pPr defTabSz="914400">
              <a:lnSpc>
                <a:spcPct val="100000"/>
              </a:lnSpc>
              <a:tabLst>
                <a:tab pos="0" algn="l"/>
              </a:tabLst>
            </a:pPr>
            <a:r>
              <a:rPr lang="en-US" sz="2550" b="0" strike="noStrike" spc="-1">
                <a:solidFill>
                  <a:srgbClr val="B8C2CC"/>
                </a:solidFill>
                <a:latin typeface="Archivo"/>
                <a:ea typeface="Archivo"/>
              </a:rPr>
              <a:t>Kinematics · ROS 2 stack · the road to hardware</a:t>
            </a:r>
            <a:endParaRPr lang="en-US" sz="2550" b="0" strike="noStrike" spc="-1">
              <a:solidFill>
                <a:srgbClr val="FFFFFF"/>
              </a:solidFill>
              <a:latin typeface="Arial"/>
            </a:endParaRPr>
          </a:p>
        </p:txBody>
      </p:sp>
      <p:sp>
        <p:nvSpPr>
          <p:cNvPr id="434" name="Shape 6"/>
          <p:cNvSpPr/>
          <p:nvPr/>
        </p:nvSpPr>
        <p:spPr>
          <a:xfrm>
            <a:off x="1104840" y="9096480"/>
            <a:ext cx="16077960" cy="9000"/>
          </a:xfrm>
          <a:prstGeom prst="rect">
            <a:avLst/>
          </a:prstGeom>
          <a:solidFill>
            <a:srgbClr val="FFFFFF">
              <a:alpha val="10000"/>
            </a:srgbClr>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strike="noStrike" spc="-1">
              <a:solidFill>
                <a:srgbClr val="000000"/>
              </a:solidFill>
              <a:latin typeface="Arial"/>
            </a:endParaRPr>
          </a:p>
        </p:txBody>
      </p:sp>
      <p:sp>
        <p:nvSpPr>
          <p:cNvPr id="435" name="Text 7"/>
          <p:cNvSpPr/>
          <p:nvPr/>
        </p:nvSpPr>
        <p:spPr>
          <a:xfrm>
            <a:off x="1104840" y="9352080"/>
            <a:ext cx="523008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0" strike="noStrike" spc="-1">
                <a:solidFill>
                  <a:srgbClr val="5C6977"/>
                </a:solidFill>
                <a:latin typeface="JetBrains Mono"/>
                <a:ea typeface="JetBrains Mono"/>
              </a:rPr>
              <a:t>TEAM</a:t>
            </a:r>
            <a:r>
              <a:rPr lang="en-US" sz="1950" b="0" strike="noStrike" spc="-1">
                <a:solidFill>
                  <a:srgbClr val="8A97A6"/>
                </a:solidFill>
                <a:latin typeface="JetBrains Mono"/>
                <a:ea typeface="JetBrains Mono"/>
              </a:rPr>
              <a:t>Issa · Abdullah · Mohammad</a:t>
            </a:r>
            <a:endParaRPr lang="en-US" sz="1950" b="0" strike="noStrike" spc="-1">
              <a:solidFill>
                <a:srgbClr val="FFFFFF"/>
              </a:solidFill>
              <a:latin typeface="Arial"/>
            </a:endParaRPr>
          </a:p>
        </p:txBody>
      </p:sp>
      <p:sp>
        <p:nvSpPr>
          <p:cNvPr id="436" name="Text 8"/>
          <p:cNvSpPr/>
          <p:nvPr/>
        </p:nvSpPr>
        <p:spPr>
          <a:xfrm>
            <a:off x="6617880" y="9352080"/>
            <a:ext cx="523008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0" strike="noStrike" spc="-1">
                <a:solidFill>
                  <a:srgbClr val="5C6977"/>
                </a:solidFill>
                <a:latin typeface="JetBrains Mono"/>
                <a:ea typeface="JetBrains Mono"/>
              </a:rPr>
              <a:t>SUPERVISOR</a:t>
            </a:r>
            <a:r>
              <a:rPr lang="en-US" sz="1950" b="0" strike="noStrike" spc="-1">
                <a:solidFill>
                  <a:srgbClr val="8A97A6"/>
                </a:solidFill>
                <a:latin typeface="JetBrains Mono"/>
                <a:ea typeface="JetBrains Mono"/>
              </a:rPr>
              <a:t>Dr. Mohammad Khrisat</a:t>
            </a:r>
            <a:endParaRPr lang="en-US" sz="1950" b="0" strike="noStrike" spc="-1">
              <a:solidFill>
                <a:srgbClr val="FFFFFF"/>
              </a:solidFill>
              <a:latin typeface="Arial"/>
            </a:endParaRPr>
          </a:p>
        </p:txBody>
      </p:sp>
      <p:sp>
        <p:nvSpPr>
          <p:cNvPr id="437" name="Text 9"/>
          <p:cNvSpPr/>
          <p:nvPr/>
        </p:nvSpPr>
        <p:spPr>
          <a:xfrm>
            <a:off x="12130920" y="9352080"/>
            <a:ext cx="5556960" cy="363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rmAutofit/>
          </a:bodyPr>
          <a:lstStyle/>
          <a:p>
            <a:pPr defTabSz="914400">
              <a:lnSpc>
                <a:spcPct val="100000"/>
              </a:lnSpc>
              <a:tabLst>
                <a:tab pos="0" algn="l"/>
              </a:tabLst>
            </a:pPr>
            <a:r>
              <a:rPr lang="en-US" sz="1950" b="0" strike="noStrike" spc="-1">
                <a:solidFill>
                  <a:srgbClr val="5C6977"/>
                </a:solidFill>
                <a:latin typeface="JetBrains Mono"/>
                <a:ea typeface="JetBrains Mono"/>
              </a:rPr>
              <a:t>Al-Balqa Applied University · 2026</a:t>
            </a:r>
            <a:endParaRPr lang="en-US" sz="195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1155</TotalTime>
  <Words>2753</Words>
  <Application>Microsoft Office PowerPoint</Application>
  <PresentationFormat>مخصص</PresentationFormat>
  <Paragraphs>388</Paragraphs>
  <Slides>22</Slides>
  <Notes>13</Notes>
  <HiddenSlides>0</HiddenSlides>
  <MMClips>1</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22</vt:i4>
      </vt:variant>
    </vt:vector>
  </HeadingPairs>
  <TitlesOfParts>
    <vt:vector size="31" baseType="lpstr">
      <vt:lpstr>Times New Roman</vt:lpstr>
      <vt:lpstr>Wingdings</vt:lpstr>
      <vt:lpstr>Archivo Black</vt:lpstr>
      <vt:lpstr>Arial</vt:lpstr>
      <vt:lpstr>Symbol</vt:lpstr>
      <vt:lpstr>Archivo</vt:lpstr>
      <vt:lpstr>Calibri</vt:lpstr>
      <vt:lpstr>JetBrains Mono</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cp:lastModifiedBy>عبدالله الذويب</cp:lastModifiedBy>
  <cp:revision>9</cp:revision>
  <dcterms:created xsi:type="dcterms:W3CDTF">2026-06-24T00:58:47Z</dcterms:created>
  <dcterms:modified xsi:type="dcterms:W3CDTF">2026-09-03T07:29:03Z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18</vt:i4>
  </property>
  <property fmtid="{D5CDD505-2E9C-101B-9397-08002B2CF9AE}" pid="3" name="PresentationFormat">
    <vt:lpwstr>On-screen Show (16:9)</vt:lpwstr>
  </property>
  <property fmtid="{D5CDD505-2E9C-101B-9397-08002B2CF9AE}" pid="4" name="Slides">
    <vt:i4>18</vt:i4>
  </property>
</Properties>
</file>